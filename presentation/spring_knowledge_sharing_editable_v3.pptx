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0320" autoAdjust="0"/>
  </p:normalViewPr>
  <p:slideViewPr>
    <p:cSldViewPr snapToGrid="0">
      <p:cViewPr varScale="1">
        <p:scale>
          <a:sx n="159" d="100"/>
          <a:sy n="159" d="100"/>
        </p:scale>
        <p:origin x="336"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Guten</a:t>
            </a:r>
            <a:r>
              <a:rPr dirty="0"/>
              <a:t> Tag </a:t>
            </a:r>
            <a:r>
              <a:rPr dirty="0" err="1"/>
              <a:t>zusammen</a:t>
            </a:r>
            <a:r>
              <a:rPr dirty="0"/>
              <a:t>. Heute </a:t>
            </a:r>
            <a:r>
              <a:rPr dirty="0" err="1"/>
              <a:t>möchte</a:t>
            </a:r>
            <a:r>
              <a:rPr dirty="0"/>
              <a:t> ich </a:t>
            </a:r>
            <a:r>
              <a:rPr dirty="0" err="1"/>
              <a:t>euch</a:t>
            </a:r>
            <a:r>
              <a:rPr dirty="0"/>
              <a:t> </a:t>
            </a:r>
            <a:r>
              <a:rPr dirty="0" err="1"/>
              <a:t>ein</a:t>
            </a:r>
            <a:r>
              <a:rPr dirty="0"/>
              <a:t> </a:t>
            </a:r>
            <a:r>
              <a:rPr dirty="0" err="1"/>
              <a:t>kleines</a:t>
            </a:r>
            <a:r>
              <a:rPr dirty="0"/>
              <a:t> Security-Experiment </a:t>
            </a:r>
            <a:r>
              <a:rPr dirty="0" err="1"/>
              <a:t>zeigen</a:t>
            </a:r>
            <a:r>
              <a:rPr dirty="0"/>
              <a:t>. </a:t>
            </a:r>
            <a:br>
              <a:rPr lang="en-US" dirty="0"/>
            </a:br>
            <a:br>
              <a:rPr lang="en-US" dirty="0"/>
            </a:br>
            <a:r>
              <a:rPr dirty="0"/>
              <a:t>Ich </a:t>
            </a:r>
            <a:r>
              <a:rPr dirty="0" err="1"/>
              <a:t>habe</a:t>
            </a:r>
            <a:r>
              <a:rPr dirty="0"/>
              <a:t> </a:t>
            </a:r>
            <a:r>
              <a:rPr dirty="0" err="1"/>
              <a:t>ein</a:t>
            </a:r>
            <a:r>
              <a:rPr dirty="0"/>
              <a:t> Spring Demo-System</a:t>
            </a:r>
            <a:r>
              <a:rPr lang="en-US" dirty="0"/>
              <a:t> </a:t>
            </a:r>
            <a:r>
              <a:rPr lang="en-US" dirty="0" err="1"/>
              <a:t>mit</a:t>
            </a:r>
            <a:r>
              <a:rPr lang="en-US" dirty="0"/>
              <a:t> </a:t>
            </a:r>
            <a:r>
              <a:rPr lang="en-US" dirty="0" err="1"/>
              <a:t>einige</a:t>
            </a:r>
            <a:r>
              <a:rPr lang="en-US" dirty="0"/>
              <a:t> </a:t>
            </a:r>
            <a:r>
              <a:rPr lang="en-US" dirty="0" err="1"/>
              <a:t>Schwachstellen</a:t>
            </a:r>
            <a:r>
              <a:rPr lang="en-US" dirty="0"/>
              <a:t> </a:t>
            </a:r>
            <a:r>
              <a:rPr lang="en-US" dirty="0" err="1"/>
              <a:t>zuerst</a:t>
            </a:r>
            <a:r>
              <a:rPr lang="en-US" dirty="0"/>
              <a:t> </a:t>
            </a:r>
            <a:r>
              <a:rPr lang="en-US" dirty="0" err="1"/>
              <a:t>gebaut</a:t>
            </a:r>
            <a:r>
              <a:rPr lang="en-US" dirty="0"/>
              <a:t> und </a:t>
            </a:r>
            <a:r>
              <a:rPr lang="en-US" dirty="0" err="1"/>
              <a:t>dann</a:t>
            </a:r>
            <a:r>
              <a:rPr dirty="0"/>
              <a:t> </a:t>
            </a:r>
            <a:r>
              <a:rPr dirty="0" err="1"/>
              <a:t>untersucht</a:t>
            </a:r>
            <a:r>
              <a:rPr dirty="0"/>
              <a:t>. </a:t>
            </a:r>
            <a:br>
              <a:rPr lang="en-US" dirty="0"/>
            </a:br>
            <a:br>
              <a:rPr lang="en-US" dirty="0"/>
            </a:br>
            <a:r>
              <a:rPr dirty="0"/>
              <a:t>Mich hat </a:t>
            </a:r>
            <a:r>
              <a:rPr dirty="0" err="1"/>
              <a:t>interessiert</a:t>
            </a:r>
            <a:r>
              <a:rPr dirty="0"/>
              <a:t>, was </a:t>
            </a:r>
            <a:r>
              <a:rPr dirty="0" err="1"/>
              <a:t>ein</a:t>
            </a:r>
            <a:r>
              <a:rPr dirty="0"/>
              <a:t> </a:t>
            </a:r>
            <a:r>
              <a:rPr dirty="0" err="1"/>
              <a:t>Angreifer</a:t>
            </a:r>
            <a:r>
              <a:rPr dirty="0"/>
              <a:t> Schritt für Schritt </a:t>
            </a:r>
            <a:r>
              <a:rPr dirty="0" err="1"/>
              <a:t>beobachten</a:t>
            </a:r>
            <a:r>
              <a:rPr dirty="0"/>
              <a:t> und </a:t>
            </a:r>
            <a:r>
              <a:rPr dirty="0" err="1"/>
              <a:t>erreichen</a:t>
            </a:r>
            <a:r>
              <a:rPr dirty="0"/>
              <a:t> </a:t>
            </a:r>
            <a:r>
              <a:rPr dirty="0" err="1"/>
              <a:t>kann</a:t>
            </a:r>
            <a:r>
              <a:rPr dirty="0"/>
              <a:t>. </a:t>
            </a:r>
            <a:br>
              <a:rPr lang="en-US" dirty="0"/>
            </a:br>
            <a:br>
              <a:rPr lang="en-US" dirty="0"/>
            </a:br>
            <a:r>
              <a:rPr dirty="0"/>
              <a:t>Ich </a:t>
            </a:r>
            <a:r>
              <a:rPr dirty="0" err="1"/>
              <a:t>zeige</a:t>
            </a:r>
            <a:r>
              <a:rPr dirty="0"/>
              <a:t> die </a:t>
            </a:r>
            <a:r>
              <a:rPr dirty="0" err="1"/>
              <a:t>Architektur</a:t>
            </a:r>
            <a:r>
              <a:rPr dirty="0"/>
              <a:t>, vier </a:t>
            </a:r>
            <a:r>
              <a:rPr dirty="0" err="1"/>
              <a:t>Experimente</a:t>
            </a:r>
            <a:r>
              <a:rPr dirty="0"/>
              <a:t> und die </a:t>
            </a:r>
            <a:r>
              <a:rPr dirty="0" err="1"/>
              <a:t>Ergebnisse</a:t>
            </a:r>
            <a:r>
              <a:rPr dirty="0"/>
              <a:t> </a:t>
            </a:r>
            <a:r>
              <a:rPr dirty="0" err="1"/>
              <a:t>direkt</a:t>
            </a:r>
            <a:r>
              <a:rPr dirty="0"/>
              <a:t> </a:t>
            </a:r>
            <a:r>
              <a:rPr dirty="0" err="1"/>
              <a:t>im</a:t>
            </a:r>
            <a:r>
              <a:rPr dirty="0"/>
              <a:t> Terminal.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Warum</a:t>
            </a:r>
            <a:r>
              <a:rPr dirty="0"/>
              <a:t> </a:t>
            </a:r>
            <a:r>
              <a:rPr dirty="0" err="1"/>
              <a:t>sind</a:t>
            </a:r>
            <a:r>
              <a:rPr dirty="0"/>
              <a:t> Dependency Updates </a:t>
            </a:r>
            <a:r>
              <a:rPr lang="en-US" dirty="0" err="1"/>
              <a:t>generell</a:t>
            </a:r>
            <a:r>
              <a:rPr dirty="0"/>
              <a:t> </a:t>
            </a:r>
            <a:r>
              <a:rPr dirty="0" err="1"/>
              <a:t>wichtig</a:t>
            </a:r>
            <a:r>
              <a:rPr dirty="0"/>
              <a:t>? </a:t>
            </a:r>
            <a:br>
              <a:rPr lang="en-US" dirty="0"/>
            </a:br>
            <a:br>
              <a:rPr lang="en-US" dirty="0"/>
            </a:br>
            <a:r>
              <a:rPr dirty="0"/>
              <a:t>Der </a:t>
            </a:r>
            <a:r>
              <a:rPr dirty="0" err="1"/>
              <a:t>Anwendungscode</a:t>
            </a:r>
            <a:r>
              <a:rPr dirty="0"/>
              <a:t> </a:t>
            </a:r>
            <a:r>
              <a:rPr dirty="0" err="1"/>
              <a:t>kann</a:t>
            </a:r>
            <a:r>
              <a:rPr dirty="0"/>
              <a:t> </a:t>
            </a:r>
            <a:r>
              <a:rPr dirty="0" err="1"/>
              <a:t>gleich</a:t>
            </a:r>
            <a:r>
              <a:rPr dirty="0"/>
              <a:t> </a:t>
            </a:r>
            <a:r>
              <a:rPr dirty="0" err="1"/>
              <a:t>bleiben</a:t>
            </a:r>
            <a:r>
              <a:rPr dirty="0"/>
              <a:t>, und </a:t>
            </a:r>
            <a:r>
              <a:rPr dirty="0" err="1"/>
              <a:t>trotzdem</a:t>
            </a:r>
            <a:r>
              <a:rPr dirty="0"/>
              <a:t> </a:t>
            </a:r>
            <a:r>
              <a:rPr dirty="0" err="1"/>
              <a:t>kann</a:t>
            </a:r>
            <a:r>
              <a:rPr dirty="0"/>
              <a:t> </a:t>
            </a:r>
            <a:r>
              <a:rPr dirty="0" err="1"/>
              <a:t>sich</a:t>
            </a:r>
            <a:r>
              <a:rPr dirty="0"/>
              <a:t> das Risiko </a:t>
            </a:r>
            <a:r>
              <a:rPr dirty="0" err="1"/>
              <a:t>ändern</a:t>
            </a:r>
            <a:r>
              <a:rPr dirty="0"/>
              <a:t>. Zum </a:t>
            </a:r>
            <a:r>
              <a:rPr dirty="0" err="1"/>
              <a:t>Beispiel</a:t>
            </a:r>
            <a:r>
              <a:rPr dirty="0"/>
              <a:t> </a:t>
            </a:r>
            <a:r>
              <a:rPr dirty="0" err="1"/>
              <a:t>wird</a:t>
            </a:r>
            <a:r>
              <a:rPr dirty="0"/>
              <a:t> </a:t>
            </a:r>
            <a:r>
              <a:rPr dirty="0" err="1"/>
              <a:t>eine</a:t>
            </a:r>
            <a:r>
              <a:rPr dirty="0"/>
              <a:t> </a:t>
            </a:r>
            <a:r>
              <a:rPr dirty="0" err="1"/>
              <a:t>Schwachstelle</a:t>
            </a:r>
            <a:r>
              <a:rPr dirty="0"/>
              <a:t> in </a:t>
            </a:r>
            <a:r>
              <a:rPr dirty="0" err="1"/>
              <a:t>einer</a:t>
            </a:r>
            <a:r>
              <a:rPr dirty="0"/>
              <a:t> Library, </a:t>
            </a:r>
            <a:r>
              <a:rPr dirty="0" err="1"/>
              <a:t>einem</a:t>
            </a:r>
            <a:r>
              <a:rPr dirty="0"/>
              <a:t> Framework </a:t>
            </a:r>
            <a:r>
              <a:rPr dirty="0" err="1"/>
              <a:t>oder</a:t>
            </a:r>
            <a:r>
              <a:rPr dirty="0"/>
              <a:t> </a:t>
            </a:r>
            <a:r>
              <a:rPr dirty="0" err="1"/>
              <a:t>einer</a:t>
            </a:r>
            <a:r>
              <a:rPr dirty="0"/>
              <a:t> Runtime </a:t>
            </a:r>
            <a:r>
              <a:rPr dirty="0" err="1"/>
              <a:t>veröffentlicht</a:t>
            </a:r>
            <a:r>
              <a:rPr dirty="0"/>
              <a:t>. </a:t>
            </a:r>
            <a:br>
              <a:rPr lang="en-US" dirty="0"/>
            </a:br>
            <a:r>
              <a:rPr dirty="0"/>
              <a:t>Dann </a:t>
            </a:r>
            <a:r>
              <a:rPr dirty="0" err="1"/>
              <a:t>müssen</a:t>
            </a:r>
            <a:r>
              <a:rPr dirty="0"/>
              <a:t> </a:t>
            </a:r>
            <a:r>
              <a:rPr lang="en-US" dirty="0" err="1"/>
              <a:t>wir</a:t>
            </a:r>
            <a:r>
              <a:rPr lang="en-US" dirty="0"/>
              <a:t> </a:t>
            </a:r>
            <a:r>
              <a:rPr dirty="0" err="1"/>
              <a:t>wissen</a:t>
            </a:r>
            <a:r>
              <a:rPr dirty="0"/>
              <a:t>, </a:t>
            </a:r>
            <a:r>
              <a:rPr dirty="0" err="1"/>
              <a:t>welche</a:t>
            </a:r>
            <a:r>
              <a:rPr dirty="0"/>
              <a:t> Version </a:t>
            </a:r>
            <a:r>
              <a:rPr dirty="0" err="1"/>
              <a:t>tatsächlich</a:t>
            </a:r>
            <a:r>
              <a:rPr dirty="0"/>
              <a:t> </a:t>
            </a:r>
            <a:r>
              <a:rPr dirty="0" err="1"/>
              <a:t>läuft</a:t>
            </a:r>
            <a:r>
              <a:rPr dirty="0"/>
              <a:t> und </a:t>
            </a:r>
            <a:r>
              <a:rPr dirty="0" err="1"/>
              <a:t>ob</a:t>
            </a:r>
            <a:r>
              <a:rPr dirty="0"/>
              <a:t> die </a:t>
            </a:r>
            <a:r>
              <a:rPr dirty="0" err="1"/>
              <a:t>betroffene</a:t>
            </a:r>
            <a:r>
              <a:rPr dirty="0"/>
              <a:t> </a:t>
            </a:r>
            <a:r>
              <a:rPr dirty="0" err="1"/>
              <a:t>Funktion</a:t>
            </a:r>
            <a:r>
              <a:rPr dirty="0"/>
              <a:t> von </a:t>
            </a:r>
            <a:r>
              <a:rPr dirty="0" err="1"/>
              <a:t>außen</a:t>
            </a:r>
            <a:r>
              <a:rPr dirty="0"/>
              <a:t> </a:t>
            </a:r>
            <a:r>
              <a:rPr dirty="0" err="1"/>
              <a:t>erreichbar</a:t>
            </a:r>
            <a:r>
              <a:rPr dirty="0"/>
              <a:t> </a:t>
            </a:r>
            <a:r>
              <a:rPr dirty="0" err="1"/>
              <a:t>ist</a:t>
            </a:r>
            <a:r>
              <a:rPr dirty="0"/>
              <a:t>. </a:t>
            </a:r>
            <a:br>
              <a:rPr lang="en-US" dirty="0"/>
            </a:br>
            <a:br>
              <a:rPr lang="en-US" dirty="0"/>
            </a:br>
            <a:r>
              <a:rPr dirty="0"/>
              <a:t>Erst </a:t>
            </a:r>
            <a:r>
              <a:rPr dirty="0" err="1"/>
              <a:t>dann</a:t>
            </a:r>
            <a:r>
              <a:rPr dirty="0"/>
              <a:t> </a:t>
            </a:r>
            <a:r>
              <a:rPr dirty="0" err="1"/>
              <a:t>können</a:t>
            </a:r>
            <a:r>
              <a:rPr dirty="0"/>
              <a:t> </a:t>
            </a:r>
            <a:r>
              <a:rPr dirty="0" err="1"/>
              <a:t>wir</a:t>
            </a:r>
            <a:r>
              <a:rPr dirty="0"/>
              <a:t> die </a:t>
            </a:r>
            <a:r>
              <a:rPr dirty="0" err="1"/>
              <a:t>Priorität</a:t>
            </a:r>
            <a:r>
              <a:rPr dirty="0"/>
              <a:t> und den </a:t>
            </a:r>
            <a:r>
              <a:rPr dirty="0" err="1"/>
              <a:t>nächsten</a:t>
            </a:r>
            <a:r>
              <a:rPr dirty="0"/>
              <a:t> Schritt </a:t>
            </a:r>
            <a:r>
              <a:rPr dirty="0" err="1"/>
              <a:t>sinnvoll</a:t>
            </a:r>
            <a:r>
              <a:rPr dirty="0"/>
              <a:t> </a:t>
            </a:r>
            <a:r>
              <a:rPr dirty="0" err="1"/>
              <a:t>beurteilen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a:t>
            </a:r>
            <a:r>
              <a:rPr lang="en-US" dirty="0" err="1"/>
              <a:t>glaube</a:t>
            </a:r>
            <a:r>
              <a:rPr lang="en-US" dirty="0"/>
              <a:t> alle </a:t>
            </a:r>
            <a:r>
              <a:rPr lang="en-US" dirty="0" err="1"/>
              <a:t>haben</a:t>
            </a:r>
            <a:r>
              <a:rPr lang="en-US" dirty="0"/>
              <a:t> </a:t>
            </a:r>
            <a:r>
              <a:rPr lang="en-US" dirty="0" err="1"/>
              <a:t>schon</a:t>
            </a:r>
            <a:r>
              <a:rPr lang="en-US" dirty="0"/>
              <a:t> </a:t>
            </a:r>
            <a:r>
              <a:rPr lang="en-US" dirty="0" err="1"/>
              <a:t>ueber</a:t>
            </a:r>
            <a:r>
              <a:rPr lang="en-US" dirty="0"/>
              <a:t> </a:t>
            </a:r>
            <a:r>
              <a:rPr lang="en-US" dirty="0" err="1"/>
              <a:t>letzte</a:t>
            </a:r>
            <a:r>
              <a:rPr lang="en-US" dirty="0"/>
              <a:t> PHP case </a:t>
            </a:r>
            <a:r>
              <a:rPr lang="en-US" dirty="0" err="1"/>
              <a:t>gehoert</a:t>
            </a:r>
            <a:br>
              <a:rPr lang="en-US" dirty="0"/>
            </a:br>
            <a:br>
              <a:rPr lang="en-US" dirty="0"/>
            </a:br>
            <a:r>
              <a:rPr dirty="0"/>
              <a:t>Am 21. Oktober hat das PHP-Projekt Updates für </a:t>
            </a:r>
            <a:r>
              <a:rPr dirty="0" err="1"/>
              <a:t>zwei</a:t>
            </a:r>
            <a:r>
              <a:rPr dirty="0"/>
              <a:t> </a:t>
            </a:r>
            <a:r>
              <a:rPr dirty="0" err="1"/>
              <a:t>kritische</a:t>
            </a:r>
            <a:r>
              <a:rPr dirty="0"/>
              <a:t> </a:t>
            </a:r>
            <a:r>
              <a:rPr dirty="0" err="1"/>
              <a:t>Schwachstellen</a:t>
            </a:r>
            <a:r>
              <a:rPr dirty="0"/>
              <a:t> </a:t>
            </a:r>
            <a:r>
              <a:rPr dirty="0" err="1"/>
              <a:t>veröffentlicht</a:t>
            </a:r>
            <a:r>
              <a:rPr dirty="0"/>
              <a:t>. </a:t>
            </a:r>
            <a:br>
              <a:rPr lang="en-US" dirty="0"/>
            </a:br>
            <a:r>
              <a:rPr dirty="0"/>
              <a:t>Je </a:t>
            </a:r>
            <a:r>
              <a:rPr dirty="0" err="1"/>
              <a:t>nach</a:t>
            </a:r>
            <a:r>
              <a:rPr dirty="0"/>
              <a:t> </a:t>
            </a:r>
            <a:r>
              <a:rPr dirty="0" err="1"/>
              <a:t>Einsatz</a:t>
            </a:r>
            <a:r>
              <a:rPr dirty="0"/>
              <a:t> </a:t>
            </a:r>
            <a:r>
              <a:rPr dirty="0" err="1"/>
              <a:t>konnten</a:t>
            </a:r>
            <a:r>
              <a:rPr dirty="0"/>
              <a:t> </a:t>
            </a:r>
            <a:r>
              <a:rPr lang="en-US" dirty="0"/>
              <a:t>die </a:t>
            </a:r>
            <a:r>
              <a:rPr lang="de-AT" dirty="0"/>
              <a:t>Schwachstellen</a:t>
            </a:r>
            <a:r>
              <a:rPr dirty="0"/>
              <a:t> Remote Code Execution </a:t>
            </a:r>
            <a:r>
              <a:rPr dirty="0" err="1"/>
              <a:t>ermöglichen</a:t>
            </a:r>
            <a:r>
              <a:rPr dirty="0"/>
              <a:t>. </a:t>
            </a:r>
            <a:br>
              <a:rPr lang="en-US" dirty="0"/>
            </a:br>
            <a:br>
              <a:rPr lang="en-US" dirty="0"/>
            </a:br>
            <a:r>
              <a:rPr lang="en-US" dirty="0"/>
              <a:t>Aber </a:t>
            </a:r>
            <a:r>
              <a:rPr dirty="0"/>
              <a:t>Ich </a:t>
            </a:r>
            <a:r>
              <a:rPr dirty="0" err="1"/>
              <a:t>möchte</a:t>
            </a:r>
            <a:r>
              <a:rPr dirty="0"/>
              <a:t> die PHP-Technik </a:t>
            </a:r>
            <a:r>
              <a:rPr dirty="0" err="1"/>
              <a:t>heute</a:t>
            </a:r>
            <a:r>
              <a:rPr dirty="0"/>
              <a:t> nicht </a:t>
            </a:r>
            <a:r>
              <a:rPr dirty="0" err="1"/>
              <a:t>im</a:t>
            </a:r>
            <a:r>
              <a:rPr dirty="0"/>
              <a:t> Detail </a:t>
            </a:r>
            <a:r>
              <a:rPr dirty="0" err="1"/>
              <a:t>erklären</a:t>
            </a:r>
            <a:r>
              <a:rPr lang="en-US" dirty="0"/>
              <a:t>, das </a:t>
            </a:r>
            <a:r>
              <a:rPr lang="en-US" dirty="0" err="1"/>
              <a:t>ist</a:t>
            </a:r>
            <a:r>
              <a:rPr lang="en-US" dirty="0"/>
              <a:t> </a:t>
            </a:r>
            <a:r>
              <a:rPr lang="en-US" dirty="0" err="1"/>
              <a:t>nur</a:t>
            </a:r>
            <a:r>
              <a:rPr lang="en-US" dirty="0"/>
              <a:t> </a:t>
            </a:r>
            <a:r>
              <a:rPr lang="en-US" dirty="0" err="1"/>
              <a:t>letzte</a:t>
            </a:r>
            <a:r>
              <a:rPr lang="en-US" dirty="0"/>
              <a:t> </a:t>
            </a:r>
            <a:r>
              <a:rPr lang="en-US" dirty="0" err="1"/>
              <a:t>aktuelle</a:t>
            </a:r>
            <a:r>
              <a:rPr lang="en-US" dirty="0"/>
              <a:t> </a:t>
            </a:r>
            <a:r>
              <a:rPr lang="en-US" dirty="0" err="1"/>
              <a:t>Beispiel</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Bei </a:t>
            </a:r>
            <a:r>
              <a:rPr dirty="0" err="1"/>
              <a:t>uns</a:t>
            </a:r>
            <a:r>
              <a:rPr dirty="0"/>
              <a:t> </a:t>
            </a:r>
            <a:r>
              <a:rPr dirty="0" err="1"/>
              <a:t>basieren</a:t>
            </a:r>
            <a:r>
              <a:rPr dirty="0"/>
              <a:t> </a:t>
            </a:r>
            <a:r>
              <a:rPr dirty="0" err="1"/>
              <a:t>viele</a:t>
            </a:r>
            <a:r>
              <a:rPr dirty="0"/>
              <a:t> Projekte auf Java und Spring. </a:t>
            </a:r>
            <a:br>
              <a:rPr lang="en-US" dirty="0"/>
            </a:br>
            <a:br>
              <a:rPr lang="en-US" dirty="0"/>
            </a:br>
            <a:r>
              <a:rPr lang="en-US" dirty="0" err="1"/>
              <a:t>Deswegen</a:t>
            </a:r>
            <a:r>
              <a:rPr dirty="0"/>
              <a:t> </a:t>
            </a:r>
            <a:r>
              <a:rPr dirty="0" err="1"/>
              <a:t>habe</a:t>
            </a:r>
            <a:r>
              <a:rPr dirty="0"/>
              <a:t> ich für den </a:t>
            </a:r>
            <a:r>
              <a:rPr dirty="0" err="1"/>
              <a:t>praktischen</a:t>
            </a:r>
            <a:r>
              <a:rPr dirty="0"/>
              <a:t> Teil </a:t>
            </a:r>
            <a:r>
              <a:rPr dirty="0" err="1"/>
              <a:t>ein</a:t>
            </a:r>
            <a:r>
              <a:rPr dirty="0"/>
              <a:t> Spring Demo-System </a:t>
            </a:r>
            <a:r>
              <a:rPr dirty="0" err="1"/>
              <a:t>gewählt</a:t>
            </a:r>
            <a:r>
              <a:rPr dirty="0"/>
              <a:t>.</a:t>
            </a:r>
            <a:br>
              <a:rPr lang="en-US" dirty="0"/>
            </a:br>
            <a:br>
              <a:rPr lang="en-US" dirty="0"/>
            </a:br>
            <a:r>
              <a:rPr lang="de-AT" sz="1200" b="0" i="0" kern="1200" dirty="0">
                <a:effectLst/>
              </a:rPr>
              <a:t>Ich möchte zeigen, wie sich in einem solchen Projekt mehrere Schwachstellen miteinander verketten lassen und wie weit man damit theoretisch kommen könnte.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Kurz </a:t>
            </a:r>
            <a:r>
              <a:rPr dirty="0" err="1"/>
              <a:t>zum</a:t>
            </a:r>
            <a:r>
              <a:rPr dirty="0"/>
              <a:t> </a:t>
            </a:r>
            <a:r>
              <a:rPr dirty="0" err="1"/>
              <a:t>Ablauf</a:t>
            </a:r>
            <a:r>
              <a:rPr dirty="0"/>
              <a:t>: Ich </a:t>
            </a:r>
            <a:r>
              <a:rPr dirty="0" err="1"/>
              <a:t>beginne</a:t>
            </a:r>
            <a:r>
              <a:rPr dirty="0"/>
              <a:t> </a:t>
            </a:r>
            <a:r>
              <a:rPr dirty="0" err="1"/>
              <a:t>mit</a:t>
            </a:r>
            <a:r>
              <a:rPr dirty="0"/>
              <a:t> der </a:t>
            </a:r>
            <a:r>
              <a:rPr dirty="0" err="1"/>
              <a:t>Geschichte</a:t>
            </a:r>
            <a:r>
              <a:rPr dirty="0"/>
              <a:t> und der Idee des Demo-Systems. </a:t>
            </a:r>
            <a:br>
              <a:rPr lang="ru-RU" dirty="0"/>
            </a:br>
            <a:br>
              <a:rPr lang="ru-RU" dirty="0"/>
            </a:br>
            <a:r>
              <a:rPr dirty="0"/>
              <a:t>Dann </a:t>
            </a:r>
            <a:r>
              <a:rPr dirty="0" err="1"/>
              <a:t>drei</a:t>
            </a:r>
            <a:r>
              <a:rPr dirty="0"/>
              <a:t> Services und den </a:t>
            </a:r>
            <a:r>
              <a:rPr dirty="0" err="1"/>
              <a:t>normalen</a:t>
            </a:r>
            <a:r>
              <a:rPr dirty="0"/>
              <a:t> </a:t>
            </a:r>
            <a:r>
              <a:rPr dirty="0" err="1"/>
              <a:t>Datenfluss</a:t>
            </a:r>
            <a:r>
              <a:rPr dirty="0"/>
              <a:t> </a:t>
            </a:r>
            <a:br>
              <a:rPr lang="ru-RU" dirty="0"/>
            </a:br>
            <a:br>
              <a:rPr lang="ru-RU" dirty="0"/>
            </a:br>
            <a:r>
              <a:rPr dirty="0" err="1"/>
              <a:t>Danach</a:t>
            </a:r>
            <a:r>
              <a:rPr dirty="0"/>
              <a:t> </a:t>
            </a:r>
            <a:r>
              <a:rPr dirty="0" err="1"/>
              <a:t>kommen</a:t>
            </a:r>
            <a:r>
              <a:rPr dirty="0"/>
              <a:t> vier </a:t>
            </a:r>
            <a:r>
              <a:rPr dirty="0" err="1"/>
              <a:t>Experimente</a:t>
            </a:r>
            <a:r>
              <a:rPr dirty="0"/>
              <a:t>. Bei </a:t>
            </a:r>
            <a:r>
              <a:rPr dirty="0" err="1"/>
              <a:t>jedem</a:t>
            </a:r>
            <a:r>
              <a:rPr dirty="0"/>
              <a:t> Experiment </a:t>
            </a:r>
            <a:r>
              <a:rPr dirty="0" err="1"/>
              <a:t>erkläre</a:t>
            </a:r>
            <a:r>
              <a:rPr dirty="0"/>
              <a:t> ich </a:t>
            </a:r>
            <a:r>
              <a:rPr dirty="0" err="1"/>
              <a:t>zuerst</a:t>
            </a:r>
            <a:r>
              <a:rPr dirty="0"/>
              <a:t> den </a:t>
            </a:r>
            <a:r>
              <a:rPr dirty="0" err="1"/>
              <a:t>Mechanismus</a:t>
            </a:r>
            <a:r>
              <a:rPr dirty="0"/>
              <a:t> und </a:t>
            </a:r>
            <a:r>
              <a:rPr dirty="0" err="1"/>
              <a:t>wechsle</a:t>
            </a:r>
            <a:r>
              <a:rPr dirty="0"/>
              <a:t> </a:t>
            </a:r>
            <a:r>
              <a:rPr dirty="0" err="1"/>
              <a:t>dann</a:t>
            </a:r>
            <a:r>
              <a:rPr dirty="0"/>
              <a:t> </a:t>
            </a:r>
            <a:r>
              <a:rPr dirty="0" err="1"/>
              <a:t>kurz</a:t>
            </a:r>
            <a:r>
              <a:rPr dirty="0"/>
              <a:t> in das Terminal. </a:t>
            </a:r>
            <a:br>
              <a:rPr lang="ru-RU" dirty="0"/>
            </a:br>
            <a:br>
              <a:rPr lang="ru-RU" dirty="0"/>
            </a:br>
            <a:r>
              <a:rPr lang="en-US" dirty="0"/>
              <a:t>Und am</a:t>
            </a:r>
            <a:r>
              <a:rPr dirty="0"/>
              <a:t> Ende </a:t>
            </a:r>
            <a:r>
              <a:rPr dirty="0" err="1"/>
              <a:t>fasse</a:t>
            </a:r>
            <a:r>
              <a:rPr dirty="0"/>
              <a:t> ich die </a:t>
            </a:r>
            <a:r>
              <a:rPr dirty="0" err="1"/>
              <a:t>Beobachtungen</a:t>
            </a:r>
            <a:r>
              <a:rPr dirty="0"/>
              <a:t> </a:t>
            </a:r>
            <a:r>
              <a:rPr dirty="0" err="1"/>
              <a:t>zusammen</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Das Demo-System hat </a:t>
            </a:r>
            <a:r>
              <a:rPr dirty="0" err="1"/>
              <a:t>eine</a:t>
            </a:r>
            <a:r>
              <a:rPr dirty="0"/>
              <a:t> </a:t>
            </a:r>
            <a:r>
              <a:rPr dirty="0" err="1"/>
              <a:t>kleine</a:t>
            </a:r>
            <a:r>
              <a:rPr dirty="0"/>
              <a:t> </a:t>
            </a:r>
            <a:r>
              <a:rPr dirty="0" err="1"/>
              <a:t>Spielgeschichte</a:t>
            </a:r>
            <a:r>
              <a:rPr lang="en-US" dirty="0"/>
              <a:t>:</a:t>
            </a:r>
            <a:br>
              <a:rPr lang="en-US" dirty="0"/>
            </a:br>
            <a:br>
              <a:rPr lang="en-US" dirty="0"/>
            </a:br>
            <a:r>
              <a:rPr dirty="0"/>
              <a:t>In der </a:t>
            </a:r>
            <a:r>
              <a:rPr dirty="0" err="1"/>
              <a:t>Organisation</a:t>
            </a:r>
            <a:r>
              <a:rPr dirty="0"/>
              <a:t> MATO </a:t>
            </a:r>
            <a:r>
              <a:rPr dirty="0" err="1"/>
              <a:t>gibt</a:t>
            </a:r>
            <a:r>
              <a:rPr dirty="0"/>
              <a:t> </a:t>
            </a:r>
            <a:r>
              <a:rPr dirty="0" err="1"/>
              <a:t>ein</a:t>
            </a:r>
            <a:r>
              <a:rPr dirty="0"/>
              <a:t> </a:t>
            </a:r>
            <a:r>
              <a:rPr dirty="0" err="1"/>
              <a:t>Archiv</a:t>
            </a:r>
            <a:r>
              <a:rPr dirty="0"/>
              <a:t>. Ein AI Assistant hat </a:t>
            </a:r>
            <a:r>
              <a:rPr dirty="0" err="1"/>
              <a:t>eine</a:t>
            </a:r>
            <a:r>
              <a:rPr dirty="0"/>
              <a:t> </a:t>
            </a:r>
            <a:r>
              <a:rPr dirty="0" err="1"/>
              <a:t>Konfig</a:t>
            </a:r>
            <a:r>
              <a:rPr dirty="0"/>
              <a:t> in </a:t>
            </a:r>
            <a:r>
              <a:rPr dirty="0" err="1"/>
              <a:t>ein</a:t>
            </a:r>
            <a:r>
              <a:rPr dirty="0"/>
              <a:t> </a:t>
            </a:r>
            <a:r>
              <a:rPr dirty="0" err="1"/>
              <a:t>öffentliches</a:t>
            </a:r>
            <a:r>
              <a:rPr dirty="0"/>
              <a:t> Repo </a:t>
            </a:r>
            <a:r>
              <a:rPr dirty="0" err="1"/>
              <a:t>gestellt</a:t>
            </a:r>
            <a:r>
              <a:rPr dirty="0"/>
              <a:t>. Da</a:t>
            </a:r>
            <a:r>
              <a:rPr lang="en-US" dirty="0"/>
              <a:t> </a:t>
            </a:r>
            <a:r>
              <a:rPr dirty="0" err="1"/>
              <a:t>findet</a:t>
            </a:r>
            <a:r>
              <a:rPr dirty="0"/>
              <a:t> man</a:t>
            </a:r>
            <a:r>
              <a:rPr lang="en-US" dirty="0"/>
              <a:t> </a:t>
            </a:r>
            <a:r>
              <a:rPr dirty="0"/>
              <a:t>Gateway</a:t>
            </a:r>
            <a:r>
              <a:rPr lang="en-US" dirty="0"/>
              <a:t> </a:t>
            </a:r>
            <a:r>
              <a:rPr lang="de-AT" dirty="0"/>
              <a:t>Adresse</a:t>
            </a:r>
            <a:r>
              <a:rPr dirty="0"/>
              <a:t>. </a:t>
            </a:r>
            <a:br>
              <a:rPr lang="en-US" dirty="0"/>
            </a:br>
            <a:br>
              <a:rPr lang="en-US" dirty="0"/>
            </a:br>
            <a:r>
              <a:rPr dirty="0"/>
              <a:t>Von </a:t>
            </a:r>
            <a:r>
              <a:rPr dirty="0" err="1"/>
              <a:t>dort</a:t>
            </a:r>
            <a:r>
              <a:rPr dirty="0"/>
              <a:t> </a:t>
            </a:r>
            <a:r>
              <a:rPr dirty="0" err="1"/>
              <a:t>beginnt</a:t>
            </a:r>
            <a:r>
              <a:rPr dirty="0"/>
              <a:t> die </a:t>
            </a:r>
            <a:r>
              <a:rPr dirty="0" err="1"/>
              <a:t>Untersuchung</a:t>
            </a:r>
            <a:r>
              <a:rPr dirty="0"/>
              <a:t>. </a:t>
            </a:r>
            <a:r>
              <a:rPr dirty="0" err="1"/>
              <a:t>Im</a:t>
            </a:r>
            <a:r>
              <a:rPr dirty="0"/>
              <a:t> Projekt </a:t>
            </a:r>
            <a:r>
              <a:rPr dirty="0" err="1"/>
              <a:t>gibt</a:t>
            </a:r>
            <a:r>
              <a:rPr dirty="0"/>
              <a:t> es vier Flags. Das </a:t>
            </a:r>
            <a:r>
              <a:rPr dirty="0" err="1"/>
              <a:t>sind</a:t>
            </a:r>
            <a:r>
              <a:rPr dirty="0"/>
              <a:t> </a:t>
            </a:r>
            <a:r>
              <a:rPr dirty="0" err="1"/>
              <a:t>nur</a:t>
            </a:r>
            <a:r>
              <a:rPr dirty="0"/>
              <a:t> Marker: Sie </a:t>
            </a:r>
            <a:r>
              <a:rPr dirty="0" err="1"/>
              <a:t>zeigen</a:t>
            </a:r>
            <a:r>
              <a:rPr dirty="0"/>
              <a:t>, </a:t>
            </a:r>
            <a:r>
              <a:rPr dirty="0" err="1"/>
              <a:t>dass</a:t>
            </a:r>
            <a:r>
              <a:rPr dirty="0"/>
              <a:t> </a:t>
            </a:r>
            <a:r>
              <a:rPr lang="en-US" dirty="0" err="1"/>
              <a:t>besondere</a:t>
            </a:r>
            <a:r>
              <a:rPr dirty="0"/>
              <a:t> </a:t>
            </a:r>
            <a:r>
              <a:rPr dirty="0" err="1"/>
              <a:t>Stufe</a:t>
            </a:r>
            <a:r>
              <a:rPr dirty="0"/>
              <a:t> </a:t>
            </a:r>
            <a:r>
              <a:rPr dirty="0" err="1"/>
              <a:t>erreicht</a:t>
            </a:r>
            <a:r>
              <a:rPr dirty="0"/>
              <a:t> </a:t>
            </a:r>
            <a:r>
              <a:rPr dirty="0" err="1"/>
              <a:t>wurde</a:t>
            </a:r>
            <a:r>
              <a:rPr lang="en-US"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Die Idee war, </a:t>
            </a:r>
            <a:r>
              <a:rPr dirty="0" err="1"/>
              <a:t>eine</a:t>
            </a:r>
            <a:r>
              <a:rPr dirty="0"/>
              <a:t> </a:t>
            </a:r>
            <a:r>
              <a:rPr dirty="0" err="1"/>
              <a:t>kleine</a:t>
            </a:r>
            <a:r>
              <a:rPr dirty="0"/>
              <a:t>, </a:t>
            </a:r>
            <a:r>
              <a:rPr dirty="0" err="1"/>
              <a:t>kontrollierte</a:t>
            </a:r>
            <a:r>
              <a:rPr dirty="0"/>
              <a:t> </a:t>
            </a:r>
            <a:r>
              <a:rPr dirty="0" err="1"/>
              <a:t>Umgebung</a:t>
            </a:r>
            <a:r>
              <a:rPr dirty="0"/>
              <a:t> </a:t>
            </a:r>
            <a:r>
              <a:rPr dirty="0" err="1"/>
              <a:t>zu</a:t>
            </a:r>
            <a:r>
              <a:rPr dirty="0"/>
              <a:t> </a:t>
            </a:r>
            <a:r>
              <a:rPr dirty="0" err="1"/>
              <a:t>bauen</a:t>
            </a:r>
            <a:r>
              <a:rPr dirty="0"/>
              <a:t>. </a:t>
            </a:r>
            <a:br>
              <a:rPr lang="en-US" dirty="0"/>
            </a:br>
            <a:br>
              <a:rPr lang="en-US" dirty="0"/>
            </a:br>
            <a:r>
              <a:rPr dirty="0"/>
              <a:t>Ein Service </a:t>
            </a:r>
            <a:r>
              <a:rPr dirty="0" err="1"/>
              <a:t>verwaltet</a:t>
            </a:r>
            <a:r>
              <a:rPr dirty="0"/>
              <a:t> </a:t>
            </a:r>
            <a:r>
              <a:rPr lang="en-US" dirty="0"/>
              <a:t>Users</a:t>
            </a:r>
            <a:r>
              <a:rPr dirty="0"/>
              <a:t>, </a:t>
            </a:r>
            <a:r>
              <a:rPr dirty="0" err="1"/>
              <a:t>persönliche</a:t>
            </a:r>
            <a:r>
              <a:rPr dirty="0"/>
              <a:t> </a:t>
            </a:r>
            <a:r>
              <a:rPr dirty="0" err="1"/>
              <a:t>Notizen</a:t>
            </a:r>
            <a:r>
              <a:rPr dirty="0"/>
              <a:t> und </a:t>
            </a:r>
            <a:r>
              <a:rPr dirty="0" err="1"/>
              <a:t>Dokumente</a:t>
            </a:r>
            <a:r>
              <a:rPr dirty="0"/>
              <a:t>.</a:t>
            </a:r>
            <a:br>
              <a:rPr lang="en-US" dirty="0"/>
            </a:br>
            <a:br>
              <a:rPr lang="en-US" dirty="0"/>
            </a:br>
            <a:r>
              <a:rPr dirty="0"/>
              <a:t>Ein Gateway </a:t>
            </a:r>
            <a:r>
              <a:rPr dirty="0" err="1"/>
              <a:t>leitet</a:t>
            </a:r>
            <a:r>
              <a:rPr dirty="0"/>
              <a:t> die </a:t>
            </a:r>
            <a:r>
              <a:rPr dirty="0" err="1"/>
              <a:t>Archiv-Anfragen</a:t>
            </a:r>
            <a:r>
              <a:rPr dirty="0"/>
              <a:t> </a:t>
            </a:r>
            <a:r>
              <a:rPr dirty="0" err="1"/>
              <a:t>weiter</a:t>
            </a:r>
            <a:r>
              <a:rPr dirty="0"/>
              <a:t>. Ein </a:t>
            </a:r>
            <a:r>
              <a:rPr dirty="0" err="1"/>
              <a:t>weiterer</a:t>
            </a:r>
            <a:r>
              <a:rPr dirty="0"/>
              <a:t> Service hat </a:t>
            </a:r>
            <a:r>
              <a:rPr dirty="0" err="1"/>
              <a:t>einen</a:t>
            </a:r>
            <a:r>
              <a:rPr dirty="0"/>
              <a:t> </a:t>
            </a:r>
            <a:r>
              <a:rPr dirty="0" err="1"/>
              <a:t>eigenen</a:t>
            </a:r>
            <a:r>
              <a:rPr dirty="0"/>
              <a:t> Login- und OTP-</a:t>
            </a:r>
            <a:r>
              <a:rPr dirty="0" err="1"/>
              <a:t>Bereich</a:t>
            </a:r>
            <a:r>
              <a:rPr dirty="0"/>
              <a:t>. </a:t>
            </a:r>
            <a:br>
              <a:rPr lang="en-US" dirty="0"/>
            </a:br>
            <a:br>
              <a:rPr lang="en-US" dirty="0"/>
            </a:br>
            <a:r>
              <a:rPr lang="de-AT" dirty="0"/>
              <a:t>So kann ich </a:t>
            </a:r>
            <a:r>
              <a:rPr lang="en-US" dirty="0" err="1"/>
              <a:t>mit</a:t>
            </a:r>
            <a:r>
              <a:rPr lang="en-US" dirty="0"/>
              <a:t> </a:t>
            </a:r>
            <a:r>
              <a:rPr lang="de-AT" dirty="0"/>
              <a:t>einzelne Schwachstellen zeigen wie ein Ergebnis aus einem Experiment zum nächsten Schritt führen kann.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Hier </a:t>
            </a:r>
            <a:r>
              <a:rPr dirty="0" err="1"/>
              <a:t>sehen</a:t>
            </a:r>
            <a:r>
              <a:rPr dirty="0"/>
              <a:t> </a:t>
            </a:r>
            <a:r>
              <a:rPr dirty="0" err="1"/>
              <a:t>wir</a:t>
            </a:r>
            <a:r>
              <a:rPr dirty="0"/>
              <a:t> die </a:t>
            </a:r>
            <a:r>
              <a:rPr dirty="0" err="1"/>
              <a:t>Architektur</a:t>
            </a:r>
            <a:r>
              <a:rPr dirty="0"/>
              <a:t>.</a:t>
            </a:r>
            <a:br>
              <a:rPr lang="en-US" dirty="0"/>
            </a:br>
            <a:br>
              <a:rPr lang="en-US" dirty="0"/>
            </a:br>
            <a:r>
              <a:rPr dirty="0"/>
              <a:t>Links </a:t>
            </a:r>
            <a:r>
              <a:rPr dirty="0" err="1"/>
              <a:t>steht</a:t>
            </a:r>
            <a:r>
              <a:rPr dirty="0"/>
              <a:t> die externe </a:t>
            </a:r>
            <a:r>
              <a:rPr dirty="0" err="1"/>
              <a:t>Anfrage</a:t>
            </a:r>
            <a:r>
              <a:rPr dirty="0"/>
              <a:t>. </a:t>
            </a:r>
            <a:br>
              <a:rPr lang="en-US" dirty="0"/>
            </a:br>
            <a:br>
              <a:rPr lang="en-US" dirty="0"/>
            </a:br>
            <a:r>
              <a:rPr dirty="0"/>
              <a:t>Der edge-gateway auf Port 8080 </a:t>
            </a:r>
            <a:r>
              <a:rPr dirty="0" err="1"/>
              <a:t>ist</a:t>
            </a:r>
            <a:r>
              <a:rPr dirty="0"/>
              <a:t> der </a:t>
            </a:r>
            <a:r>
              <a:rPr dirty="0" err="1"/>
              <a:t>öffentliche</a:t>
            </a:r>
            <a:r>
              <a:rPr dirty="0"/>
              <a:t> </a:t>
            </a:r>
            <a:r>
              <a:rPr dirty="0" err="1"/>
              <a:t>Zugang</a:t>
            </a:r>
            <a:r>
              <a:rPr dirty="0"/>
              <a:t> </a:t>
            </a:r>
            <a:r>
              <a:rPr dirty="0" err="1"/>
              <a:t>zum</a:t>
            </a:r>
            <a:r>
              <a:rPr dirty="0"/>
              <a:t> </a:t>
            </a:r>
            <a:r>
              <a:rPr dirty="0" err="1"/>
              <a:t>Archiv</a:t>
            </a:r>
            <a:r>
              <a:rPr dirty="0"/>
              <a:t>. Er </a:t>
            </a:r>
            <a:r>
              <a:rPr lang="en-US" dirty="0"/>
              <a:t>hat </a:t>
            </a:r>
            <a:r>
              <a:rPr lang="en-US" dirty="0" err="1"/>
              <a:t>solche</a:t>
            </a:r>
            <a:r>
              <a:rPr lang="en-US" dirty="0"/>
              <a:t> endpoints:</a:t>
            </a:r>
            <a:r>
              <a:rPr dirty="0"/>
              <a:t> /users, /notes und /documents/search. </a:t>
            </a:r>
            <a:r>
              <a:rPr lang="de-AT" dirty="0"/>
              <a:t>Service speichert seine Daten in </a:t>
            </a:r>
            <a:r>
              <a:rPr lang="de-AT" dirty="0" err="1"/>
              <a:t>MariaDB</a:t>
            </a:r>
            <a:r>
              <a:rPr lang="de-AT" dirty="0"/>
              <a:t>. </a:t>
            </a:r>
            <a:br>
              <a:rPr lang="ru-RU" dirty="0"/>
            </a:br>
            <a:br>
              <a:rPr lang="ru-RU" dirty="0"/>
            </a:br>
            <a:r>
              <a:rPr lang="de-AT" dirty="0"/>
              <a:t>Die Authentifizierung für /</a:t>
            </a:r>
            <a:r>
              <a:rPr lang="de-AT" dirty="0" err="1"/>
              <a:t>notes</a:t>
            </a:r>
            <a:r>
              <a:rPr lang="de-AT" dirty="0"/>
              <a:t> und /</a:t>
            </a:r>
            <a:r>
              <a:rPr lang="de-AT" dirty="0" err="1"/>
              <a:t>documents</a:t>
            </a:r>
            <a:r>
              <a:rPr lang="de-AT" dirty="0"/>
              <a:t>/</a:t>
            </a:r>
            <a:r>
              <a:rPr lang="de-AT" dirty="0" err="1"/>
              <a:t>search</a:t>
            </a:r>
            <a:r>
              <a:rPr lang="de-AT" dirty="0"/>
              <a:t> wird im </a:t>
            </a:r>
            <a:r>
              <a:rPr lang="de-AT" dirty="0" err="1"/>
              <a:t>archive</a:t>
            </a:r>
            <a:r>
              <a:rPr lang="de-AT" dirty="0"/>
              <a:t>-service geprüft.</a:t>
            </a:r>
            <a:r>
              <a:rPr lang="ru-RU" dirty="0"/>
              <a:t> </a:t>
            </a:r>
            <a:br>
              <a:rPr lang="en-US" dirty="0"/>
            </a:br>
            <a:br>
              <a:rPr lang="en-US" dirty="0"/>
            </a:br>
            <a:r>
              <a:rPr dirty="0"/>
              <a:t>Unten </a:t>
            </a:r>
            <a:r>
              <a:rPr dirty="0" err="1"/>
              <a:t>ist</a:t>
            </a:r>
            <a:r>
              <a:rPr dirty="0"/>
              <a:t> command-control. </a:t>
            </a:r>
            <a:r>
              <a:rPr lang="en-US" dirty="0"/>
              <a:t>Auch </a:t>
            </a:r>
            <a:r>
              <a:rPr dirty="0" err="1"/>
              <a:t>direkt</a:t>
            </a:r>
            <a:r>
              <a:rPr dirty="0"/>
              <a:t> </a:t>
            </a:r>
            <a:r>
              <a:rPr dirty="0" err="1"/>
              <a:t>erreichbar</a:t>
            </a:r>
            <a:r>
              <a:rPr dirty="0"/>
              <a:t>, </a:t>
            </a:r>
            <a:r>
              <a:rPr dirty="0" err="1"/>
              <a:t>aber</a:t>
            </a:r>
            <a:r>
              <a:rPr dirty="0"/>
              <a:t> </a:t>
            </a:r>
            <a:r>
              <a:rPr dirty="0" err="1"/>
              <a:t>läuft</a:t>
            </a:r>
            <a:r>
              <a:rPr dirty="0"/>
              <a:t> </a:t>
            </a:r>
            <a:r>
              <a:rPr dirty="0" err="1"/>
              <a:t>unabhängig</a:t>
            </a:r>
            <a:r>
              <a:rPr dirty="0"/>
              <a:t> </a:t>
            </a:r>
            <a:r>
              <a:rPr dirty="0" err="1"/>
              <a:t>vom</a:t>
            </a:r>
            <a:r>
              <a:rPr dirty="0"/>
              <a:t> Gateway. Er </a:t>
            </a:r>
            <a:r>
              <a:rPr dirty="0" err="1"/>
              <a:t>enthält</a:t>
            </a:r>
            <a:r>
              <a:rPr dirty="0"/>
              <a:t> Login, OTP und </a:t>
            </a:r>
            <a:r>
              <a:rPr dirty="0" err="1"/>
              <a:t>einen</a:t>
            </a:r>
            <a:r>
              <a:rPr dirty="0"/>
              <a:t> </a:t>
            </a:r>
            <a:r>
              <a:rPr dirty="0" err="1"/>
              <a:t>mit</a:t>
            </a:r>
            <a:r>
              <a:rPr dirty="0"/>
              <a:t> JWT </a:t>
            </a:r>
            <a:r>
              <a:rPr dirty="0" err="1"/>
              <a:t>geschützten</a:t>
            </a:r>
            <a:r>
              <a:rPr dirty="0"/>
              <a:t> </a:t>
            </a:r>
            <a:r>
              <a:rPr dirty="0" err="1"/>
              <a:t>Endpunkt</a:t>
            </a:r>
            <a:r>
              <a:rPr dirty="0"/>
              <a:t>.</a:t>
            </a:r>
            <a:br>
              <a:rPr lang="en-US" dirty="0"/>
            </a:br>
            <a:br>
              <a:rPr lang="en-US" dirty="0"/>
            </a:br>
            <a:r>
              <a:rPr lang="de-AT" dirty="0"/>
              <a:t>Und es sind außerdem mehrere </a:t>
            </a:r>
            <a:r>
              <a:rPr lang="de-AT" dirty="0" err="1"/>
              <a:t>Actuator</a:t>
            </a:r>
            <a:r>
              <a:rPr lang="de-AT" dirty="0"/>
              <a:t>-Endpunkte des Gateways ohne Authentifizierung erreichbar.</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err="1"/>
              <a:t>Im</a:t>
            </a:r>
            <a:r>
              <a:rPr lang="en-US" dirty="0"/>
              <a:t> </a:t>
            </a:r>
            <a:r>
              <a:rPr lang="en-US" dirty="0" err="1"/>
              <a:t>Normalem</a:t>
            </a:r>
            <a:r>
              <a:rPr lang="en-US" dirty="0"/>
              <a:t> </a:t>
            </a:r>
            <a:r>
              <a:rPr lang="en-US" dirty="0" err="1"/>
              <a:t>Ablauf</a:t>
            </a:r>
            <a:r>
              <a:rPr lang="en-US" dirty="0"/>
              <a:t> d</a:t>
            </a:r>
            <a:r>
              <a:rPr dirty="0"/>
              <a:t>ie </a:t>
            </a:r>
            <a:r>
              <a:rPr dirty="0" err="1"/>
              <a:t>öffentliche</a:t>
            </a:r>
            <a:r>
              <a:rPr dirty="0"/>
              <a:t> /users-</a:t>
            </a:r>
            <a:r>
              <a:rPr dirty="0" err="1"/>
              <a:t>Antwort</a:t>
            </a:r>
            <a:r>
              <a:rPr dirty="0"/>
              <a:t> </a:t>
            </a:r>
            <a:r>
              <a:rPr dirty="0" err="1"/>
              <a:t>enthält</a:t>
            </a:r>
            <a:r>
              <a:rPr dirty="0"/>
              <a:t> </a:t>
            </a:r>
            <a:r>
              <a:rPr dirty="0" err="1"/>
              <a:t>nur</a:t>
            </a:r>
            <a:r>
              <a:rPr dirty="0"/>
              <a:t> </a:t>
            </a:r>
            <a:r>
              <a:rPr dirty="0" err="1"/>
              <a:t>allgemeine</a:t>
            </a:r>
            <a:r>
              <a:rPr dirty="0"/>
              <a:t> </a:t>
            </a:r>
            <a:r>
              <a:rPr dirty="0" err="1"/>
              <a:t>Informationen</a:t>
            </a:r>
            <a:r>
              <a:rPr dirty="0"/>
              <a:t>. </a:t>
            </a:r>
            <a:br>
              <a:rPr lang="en-US" dirty="0"/>
            </a:br>
            <a:br>
              <a:rPr lang="en-US" dirty="0"/>
            </a:br>
            <a:r>
              <a:rPr lang="de-AT" dirty="0"/>
              <a:t>/</a:t>
            </a:r>
            <a:r>
              <a:rPr lang="de-AT" dirty="0" err="1"/>
              <a:t>notes</a:t>
            </a:r>
            <a:r>
              <a:rPr lang="de-AT" dirty="0"/>
              <a:t> sowie /</a:t>
            </a:r>
            <a:r>
              <a:rPr lang="de-AT" dirty="0" err="1"/>
              <a:t>documents</a:t>
            </a:r>
            <a:r>
              <a:rPr lang="de-AT" dirty="0"/>
              <a:t>/</a:t>
            </a:r>
            <a:r>
              <a:rPr lang="de-AT" dirty="0" err="1"/>
              <a:t>search</a:t>
            </a:r>
            <a:r>
              <a:rPr lang="de-AT" dirty="0"/>
              <a:t> sind mit Basic Auth versichert</a:t>
            </a:r>
            <a:br>
              <a:rPr lang="ru-RU" dirty="0"/>
            </a:br>
            <a:br>
              <a:rPr lang="ru-RU" dirty="0"/>
            </a:br>
            <a:r>
              <a:rPr dirty="0"/>
              <a:t>Bei /documents/search </a:t>
            </a:r>
            <a:r>
              <a:rPr dirty="0" err="1"/>
              <a:t>wird</a:t>
            </a:r>
            <a:r>
              <a:rPr dirty="0"/>
              <a:t> </a:t>
            </a:r>
            <a:r>
              <a:rPr dirty="0" err="1"/>
              <a:t>ein</a:t>
            </a:r>
            <a:r>
              <a:rPr dirty="0"/>
              <a:t> department-</a:t>
            </a:r>
            <a:r>
              <a:rPr lang="en-US" dirty="0"/>
              <a:t>Name</a:t>
            </a:r>
            <a:r>
              <a:rPr dirty="0"/>
              <a:t> </a:t>
            </a:r>
            <a:r>
              <a:rPr dirty="0" err="1"/>
              <a:t>als</a:t>
            </a:r>
            <a:r>
              <a:rPr dirty="0"/>
              <a:t> Filter </a:t>
            </a:r>
            <a:r>
              <a:rPr dirty="0" err="1"/>
              <a:t>verwendet</a:t>
            </a:r>
            <a:r>
              <a:rPr dirty="0"/>
              <a:t>.</a:t>
            </a:r>
            <a:br>
              <a:rPr lang="en-US" dirty="0"/>
            </a:br>
            <a:br>
              <a:rPr lang="en-US" dirty="0"/>
            </a:br>
            <a:r>
              <a:rPr dirty="0" err="1"/>
              <a:t>Im</a:t>
            </a:r>
            <a:r>
              <a:rPr dirty="0"/>
              <a:t> </a:t>
            </a:r>
            <a:r>
              <a:rPr dirty="0" err="1"/>
              <a:t>separaten</a:t>
            </a:r>
            <a:r>
              <a:rPr dirty="0"/>
              <a:t> command-control </a:t>
            </a:r>
            <a:r>
              <a:rPr dirty="0" err="1"/>
              <a:t>braucht</a:t>
            </a:r>
            <a:r>
              <a:rPr dirty="0"/>
              <a:t> man für den </a:t>
            </a:r>
            <a:r>
              <a:rPr dirty="0" err="1"/>
              <a:t>letzten</a:t>
            </a:r>
            <a:r>
              <a:rPr dirty="0"/>
              <a:t> </a:t>
            </a:r>
            <a:r>
              <a:rPr dirty="0" err="1"/>
              <a:t>Endpunkt</a:t>
            </a:r>
            <a:r>
              <a:rPr dirty="0"/>
              <a:t> </a:t>
            </a:r>
            <a:r>
              <a:rPr dirty="0" err="1"/>
              <a:t>einen</a:t>
            </a:r>
            <a:r>
              <a:rPr dirty="0"/>
              <a:t> </a:t>
            </a:r>
            <a:r>
              <a:rPr dirty="0" err="1"/>
              <a:t>gültigen</a:t>
            </a:r>
            <a:r>
              <a:rPr dirty="0"/>
              <a:t> JWT. </a:t>
            </a:r>
            <a:br>
              <a:rPr lang="en-US" dirty="0"/>
            </a:b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dirty="0"/>
              <a:t>Ich </a:t>
            </a:r>
            <a:r>
              <a:rPr dirty="0" err="1"/>
              <a:t>habe</a:t>
            </a:r>
            <a:r>
              <a:rPr dirty="0"/>
              <a:t> für </a:t>
            </a:r>
            <a:r>
              <a:rPr dirty="0" err="1"/>
              <a:t>jeden</a:t>
            </a:r>
            <a:r>
              <a:rPr dirty="0"/>
              <a:t> Schritt </a:t>
            </a:r>
            <a:r>
              <a:rPr dirty="0" err="1"/>
              <a:t>denselben</a:t>
            </a:r>
            <a:r>
              <a:rPr dirty="0"/>
              <a:t> </a:t>
            </a:r>
            <a:r>
              <a:rPr dirty="0" err="1"/>
              <a:t>Ablauf</a:t>
            </a:r>
            <a:r>
              <a:rPr dirty="0"/>
              <a:t> </a:t>
            </a:r>
            <a:r>
              <a:rPr dirty="0" err="1"/>
              <a:t>benutzt</a:t>
            </a:r>
            <a:r>
              <a:rPr lang="en-US" dirty="0"/>
              <a:t>:</a:t>
            </a:r>
            <a:br>
              <a:rPr lang="en-US" dirty="0"/>
            </a:br>
            <a:br>
              <a:rPr lang="en-US" dirty="0"/>
            </a:br>
            <a:r>
              <a:rPr dirty="0" err="1"/>
              <a:t>Zuerst</a:t>
            </a:r>
            <a:r>
              <a:rPr dirty="0"/>
              <a:t> </a:t>
            </a:r>
            <a:r>
              <a:rPr dirty="0" err="1"/>
              <a:t>halte</a:t>
            </a:r>
            <a:r>
              <a:rPr dirty="0"/>
              <a:t> ich den </a:t>
            </a:r>
            <a:r>
              <a:rPr dirty="0" err="1"/>
              <a:t>Startzugang</a:t>
            </a:r>
            <a:r>
              <a:rPr dirty="0"/>
              <a:t> fest. Dann </a:t>
            </a:r>
            <a:r>
              <a:rPr dirty="0" err="1"/>
              <a:t>ändere</a:t>
            </a:r>
            <a:r>
              <a:rPr dirty="0"/>
              <a:t> ich </a:t>
            </a:r>
            <a:r>
              <a:rPr dirty="0" err="1"/>
              <a:t>genau</a:t>
            </a:r>
            <a:r>
              <a:rPr dirty="0"/>
              <a:t> </a:t>
            </a:r>
            <a:r>
              <a:rPr dirty="0" err="1"/>
              <a:t>einen</a:t>
            </a:r>
            <a:r>
              <a:rPr dirty="0"/>
              <a:t> Input. </a:t>
            </a:r>
            <a:r>
              <a:rPr dirty="0" err="1"/>
              <a:t>Danach</a:t>
            </a:r>
            <a:r>
              <a:rPr dirty="0"/>
              <a:t> </a:t>
            </a:r>
            <a:r>
              <a:rPr dirty="0" err="1"/>
              <a:t>beobachte</a:t>
            </a:r>
            <a:r>
              <a:rPr dirty="0"/>
              <a:t> ich die </a:t>
            </a:r>
            <a:r>
              <a:rPr dirty="0" err="1"/>
              <a:t>Antwort</a:t>
            </a:r>
            <a:r>
              <a:rPr dirty="0"/>
              <a:t> und </a:t>
            </a:r>
            <a:r>
              <a:rPr dirty="0" err="1"/>
              <a:t>frage</a:t>
            </a:r>
            <a:r>
              <a:rPr dirty="0"/>
              <a:t>, </a:t>
            </a:r>
            <a:r>
              <a:rPr dirty="0" err="1"/>
              <a:t>ob</a:t>
            </a:r>
            <a:r>
              <a:rPr dirty="0"/>
              <a:t> </a:t>
            </a:r>
            <a:r>
              <a:rPr dirty="0" err="1"/>
              <a:t>daraus</a:t>
            </a:r>
            <a:r>
              <a:rPr dirty="0"/>
              <a:t> </a:t>
            </a:r>
            <a:r>
              <a:rPr dirty="0" err="1"/>
              <a:t>ein</a:t>
            </a:r>
            <a:r>
              <a:rPr dirty="0"/>
              <a:t> </a:t>
            </a:r>
            <a:r>
              <a:rPr dirty="0" err="1"/>
              <a:t>weiterer</a:t>
            </a:r>
            <a:r>
              <a:rPr dirty="0"/>
              <a:t> Schritt </a:t>
            </a:r>
            <a:r>
              <a:rPr dirty="0" err="1"/>
              <a:t>möglich</a:t>
            </a:r>
            <a:r>
              <a:rPr dirty="0"/>
              <a:t> </a:t>
            </a:r>
            <a:r>
              <a:rPr dirty="0" err="1"/>
              <a:t>wird</a:t>
            </a:r>
            <a:r>
              <a:rPr dirty="0"/>
              <a:t>. So </a:t>
            </a:r>
            <a:r>
              <a:rPr dirty="0" err="1"/>
              <a:t>lässt</a:t>
            </a:r>
            <a:r>
              <a:rPr dirty="0"/>
              <a:t> </a:t>
            </a:r>
            <a:r>
              <a:rPr dirty="0" err="1"/>
              <a:t>sich</a:t>
            </a:r>
            <a:r>
              <a:rPr dirty="0"/>
              <a:t> die Kette </a:t>
            </a:r>
            <a:r>
              <a:rPr dirty="0" err="1"/>
              <a:t>nachvollziehen</a:t>
            </a:r>
            <a:r>
              <a:rPr dirty="0"/>
              <a:t>. </a:t>
            </a:r>
            <a:endParaRPr lang="en-US" dirty="0"/>
          </a:p>
          <a:p>
            <a:endParaRPr lang="en-US" dirty="0"/>
          </a:p>
          <a:p>
            <a:r>
              <a:rPr dirty="0" err="1"/>
              <a:t>Gleichzeitig</a:t>
            </a:r>
            <a:r>
              <a:rPr dirty="0"/>
              <a:t> </a:t>
            </a:r>
            <a:r>
              <a:rPr dirty="0" err="1"/>
              <a:t>kann</a:t>
            </a:r>
            <a:r>
              <a:rPr dirty="0"/>
              <a:t> man </a:t>
            </a:r>
            <a:r>
              <a:rPr dirty="0" err="1"/>
              <a:t>sauber</a:t>
            </a:r>
            <a:r>
              <a:rPr dirty="0"/>
              <a:t> </a:t>
            </a:r>
            <a:r>
              <a:rPr dirty="0" err="1"/>
              <a:t>trennen</a:t>
            </a:r>
            <a:r>
              <a:rPr dirty="0"/>
              <a:t>, </a:t>
            </a:r>
            <a:r>
              <a:rPr dirty="0" err="1"/>
              <a:t>welche</a:t>
            </a:r>
            <a:r>
              <a:rPr dirty="0"/>
              <a:t> </a:t>
            </a:r>
            <a:r>
              <a:rPr dirty="0" err="1"/>
              <a:t>Schwäche</a:t>
            </a:r>
            <a:r>
              <a:rPr dirty="0"/>
              <a:t> </a:t>
            </a:r>
            <a:r>
              <a:rPr dirty="0" err="1"/>
              <a:t>aus</a:t>
            </a:r>
            <a:r>
              <a:rPr dirty="0"/>
              <a:t> </a:t>
            </a:r>
            <a:r>
              <a:rPr dirty="0" err="1"/>
              <a:t>einer</a:t>
            </a:r>
            <a:r>
              <a:rPr dirty="0"/>
              <a:t> Dependency </a:t>
            </a:r>
            <a:r>
              <a:rPr dirty="0" err="1"/>
              <a:t>kommt</a:t>
            </a:r>
            <a:r>
              <a:rPr dirty="0"/>
              <a:t> und </a:t>
            </a:r>
            <a:r>
              <a:rPr dirty="0" err="1"/>
              <a:t>welche</a:t>
            </a:r>
            <a:r>
              <a:rPr lang="en-US" dirty="0"/>
              <a:t> </a:t>
            </a:r>
            <a:r>
              <a:rPr lang="en-US" dirty="0" err="1"/>
              <a:t>kommt</a:t>
            </a:r>
            <a:r>
              <a:rPr dirty="0"/>
              <a:t> </a:t>
            </a:r>
            <a:r>
              <a:rPr dirty="0" err="1"/>
              <a:t>durch</a:t>
            </a:r>
            <a:r>
              <a:rPr dirty="0"/>
              <a:t> den </a:t>
            </a:r>
            <a:r>
              <a:rPr dirty="0" err="1"/>
              <a:t>Anwendungscode</a:t>
            </a:r>
            <a:r>
              <a:rPr dirty="0"/>
              <a:t> </a:t>
            </a:r>
            <a:r>
              <a:rPr dirty="0" err="1"/>
              <a:t>oder</a:t>
            </a:r>
            <a:r>
              <a:rPr dirty="0"/>
              <a:t> die </a:t>
            </a:r>
            <a:r>
              <a:rPr dirty="0" err="1"/>
              <a:t>Konfiguration</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Das </a:t>
            </a:r>
            <a:r>
              <a:rPr dirty="0" err="1"/>
              <a:t>erste</a:t>
            </a:r>
            <a:r>
              <a:rPr dirty="0"/>
              <a:t> Experiment </a:t>
            </a:r>
            <a:r>
              <a:rPr dirty="0" err="1"/>
              <a:t>beginnt</a:t>
            </a:r>
            <a:r>
              <a:rPr dirty="0"/>
              <a:t> </a:t>
            </a:r>
            <a:r>
              <a:rPr dirty="0" err="1"/>
              <a:t>beim</a:t>
            </a:r>
            <a:r>
              <a:rPr dirty="0"/>
              <a:t> Gateway. </a:t>
            </a:r>
            <a:r>
              <a:rPr b="1" dirty="0"/>
              <a:t>Gateway Actuator </a:t>
            </a:r>
            <a:r>
              <a:rPr dirty="0" err="1"/>
              <a:t>ist</a:t>
            </a:r>
            <a:r>
              <a:rPr dirty="0"/>
              <a:t> in </a:t>
            </a:r>
            <a:r>
              <a:rPr dirty="0" err="1"/>
              <a:t>diesem</a:t>
            </a:r>
            <a:r>
              <a:rPr dirty="0"/>
              <a:t> Demo </a:t>
            </a:r>
            <a:r>
              <a:rPr lang="de-AT" sz="1200" b="0" noProof="0" dirty="0">
                <a:solidFill>
                  <a:srgbClr val="202935"/>
                </a:solidFill>
                <a:latin typeface="Arial"/>
                <a:ea typeface="Arial"/>
                <a:cs typeface="Arial"/>
              </a:rPr>
              <a:t>öffentlich</a:t>
            </a:r>
            <a:r>
              <a:rPr lang="de-AT" sz="1200" b="1" noProof="0" dirty="0">
                <a:solidFill>
                  <a:srgbClr val="202935"/>
                </a:solidFill>
                <a:latin typeface="Arial"/>
                <a:ea typeface="Arial"/>
                <a:cs typeface="Arial"/>
              </a:rPr>
              <a:t> </a:t>
            </a:r>
            <a:r>
              <a:rPr dirty="0" err="1"/>
              <a:t>erreichbar</a:t>
            </a:r>
            <a:r>
              <a:rPr dirty="0"/>
              <a:t> und </a:t>
            </a:r>
            <a:r>
              <a:rPr dirty="0" err="1"/>
              <a:t>erlaubt</a:t>
            </a:r>
            <a:r>
              <a:rPr dirty="0"/>
              <a:t> das </a:t>
            </a:r>
            <a:r>
              <a:rPr dirty="0" err="1"/>
              <a:t>Anlegen</a:t>
            </a:r>
            <a:r>
              <a:rPr dirty="0"/>
              <a:t> </a:t>
            </a:r>
            <a:r>
              <a:rPr dirty="0" err="1"/>
              <a:t>einer</a:t>
            </a:r>
            <a:r>
              <a:rPr dirty="0"/>
              <a:t> Route. </a:t>
            </a:r>
            <a:br>
              <a:rPr lang="en-US" dirty="0"/>
            </a:br>
            <a:br>
              <a:rPr lang="en-US" dirty="0"/>
            </a:br>
            <a:r>
              <a:rPr dirty="0"/>
              <a:t>In </a:t>
            </a:r>
            <a:r>
              <a:rPr dirty="0" err="1"/>
              <a:t>einem</a:t>
            </a:r>
            <a:r>
              <a:rPr dirty="0"/>
              <a:t> </a:t>
            </a:r>
            <a:r>
              <a:rPr dirty="0" err="1"/>
              <a:t>Filterwert</a:t>
            </a:r>
            <a:r>
              <a:rPr dirty="0"/>
              <a:t> </a:t>
            </a:r>
            <a:r>
              <a:rPr dirty="0" err="1"/>
              <a:t>steckt</a:t>
            </a:r>
            <a:r>
              <a:rPr dirty="0"/>
              <a:t> </a:t>
            </a:r>
            <a:r>
              <a:rPr dirty="0" err="1"/>
              <a:t>ein</a:t>
            </a:r>
            <a:r>
              <a:rPr dirty="0"/>
              <a:t> </a:t>
            </a:r>
            <a:r>
              <a:rPr dirty="0" err="1"/>
              <a:t>SpEL-Ausdruck</a:t>
            </a:r>
            <a:r>
              <a:rPr lang="ru-RU" dirty="0"/>
              <a:t> (</a:t>
            </a:r>
            <a:r>
              <a:rPr lang="de-AT" sz="1200" b="1" i="0" kern="1200" dirty="0">
                <a:effectLst/>
              </a:rPr>
              <a:t>Spring Expression Language</a:t>
            </a:r>
            <a:r>
              <a:rPr lang="ru-RU" sz="1200" b="1" i="0" kern="1200" dirty="0">
                <a:effectLst/>
              </a:rPr>
              <a:t>)</a:t>
            </a:r>
            <a:r>
              <a:rPr lang="en-US" sz="1200" b="1" i="0" kern="1200" dirty="0">
                <a:effectLst/>
              </a:rPr>
              <a:t>.</a:t>
            </a:r>
          </a:p>
          <a:p>
            <a:endParaRPr lang="en-US" dirty="0"/>
          </a:p>
          <a:p>
            <a:r>
              <a:rPr lang="en-US" dirty="0"/>
              <a:t>Neue Route </a:t>
            </a:r>
            <a:r>
              <a:rPr lang="en-US" dirty="0" err="1"/>
              <a:t>wird</a:t>
            </a:r>
            <a:r>
              <a:rPr lang="en-US" dirty="0"/>
              <a:t> </a:t>
            </a:r>
            <a:r>
              <a:rPr lang="en-US" dirty="0" err="1"/>
              <a:t>erstellt</a:t>
            </a:r>
            <a:r>
              <a:rPr lang="en-US" dirty="0"/>
              <a:t> und </a:t>
            </a:r>
            <a:r>
              <a:rPr lang="en-US" dirty="0" err="1"/>
              <a:t>bereits</a:t>
            </a:r>
            <a:r>
              <a:rPr lang="en-US" dirty="0"/>
              <a:t> </a:t>
            </a:r>
            <a:r>
              <a:rPr lang="en-US" dirty="0" err="1"/>
              <a:t>bei</a:t>
            </a:r>
            <a:r>
              <a:rPr lang="en-US" dirty="0"/>
              <a:t> </a:t>
            </a:r>
            <a:r>
              <a:rPr lang="en-US" dirty="0" err="1"/>
              <a:t>erstellung</a:t>
            </a:r>
            <a:r>
              <a:rPr lang="en-US" dirty="0"/>
              <a:t> Spring </a:t>
            </a:r>
            <a:r>
              <a:rPr lang="en-US" dirty="0" err="1"/>
              <a:t>wertet</a:t>
            </a:r>
            <a:r>
              <a:rPr lang="ru-RU" dirty="0"/>
              <a:t> </a:t>
            </a:r>
            <a:r>
              <a:rPr lang="en-US" dirty="0" err="1"/>
              <a:t>SpEL</a:t>
            </a:r>
            <a:r>
              <a:rPr lang="en-US" dirty="0"/>
              <a:t> </a:t>
            </a:r>
            <a:r>
              <a:rPr lang="en-US" dirty="0" err="1"/>
              <a:t>Ausdruck</a:t>
            </a:r>
            <a:r>
              <a:rPr lang="en-US" dirty="0"/>
              <a:t> </a:t>
            </a:r>
            <a:r>
              <a:rPr lang="en-US" dirty="0" err="1"/>
              <a:t>aus</a:t>
            </a:r>
            <a:br>
              <a:rPr lang="en-US" dirty="0"/>
            </a:br>
            <a:r>
              <a:rPr dirty="0"/>
              <a:t> </a:t>
            </a:r>
            <a:endParaRPr lang="en-US" dirty="0"/>
          </a:p>
          <a:p>
            <a:r>
              <a:rPr dirty="0" err="1"/>
              <a:t>Dadurch</a:t>
            </a:r>
            <a:r>
              <a:rPr dirty="0"/>
              <a:t> </a:t>
            </a:r>
            <a:r>
              <a:rPr dirty="0" err="1"/>
              <a:t>wird</a:t>
            </a:r>
            <a:r>
              <a:rPr dirty="0"/>
              <a:t> </a:t>
            </a:r>
            <a:r>
              <a:rPr dirty="0" err="1"/>
              <a:t>ein</a:t>
            </a:r>
            <a:r>
              <a:rPr dirty="0"/>
              <a:t> Runtime Setting </a:t>
            </a:r>
            <a:r>
              <a:rPr dirty="0" err="1"/>
              <a:t>geändert</a:t>
            </a:r>
            <a:r>
              <a:rPr dirty="0"/>
              <a:t>, bevor </a:t>
            </a:r>
            <a:r>
              <a:rPr dirty="0" err="1"/>
              <a:t>jemand</a:t>
            </a:r>
            <a:r>
              <a:rPr dirty="0"/>
              <a:t> die </a:t>
            </a:r>
            <a:r>
              <a:rPr dirty="0" err="1"/>
              <a:t>neue</a:t>
            </a:r>
            <a:r>
              <a:rPr dirty="0"/>
              <a:t> Route </a:t>
            </a:r>
            <a:r>
              <a:rPr dirty="0" err="1"/>
              <a:t>überhaupt</a:t>
            </a:r>
            <a:r>
              <a:rPr dirty="0"/>
              <a:t> </a:t>
            </a:r>
            <a:r>
              <a:rPr dirty="0" err="1"/>
              <a:t>benutzt</a:t>
            </a:r>
            <a:r>
              <a:rPr dirty="0"/>
              <a:t>. </a:t>
            </a:r>
            <a:r>
              <a:rPr dirty="0" err="1"/>
              <a:t>Danach</a:t>
            </a:r>
            <a:r>
              <a:rPr dirty="0"/>
              <a:t> </a:t>
            </a:r>
            <a:r>
              <a:rPr dirty="0" err="1"/>
              <a:t>schickt</a:t>
            </a:r>
            <a:r>
              <a:rPr dirty="0"/>
              <a:t> der Gateway </a:t>
            </a:r>
            <a:r>
              <a:rPr dirty="0" err="1"/>
              <a:t>bei</a:t>
            </a:r>
            <a:r>
              <a:rPr dirty="0"/>
              <a:t> </a:t>
            </a:r>
            <a:r>
              <a:rPr dirty="0" err="1"/>
              <a:t>Archiv-Anfragen</a:t>
            </a:r>
            <a:r>
              <a:rPr dirty="0"/>
              <a:t> </a:t>
            </a:r>
            <a:r>
              <a:rPr dirty="0" err="1"/>
              <a:t>einen</a:t>
            </a:r>
            <a:r>
              <a:rPr dirty="0"/>
              <a:t> Debug Header.</a:t>
            </a:r>
            <a:endParaRPr lang="en-US" dirty="0"/>
          </a:p>
          <a:p>
            <a:endParaRPr dirty="0"/>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[TERMINAL</a:t>
            </a:r>
            <a:r>
              <a:rPr lang="en-US" dirty="0"/>
              <a:t>:</a:t>
            </a:r>
            <a:r>
              <a:rPr dirty="0"/>
              <a:t>]</a:t>
            </a:r>
            <a:br>
              <a:rPr lang="ru-RU" dirty="0"/>
            </a:br>
            <a:br>
              <a:rPr lang="ru-RU" dirty="0"/>
            </a:br>
            <a:r>
              <a:rPr lang="en-US" sz="1200" b="0" kern="1200" dirty="0">
                <a:effectLst/>
              </a:rPr>
              <a:t>docker compose up -d –wait</a:t>
            </a:r>
            <a:br>
              <a:rPr lang="en-US" sz="1200" b="0" kern="1200" dirty="0">
                <a:effectLst/>
              </a:rPr>
            </a:br>
            <a:r>
              <a:rPr lang="en-US" sz="1200" b="0" kern="1200" dirty="0">
                <a:effectLst/>
              </a:rPr>
              <a:t>rm -rf demo-state</a:t>
            </a:r>
            <a:br>
              <a:rPr lang="en-US" sz="1200" b="0" kern="1200" dirty="0">
                <a:effectLst/>
              </a:rPr>
            </a:br>
            <a:r>
              <a:rPr lang="en-US" sz="1200" b="0" kern="1200" dirty="0">
                <a:effectLst/>
              </a:rPr>
              <a:t>docker compose --profile demo run --rm demo-runner python solve/demo_stage.py 1</a:t>
            </a:r>
            <a:endParaRPr dirty="0"/>
          </a:p>
          <a:p>
            <a:endParaRPr dirty="0"/>
          </a:p>
          <a:p>
            <a:r>
              <a:rPr dirty="0"/>
              <a:t>Quelle: https://spring.io/security/cve-2025-41243/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Wir </a:t>
            </a:r>
            <a:r>
              <a:rPr dirty="0" err="1"/>
              <a:t>sind</a:t>
            </a:r>
            <a:r>
              <a:rPr dirty="0"/>
              <a:t> </a:t>
            </a:r>
            <a:r>
              <a:rPr dirty="0" err="1"/>
              <a:t>zurück</a:t>
            </a:r>
            <a:r>
              <a:rPr dirty="0"/>
              <a:t> </a:t>
            </a:r>
            <a:r>
              <a:rPr dirty="0" err="1"/>
              <a:t>bei</a:t>
            </a:r>
            <a:r>
              <a:rPr dirty="0"/>
              <a:t> der </a:t>
            </a:r>
            <a:r>
              <a:rPr dirty="0" err="1"/>
              <a:t>Antwort</a:t>
            </a:r>
            <a:r>
              <a:rPr dirty="0"/>
              <a:t> von /users</a:t>
            </a:r>
            <a:r>
              <a:rPr lang="ru-RU" dirty="0"/>
              <a:t> </a:t>
            </a:r>
            <a:r>
              <a:rPr lang="en-US" dirty="0"/>
              <a:t>endpoint</a:t>
            </a:r>
            <a:r>
              <a:rPr dirty="0"/>
              <a:t>.</a:t>
            </a:r>
            <a:br>
              <a:rPr lang="ru-RU" dirty="0"/>
            </a:br>
            <a:br>
              <a:rPr lang="ru-RU" dirty="0"/>
            </a:br>
            <a:r>
              <a:rPr dirty="0"/>
              <a:t>Links </a:t>
            </a:r>
            <a:r>
              <a:rPr dirty="0" err="1"/>
              <a:t>sehen</a:t>
            </a:r>
            <a:r>
              <a:rPr dirty="0"/>
              <a:t> </a:t>
            </a:r>
            <a:r>
              <a:rPr dirty="0" err="1"/>
              <a:t>wir</a:t>
            </a:r>
            <a:r>
              <a:rPr dirty="0"/>
              <a:t> den </a:t>
            </a:r>
            <a:r>
              <a:rPr dirty="0" err="1"/>
              <a:t>normalen</a:t>
            </a:r>
            <a:r>
              <a:rPr dirty="0"/>
              <a:t> Modus: </a:t>
            </a:r>
            <a:r>
              <a:rPr dirty="0" err="1"/>
              <a:t>allgemeine</a:t>
            </a:r>
            <a:r>
              <a:rPr dirty="0"/>
              <a:t> Felder, </a:t>
            </a:r>
            <a:r>
              <a:rPr dirty="0" err="1"/>
              <a:t>aber</a:t>
            </a:r>
            <a:r>
              <a:rPr dirty="0"/>
              <a:t> </a:t>
            </a:r>
            <a:r>
              <a:rPr dirty="0" err="1"/>
              <a:t>keine</a:t>
            </a:r>
            <a:r>
              <a:rPr dirty="0"/>
              <a:t> Password Hashes. </a:t>
            </a:r>
            <a:br>
              <a:rPr lang="en-US" dirty="0"/>
            </a:br>
            <a:br>
              <a:rPr lang="en-US" dirty="0"/>
            </a:br>
            <a:r>
              <a:rPr dirty="0" err="1"/>
              <a:t>Rechts</a:t>
            </a:r>
            <a:r>
              <a:rPr dirty="0"/>
              <a:t> </a:t>
            </a:r>
            <a:r>
              <a:rPr dirty="0" err="1"/>
              <a:t>sehen</a:t>
            </a:r>
            <a:r>
              <a:rPr dirty="0"/>
              <a:t> </a:t>
            </a:r>
            <a:r>
              <a:rPr dirty="0" err="1"/>
              <a:t>wir</a:t>
            </a:r>
            <a:r>
              <a:rPr dirty="0"/>
              <a:t> Debug-Modus. Archive Service </a:t>
            </a:r>
            <a:r>
              <a:rPr lang="en-US" dirty="0" err="1"/>
              <a:t>liest</a:t>
            </a:r>
            <a:r>
              <a:rPr lang="en-US" dirty="0"/>
              <a:t> Debug </a:t>
            </a:r>
            <a:r>
              <a:rPr dirty="0"/>
              <a:t>Header und </a:t>
            </a:r>
            <a:r>
              <a:rPr dirty="0" err="1"/>
              <a:t>liefert</a:t>
            </a:r>
            <a:r>
              <a:rPr dirty="0"/>
              <a:t> </a:t>
            </a:r>
            <a:r>
              <a:rPr dirty="0" err="1"/>
              <a:t>mehr</a:t>
            </a:r>
            <a:r>
              <a:rPr dirty="0"/>
              <a:t> Felder </a:t>
            </a:r>
            <a:r>
              <a:rPr dirty="0" err="1"/>
              <a:t>aus.</a:t>
            </a:r>
            <a:r>
              <a:rPr dirty="0"/>
              <a:t> </a:t>
            </a:r>
            <a:br>
              <a:rPr lang="en-US" dirty="0"/>
            </a:br>
            <a:br>
              <a:rPr lang="en-US" dirty="0"/>
            </a:br>
            <a:r>
              <a:rPr dirty="0"/>
              <a:t>Die </a:t>
            </a:r>
            <a:r>
              <a:rPr dirty="0" err="1"/>
              <a:t>SpEL-Schwachstelle</a:t>
            </a:r>
            <a:r>
              <a:rPr dirty="0"/>
              <a:t> und </a:t>
            </a:r>
            <a:r>
              <a:rPr dirty="0" err="1"/>
              <a:t>diese</a:t>
            </a:r>
            <a:r>
              <a:rPr dirty="0"/>
              <a:t> </a:t>
            </a:r>
            <a:r>
              <a:rPr dirty="0" err="1"/>
              <a:t>Vertrauensentscheidung</a:t>
            </a:r>
            <a:r>
              <a:rPr lang="en-US" dirty="0"/>
              <a:t> (</a:t>
            </a:r>
            <a:r>
              <a:rPr lang="de-AT" sz="1200" b="0" noProof="0" dirty="0">
                <a:solidFill>
                  <a:srgbClr val="202935"/>
                </a:solidFill>
                <a:latin typeface="Arial"/>
                <a:ea typeface="Arial"/>
                <a:cs typeface="Arial"/>
              </a:rPr>
              <a:t>öffentliche</a:t>
            </a:r>
            <a:r>
              <a:rPr dirty="0"/>
              <a:t> </a:t>
            </a:r>
            <a:r>
              <a:rPr lang="de-AT" b="1" dirty="0" err="1"/>
              <a:t>Actuator</a:t>
            </a:r>
            <a:r>
              <a:rPr lang="de-AT" b="1" dirty="0"/>
              <a:t> mit </a:t>
            </a:r>
            <a:r>
              <a:rPr lang="de-AT" b="1" dirty="0" err="1"/>
              <a:t>unrestricted</a:t>
            </a:r>
            <a:r>
              <a:rPr lang="de-AT" b="1" dirty="0"/>
              <a:t> </a:t>
            </a:r>
            <a:r>
              <a:rPr lang="de-AT" b="1" dirty="0" err="1"/>
              <a:t>access</a:t>
            </a:r>
            <a:r>
              <a:rPr lang="de-AT" b="1" dirty="0"/>
              <a:t>) </a:t>
            </a:r>
            <a:r>
              <a:rPr dirty="0" err="1"/>
              <a:t>wirken</a:t>
            </a:r>
            <a:r>
              <a:rPr dirty="0"/>
              <a:t> </a:t>
            </a:r>
            <a:r>
              <a:rPr dirty="0" err="1"/>
              <a:t>hier</a:t>
            </a:r>
            <a:r>
              <a:rPr dirty="0"/>
              <a:t> </a:t>
            </a:r>
            <a:r>
              <a:rPr dirty="0" err="1"/>
              <a:t>zusammen</a:t>
            </a:r>
            <a:r>
              <a:rPr dirty="0"/>
              <a:t>. </a:t>
            </a:r>
            <a:br>
              <a:rPr lang="en-US" dirty="0"/>
            </a:br>
            <a:br>
              <a:rPr lang="en-US" dirty="0"/>
            </a:br>
            <a:r>
              <a:rPr lang="de-AT" sz="1200" b="0" kern="1200" dirty="0" err="1">
                <a:effectLst/>
              </a:rPr>
              <a:t>management</a:t>
            </a:r>
            <a:r>
              <a:rPr lang="de-AT" sz="1200" b="0" kern="1200" dirty="0">
                <a:effectLst/>
              </a:rPr>
              <a:t>:</a:t>
            </a:r>
          </a:p>
          <a:p>
            <a:r>
              <a:rPr lang="de-AT" sz="1200" b="0" kern="1200" dirty="0">
                <a:effectLst/>
              </a:rPr>
              <a:t>  </a:t>
            </a:r>
            <a:r>
              <a:rPr lang="de-AT" sz="1200" b="0" kern="1200" dirty="0" err="1">
                <a:effectLst/>
              </a:rPr>
              <a:t>endpoint</a:t>
            </a:r>
            <a:r>
              <a:rPr lang="de-AT" sz="1200" b="0" kern="1200" dirty="0">
                <a:effectLst/>
              </a:rPr>
              <a:t>:</a:t>
            </a:r>
          </a:p>
          <a:p>
            <a:r>
              <a:rPr lang="de-AT" sz="1200" b="0" kern="1200" dirty="0">
                <a:effectLst/>
              </a:rPr>
              <a:t>    </a:t>
            </a:r>
            <a:r>
              <a:rPr lang="de-AT" sz="1200" b="0" kern="1200" dirty="0" err="1">
                <a:effectLst/>
              </a:rPr>
              <a:t>gateway</a:t>
            </a:r>
            <a:r>
              <a:rPr lang="de-AT" sz="1200" b="0" kern="1200" dirty="0">
                <a:effectLst/>
              </a:rPr>
              <a:t>:</a:t>
            </a:r>
          </a:p>
          <a:p>
            <a:r>
              <a:rPr lang="de-AT" sz="1200" b="0" kern="1200" dirty="0">
                <a:effectLst/>
              </a:rPr>
              <a:t>      </a:t>
            </a:r>
            <a:r>
              <a:rPr lang="de-AT" sz="1200" b="0" kern="1200" dirty="0" err="1">
                <a:effectLst/>
              </a:rPr>
              <a:t>access</a:t>
            </a:r>
            <a:r>
              <a:rPr lang="de-AT" sz="1200" b="0" kern="1200" dirty="0">
                <a:effectLst/>
              </a:rPr>
              <a:t>: </a:t>
            </a:r>
            <a:r>
              <a:rPr lang="de-AT" sz="1200" b="0" kern="1200" dirty="0" err="1">
                <a:effectLst/>
              </a:rPr>
              <a:t>unrestricted</a:t>
            </a:r>
            <a:endParaRPr lang="de-AT" sz="1200" b="0" kern="1200" dirty="0">
              <a:effectLst/>
            </a:endParaRP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Aus dem </a:t>
            </a:r>
            <a:r>
              <a:rPr dirty="0" err="1"/>
              <a:t>ersten</a:t>
            </a:r>
            <a:r>
              <a:rPr dirty="0"/>
              <a:t> Experiment </a:t>
            </a:r>
            <a:r>
              <a:rPr dirty="0" err="1"/>
              <a:t>haben</a:t>
            </a:r>
            <a:r>
              <a:rPr dirty="0"/>
              <a:t> </a:t>
            </a:r>
            <a:r>
              <a:rPr dirty="0" err="1"/>
              <a:t>wir</a:t>
            </a:r>
            <a:r>
              <a:rPr dirty="0"/>
              <a:t> </a:t>
            </a:r>
            <a:r>
              <a:rPr dirty="0" err="1"/>
              <a:t>einen</a:t>
            </a:r>
            <a:r>
              <a:rPr dirty="0"/>
              <a:t> </a:t>
            </a:r>
            <a:r>
              <a:rPr dirty="0" err="1"/>
              <a:t>BCrypt</a:t>
            </a:r>
            <a:r>
              <a:rPr dirty="0"/>
              <a:t> Hash.</a:t>
            </a:r>
            <a:br>
              <a:rPr lang="en-US" dirty="0"/>
            </a:br>
            <a:br>
              <a:rPr lang="en-US" dirty="0"/>
            </a:br>
            <a:r>
              <a:rPr lang="en-US" dirty="0"/>
              <a:t>Hier Idee </a:t>
            </a:r>
            <a:r>
              <a:rPr lang="en-US" dirty="0" err="1"/>
              <a:t>ist</a:t>
            </a:r>
            <a:r>
              <a:rPr lang="en-US" dirty="0"/>
              <a:t> </a:t>
            </a:r>
            <a:r>
              <a:rPr lang="en-US" dirty="0" err="1"/>
              <a:t>einfach</a:t>
            </a:r>
            <a:r>
              <a:rPr lang="en-US" dirty="0"/>
              <a:t> – </a:t>
            </a:r>
            <a:r>
              <a:rPr lang="en-US" dirty="0" err="1"/>
              <a:t>ein</a:t>
            </a:r>
            <a:r>
              <a:rPr lang="en-US" dirty="0"/>
              <a:t> Wordlist </a:t>
            </a:r>
            <a:r>
              <a:rPr lang="en-US" dirty="0" err="1"/>
              <a:t>mit</a:t>
            </a:r>
            <a:r>
              <a:rPr lang="en-US" dirty="0"/>
              <a:t> </a:t>
            </a:r>
            <a:r>
              <a:rPr lang="en-US" dirty="0" err="1"/>
              <a:t>haufige</a:t>
            </a:r>
            <a:r>
              <a:rPr lang="en-US" dirty="0"/>
              <a:t> </a:t>
            </a:r>
            <a:r>
              <a:rPr lang="en-US" dirty="0" err="1"/>
              <a:t>Passworte</a:t>
            </a:r>
            <a:r>
              <a:rPr lang="en-US" dirty="0"/>
              <a:t> </a:t>
            </a:r>
            <a:r>
              <a:rPr lang="en-US" dirty="0" err="1"/>
              <a:t>nutzen</a:t>
            </a:r>
            <a:r>
              <a:rPr lang="en-US" dirty="0"/>
              <a:t>, </a:t>
            </a:r>
            <a:r>
              <a:rPr lang="en-US" dirty="0" err="1"/>
              <a:t>hashen</a:t>
            </a:r>
            <a:r>
              <a:rPr lang="en-US" dirty="0"/>
              <a:t> und </a:t>
            </a:r>
            <a:r>
              <a:rPr lang="en-US" dirty="0" err="1"/>
              <a:t>vergleichen</a:t>
            </a:r>
            <a:r>
              <a:rPr lang="en-US" dirty="0"/>
              <a:t> – so </a:t>
            </a:r>
            <a:r>
              <a:rPr lang="en-US" dirty="0" err="1"/>
              <a:t>finden</a:t>
            </a:r>
            <a:r>
              <a:rPr lang="en-US" dirty="0"/>
              <a:t> </a:t>
            </a:r>
            <a:r>
              <a:rPr lang="en-US" dirty="0" err="1"/>
              <a:t>wir</a:t>
            </a:r>
            <a:r>
              <a:rPr lang="en-US" dirty="0"/>
              <a:t> </a:t>
            </a:r>
            <a:r>
              <a:rPr lang="en-US" dirty="0" err="1"/>
              <a:t>ein</a:t>
            </a:r>
            <a:r>
              <a:rPr lang="en-US" dirty="0"/>
              <a:t> </a:t>
            </a:r>
            <a:r>
              <a:rPr lang="en-US" dirty="0" err="1"/>
              <a:t>schwaches</a:t>
            </a:r>
            <a:r>
              <a:rPr lang="en-US" dirty="0"/>
              <a:t> </a:t>
            </a:r>
            <a:r>
              <a:rPr lang="en-US" dirty="0" err="1"/>
              <a:t>Passwort</a:t>
            </a:r>
            <a:r>
              <a:rPr lang="en-US" dirty="0"/>
              <a:t>.</a:t>
            </a:r>
            <a:r>
              <a:rPr dirty="0"/>
              <a:t> </a:t>
            </a:r>
            <a:br>
              <a:rPr lang="en-US" dirty="0"/>
            </a:br>
            <a:br>
              <a:rPr lang="en-US" dirty="0"/>
            </a:br>
            <a:r>
              <a:rPr dirty="0"/>
              <a:t>Damit </a:t>
            </a:r>
            <a:r>
              <a:rPr dirty="0" err="1"/>
              <a:t>können</a:t>
            </a:r>
            <a:r>
              <a:rPr dirty="0"/>
              <a:t> </a:t>
            </a:r>
            <a:r>
              <a:rPr dirty="0" err="1"/>
              <a:t>wir</a:t>
            </a:r>
            <a:r>
              <a:rPr dirty="0"/>
              <a:t> </a:t>
            </a:r>
            <a:r>
              <a:rPr dirty="0" err="1"/>
              <a:t>uns</a:t>
            </a:r>
            <a:r>
              <a:rPr dirty="0"/>
              <a:t> am </a:t>
            </a:r>
            <a:r>
              <a:rPr dirty="0" err="1"/>
              <a:t>Archiv</a:t>
            </a:r>
            <a:r>
              <a:rPr dirty="0"/>
              <a:t> </a:t>
            </a:r>
            <a:r>
              <a:rPr dirty="0" err="1"/>
              <a:t>mit</a:t>
            </a:r>
            <a:r>
              <a:rPr dirty="0"/>
              <a:t> Basic Auth </a:t>
            </a:r>
            <a:r>
              <a:rPr dirty="0" err="1"/>
              <a:t>anmelden</a:t>
            </a:r>
            <a:r>
              <a:rPr dirty="0"/>
              <a:t> und die </a:t>
            </a:r>
            <a:r>
              <a:rPr dirty="0" err="1"/>
              <a:t>Notizen</a:t>
            </a:r>
            <a:r>
              <a:rPr dirty="0"/>
              <a:t> </a:t>
            </a:r>
            <a:r>
              <a:rPr lang="en-US" dirty="0"/>
              <a:t>des Users </a:t>
            </a:r>
            <a:r>
              <a:rPr dirty="0" err="1"/>
              <a:t>lesen</a:t>
            </a:r>
            <a:r>
              <a:rPr dirty="0"/>
              <a:t>. </a:t>
            </a:r>
            <a:br>
              <a:rPr lang="en-US" dirty="0"/>
            </a:br>
            <a:br>
              <a:rPr lang="en-US" dirty="0"/>
            </a:br>
            <a:r>
              <a:rPr dirty="0"/>
              <a:t>Eine </a:t>
            </a:r>
            <a:r>
              <a:rPr dirty="0" err="1"/>
              <a:t>Notiz</a:t>
            </a:r>
            <a:r>
              <a:rPr dirty="0"/>
              <a:t> </a:t>
            </a:r>
            <a:r>
              <a:rPr dirty="0" err="1"/>
              <a:t>gibt</a:t>
            </a:r>
            <a:r>
              <a:rPr dirty="0"/>
              <a:t> den </a:t>
            </a:r>
            <a:r>
              <a:rPr dirty="0" err="1"/>
              <a:t>Hinweis</a:t>
            </a:r>
            <a:r>
              <a:rPr dirty="0"/>
              <a:t> auf die Document Search.</a:t>
            </a:r>
            <a:br>
              <a:rPr lang="ru-RU" dirty="0"/>
            </a:br>
            <a:br>
              <a:rPr lang="ru-RU" dirty="0"/>
            </a:br>
            <a:br>
              <a:rPr lang="ru-RU" dirty="0"/>
            </a:br>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[TERMINAL:.]</a:t>
            </a:r>
            <a:br>
              <a:rPr lang="ru-RU" dirty="0"/>
            </a:br>
            <a:br>
              <a:rPr lang="ru-RU" dirty="0"/>
            </a:br>
            <a:r>
              <a:rPr lang="en-US" sz="1200" b="0" kern="1200" dirty="0">
                <a:effectLst/>
              </a:rPr>
              <a:t>docker compose --profile demo run --rm demo-runner python solve/demo_stage.py </a:t>
            </a:r>
            <a:r>
              <a:rPr lang="ru-RU" sz="1200" b="0" kern="1200" dirty="0">
                <a:effectLst/>
              </a:rPr>
              <a:t>2</a:t>
            </a:r>
            <a:endParaRPr lang="en-US" dirty="0"/>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Im</a:t>
            </a:r>
            <a:r>
              <a:rPr dirty="0"/>
              <a:t> </a:t>
            </a:r>
            <a:r>
              <a:rPr dirty="0" err="1"/>
              <a:t>dritten</a:t>
            </a:r>
            <a:r>
              <a:rPr dirty="0"/>
              <a:t> Experiment </a:t>
            </a:r>
            <a:r>
              <a:rPr dirty="0" err="1"/>
              <a:t>betrachten</a:t>
            </a:r>
            <a:r>
              <a:rPr dirty="0"/>
              <a:t> </a:t>
            </a:r>
            <a:r>
              <a:rPr dirty="0" err="1"/>
              <a:t>wir</a:t>
            </a:r>
            <a:r>
              <a:rPr dirty="0"/>
              <a:t> die Document Search. </a:t>
            </a:r>
            <a:br>
              <a:rPr lang="en-US" dirty="0"/>
            </a:br>
            <a:br>
              <a:rPr lang="en-US" dirty="0"/>
            </a:br>
            <a:r>
              <a:rPr dirty="0"/>
              <a:t>Der Client </a:t>
            </a:r>
            <a:r>
              <a:rPr dirty="0" err="1"/>
              <a:t>sendet</a:t>
            </a:r>
            <a:r>
              <a:rPr dirty="0"/>
              <a:t> </a:t>
            </a:r>
            <a:r>
              <a:rPr dirty="0" err="1"/>
              <a:t>einen</a:t>
            </a:r>
            <a:r>
              <a:rPr dirty="0"/>
              <a:t> department-Wert. Der Archive Service </a:t>
            </a:r>
            <a:r>
              <a:rPr dirty="0" err="1"/>
              <a:t>gibt</a:t>
            </a:r>
            <a:r>
              <a:rPr dirty="0"/>
              <a:t> </a:t>
            </a:r>
            <a:r>
              <a:rPr dirty="0" err="1"/>
              <a:t>ihn</a:t>
            </a:r>
            <a:r>
              <a:rPr dirty="0"/>
              <a:t> an den MariaDB Filter Converter von Spring AI </a:t>
            </a:r>
            <a:r>
              <a:rPr dirty="0" err="1"/>
              <a:t>weiter</a:t>
            </a:r>
            <a:r>
              <a:rPr dirty="0"/>
              <a:t>.</a:t>
            </a:r>
            <a:br>
              <a:rPr lang="en-US" dirty="0"/>
            </a:br>
            <a:br>
              <a:rPr lang="en-US" dirty="0"/>
            </a:br>
            <a:r>
              <a:rPr dirty="0"/>
              <a:t> In der </a:t>
            </a:r>
            <a:r>
              <a:rPr dirty="0" err="1"/>
              <a:t>verwendeten</a:t>
            </a:r>
            <a:r>
              <a:rPr dirty="0"/>
              <a:t> Version </a:t>
            </a:r>
            <a:r>
              <a:rPr dirty="0" err="1"/>
              <a:t>wird</a:t>
            </a:r>
            <a:r>
              <a:rPr dirty="0"/>
              <a:t> </a:t>
            </a:r>
            <a:r>
              <a:rPr dirty="0" err="1"/>
              <a:t>dieser</a:t>
            </a:r>
            <a:r>
              <a:rPr dirty="0"/>
              <a:t> Wert in </a:t>
            </a:r>
            <a:r>
              <a:rPr dirty="0" err="1"/>
              <a:t>einen</a:t>
            </a:r>
            <a:r>
              <a:rPr dirty="0"/>
              <a:t> SQL-Teil </a:t>
            </a:r>
            <a:r>
              <a:rPr dirty="0" err="1"/>
              <a:t>eingebaut</a:t>
            </a:r>
            <a:r>
              <a:rPr dirty="0"/>
              <a:t>, </a:t>
            </a:r>
            <a:r>
              <a:rPr dirty="0" err="1"/>
              <a:t>ohne</a:t>
            </a:r>
            <a:r>
              <a:rPr dirty="0"/>
              <a:t> </a:t>
            </a:r>
            <a:r>
              <a:rPr dirty="0" err="1"/>
              <a:t>dass</a:t>
            </a:r>
            <a:r>
              <a:rPr dirty="0"/>
              <a:t> </a:t>
            </a:r>
            <a:r>
              <a:rPr dirty="0" err="1"/>
              <a:t>ein</a:t>
            </a:r>
            <a:r>
              <a:rPr dirty="0"/>
              <a:t> </a:t>
            </a:r>
            <a:r>
              <a:rPr dirty="0" err="1"/>
              <a:t>enthaltenes</a:t>
            </a:r>
            <a:r>
              <a:rPr dirty="0"/>
              <a:t> </a:t>
            </a:r>
            <a:r>
              <a:rPr dirty="0" err="1"/>
              <a:t>Anführungszeichen</a:t>
            </a:r>
            <a:r>
              <a:rPr dirty="0"/>
              <a:t> </a:t>
            </a:r>
            <a:r>
              <a:rPr dirty="0" err="1"/>
              <a:t>korrekt</a:t>
            </a:r>
            <a:r>
              <a:rPr dirty="0"/>
              <a:t> </a:t>
            </a:r>
            <a:r>
              <a:rPr dirty="0" err="1"/>
              <a:t>behandelt</a:t>
            </a:r>
            <a:r>
              <a:rPr dirty="0"/>
              <a:t> </a:t>
            </a:r>
            <a:r>
              <a:rPr dirty="0" err="1"/>
              <a:t>wird</a:t>
            </a:r>
            <a:r>
              <a:rPr dirty="0"/>
              <a:t>. </a:t>
            </a:r>
            <a:br>
              <a:rPr lang="en-US" dirty="0"/>
            </a:br>
            <a:br>
              <a:rPr lang="en-US" dirty="0"/>
            </a:br>
            <a:r>
              <a:rPr dirty="0"/>
              <a:t>So </a:t>
            </a:r>
            <a:r>
              <a:rPr dirty="0" err="1"/>
              <a:t>verändert</a:t>
            </a:r>
            <a:r>
              <a:rPr dirty="0"/>
              <a:t> der Input die WHERE-</a:t>
            </a:r>
            <a:r>
              <a:rPr dirty="0" err="1"/>
              <a:t>Bedingung</a:t>
            </a:r>
            <a:r>
              <a:rPr dirty="0"/>
              <a:t> und die </a:t>
            </a:r>
            <a:r>
              <a:rPr dirty="0" err="1"/>
              <a:t>Suche</a:t>
            </a:r>
            <a:r>
              <a:rPr dirty="0"/>
              <a:t> </a:t>
            </a:r>
            <a:r>
              <a:rPr dirty="0" err="1"/>
              <a:t>liefert</a:t>
            </a:r>
            <a:r>
              <a:rPr dirty="0"/>
              <a:t> </a:t>
            </a:r>
            <a:r>
              <a:rPr dirty="0" err="1"/>
              <a:t>zusätzliche</a:t>
            </a:r>
            <a:r>
              <a:rPr dirty="0"/>
              <a:t> </a:t>
            </a:r>
            <a:r>
              <a:rPr dirty="0" err="1"/>
              <a:t>Dokumente</a:t>
            </a:r>
            <a:r>
              <a:rPr dirty="0"/>
              <a:t>. Ich </a:t>
            </a:r>
            <a:r>
              <a:rPr dirty="0" err="1"/>
              <a:t>möchte</a:t>
            </a:r>
            <a:r>
              <a:rPr dirty="0"/>
              <a:t> </a:t>
            </a:r>
            <a:r>
              <a:rPr dirty="0" err="1"/>
              <a:t>hier</a:t>
            </a:r>
            <a:r>
              <a:rPr dirty="0"/>
              <a:t> </a:t>
            </a:r>
            <a:r>
              <a:rPr dirty="0" err="1"/>
              <a:t>vor</a:t>
            </a:r>
            <a:r>
              <a:rPr dirty="0"/>
              <a:t> </a:t>
            </a:r>
            <a:r>
              <a:rPr dirty="0" err="1"/>
              <a:t>allem</a:t>
            </a:r>
            <a:r>
              <a:rPr dirty="0"/>
              <a:t> den </a:t>
            </a:r>
            <a:r>
              <a:rPr dirty="0" err="1"/>
              <a:t>Datenfluss</a:t>
            </a:r>
            <a:r>
              <a:rPr dirty="0"/>
              <a:t> </a:t>
            </a:r>
            <a:r>
              <a:rPr dirty="0" err="1"/>
              <a:t>zeigen</a:t>
            </a:r>
            <a:r>
              <a:rPr dirty="0"/>
              <a:t>: Wo </a:t>
            </a:r>
            <a:r>
              <a:rPr dirty="0" err="1"/>
              <a:t>entsteht</a:t>
            </a:r>
            <a:r>
              <a:rPr dirty="0"/>
              <a:t> der String, wo </a:t>
            </a:r>
            <a:r>
              <a:rPr dirty="0" err="1"/>
              <a:t>wird</a:t>
            </a:r>
            <a:r>
              <a:rPr dirty="0"/>
              <a:t> er </a:t>
            </a:r>
            <a:r>
              <a:rPr dirty="0" err="1"/>
              <a:t>umgewandelt</a:t>
            </a:r>
            <a:r>
              <a:rPr dirty="0"/>
              <a:t>, und wo </a:t>
            </a:r>
            <a:r>
              <a:rPr dirty="0" err="1"/>
              <a:t>beeinflusst</a:t>
            </a:r>
            <a:r>
              <a:rPr dirty="0"/>
              <a:t> er die </a:t>
            </a:r>
            <a:r>
              <a:rPr dirty="0" err="1"/>
              <a:t>Datenbank-Abfrage</a:t>
            </a:r>
            <a:r>
              <a:rPr dirty="0"/>
              <a:t>?</a:t>
            </a:r>
          </a:p>
          <a:p>
            <a:endParaRPr dirty="0"/>
          </a:p>
          <a:p>
            <a:r>
              <a:rPr dirty="0"/>
              <a:t>[TERMINAL: </a:t>
            </a:r>
            <a:r>
              <a:rPr dirty="0" err="1"/>
              <a:t>Jetzt</a:t>
            </a:r>
            <a:r>
              <a:rPr dirty="0"/>
              <a:t> Live Demo 3 </a:t>
            </a:r>
            <a:r>
              <a:rPr dirty="0" err="1"/>
              <a:t>zeigen</a:t>
            </a:r>
            <a:r>
              <a:rPr dirty="0"/>
              <a:t>. Erst </a:t>
            </a:r>
            <a:r>
              <a:rPr dirty="0" err="1"/>
              <a:t>einen</a:t>
            </a:r>
            <a:r>
              <a:rPr dirty="0"/>
              <a:t> </a:t>
            </a:r>
            <a:r>
              <a:rPr dirty="0" err="1"/>
              <a:t>normalen</a:t>
            </a:r>
            <a:r>
              <a:rPr dirty="0"/>
              <a:t> </a:t>
            </a:r>
            <a:r>
              <a:rPr dirty="0" err="1"/>
              <a:t>Suchaufruf</a:t>
            </a:r>
            <a:r>
              <a:rPr dirty="0"/>
              <a:t>, </a:t>
            </a:r>
            <a:r>
              <a:rPr dirty="0" err="1"/>
              <a:t>dann</a:t>
            </a:r>
            <a:r>
              <a:rPr dirty="0"/>
              <a:t> den </a:t>
            </a:r>
            <a:r>
              <a:rPr dirty="0" err="1"/>
              <a:t>geänderten</a:t>
            </a:r>
            <a:r>
              <a:rPr dirty="0"/>
              <a:t> Filter. Die </a:t>
            </a:r>
            <a:r>
              <a:rPr dirty="0" err="1"/>
              <a:t>unterschiedliche</a:t>
            </a:r>
            <a:r>
              <a:rPr dirty="0"/>
              <a:t> Zahl und Art der </a:t>
            </a:r>
            <a:r>
              <a:rPr dirty="0" err="1"/>
              <a:t>Dokumente</a:t>
            </a:r>
            <a:r>
              <a:rPr dirty="0"/>
              <a:t> </a:t>
            </a:r>
            <a:r>
              <a:rPr dirty="0" err="1"/>
              <a:t>zeigen</a:t>
            </a:r>
            <a:r>
              <a:rPr dirty="0"/>
              <a:t>. </a:t>
            </a:r>
            <a:r>
              <a:rPr dirty="0" err="1"/>
              <a:t>Danach</a:t>
            </a:r>
            <a:r>
              <a:rPr dirty="0"/>
              <a:t> </a:t>
            </a:r>
            <a:r>
              <a:rPr dirty="0" err="1"/>
              <a:t>zu</a:t>
            </a:r>
            <a:r>
              <a:rPr dirty="0"/>
              <a:t> Slide 15 </a:t>
            </a:r>
            <a:r>
              <a:rPr dirty="0" err="1"/>
              <a:t>zurückkehren</a:t>
            </a:r>
            <a:r>
              <a:rPr dirty="0"/>
              <a:t>.]</a:t>
            </a:r>
          </a:p>
          <a:p>
            <a:endParaRPr dirty="0"/>
          </a:p>
          <a:p>
            <a:r>
              <a:rPr dirty="0"/>
              <a:t>Quelle: https://spring.io/security/cve-2026-22730/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Der </a:t>
            </a:r>
            <a:r>
              <a:rPr dirty="0" err="1"/>
              <a:t>letzte</a:t>
            </a:r>
            <a:r>
              <a:rPr dirty="0"/>
              <a:t> Teil </a:t>
            </a:r>
            <a:r>
              <a:rPr dirty="0" err="1"/>
              <a:t>läuft</a:t>
            </a:r>
            <a:r>
              <a:rPr dirty="0"/>
              <a:t> </a:t>
            </a:r>
            <a:r>
              <a:rPr dirty="0" err="1"/>
              <a:t>im</a:t>
            </a:r>
            <a:r>
              <a:rPr dirty="0"/>
              <a:t> </a:t>
            </a:r>
            <a:r>
              <a:rPr dirty="0" err="1"/>
              <a:t>separaten</a:t>
            </a:r>
            <a:r>
              <a:rPr dirty="0"/>
              <a:t> command-control Service. </a:t>
            </a:r>
            <a:br>
              <a:rPr lang="en-US" dirty="0"/>
            </a:br>
            <a:br>
              <a:rPr lang="en-US" dirty="0"/>
            </a:br>
            <a:r>
              <a:rPr dirty="0"/>
              <a:t>Der Login Controller </a:t>
            </a:r>
            <a:r>
              <a:rPr dirty="0" err="1"/>
              <a:t>nutzt</a:t>
            </a:r>
            <a:r>
              <a:rPr dirty="0"/>
              <a:t> </a:t>
            </a:r>
            <a:r>
              <a:rPr dirty="0" err="1"/>
              <a:t>UserDetailsService</a:t>
            </a:r>
            <a:r>
              <a:rPr dirty="0"/>
              <a:t> und </a:t>
            </a:r>
            <a:r>
              <a:rPr dirty="0" err="1"/>
              <a:t>PasswordEncoder</a:t>
            </a:r>
            <a:r>
              <a:rPr dirty="0"/>
              <a:t> </a:t>
            </a:r>
            <a:r>
              <a:rPr dirty="0" err="1"/>
              <a:t>direkt</a:t>
            </a:r>
            <a:r>
              <a:rPr dirty="0"/>
              <a:t>. </a:t>
            </a:r>
            <a:br>
              <a:rPr lang="en-US" dirty="0"/>
            </a:br>
            <a:br>
              <a:rPr lang="en-US" dirty="0"/>
            </a:br>
            <a:r>
              <a:rPr dirty="0"/>
              <a:t>Er </a:t>
            </a:r>
            <a:r>
              <a:rPr dirty="0" err="1"/>
              <a:t>verwendet</a:t>
            </a:r>
            <a:r>
              <a:rPr dirty="0"/>
              <a:t> den </a:t>
            </a:r>
            <a:r>
              <a:rPr dirty="0" err="1"/>
              <a:t>konfigurierten</a:t>
            </a:r>
            <a:r>
              <a:rPr dirty="0"/>
              <a:t> </a:t>
            </a:r>
            <a:r>
              <a:rPr dirty="0" err="1"/>
              <a:t>AuthenticationManager</a:t>
            </a:r>
            <a:r>
              <a:rPr dirty="0"/>
              <a:t> nicht. Wenn </a:t>
            </a:r>
            <a:r>
              <a:rPr dirty="0" err="1"/>
              <a:t>ein</a:t>
            </a:r>
            <a:r>
              <a:rPr dirty="0"/>
              <a:t> </a:t>
            </a:r>
            <a:r>
              <a:rPr dirty="0" err="1"/>
              <a:t>Benutzer</a:t>
            </a:r>
            <a:r>
              <a:rPr dirty="0"/>
              <a:t> nicht </a:t>
            </a:r>
            <a:r>
              <a:rPr dirty="0" err="1"/>
              <a:t>existiert</a:t>
            </a:r>
            <a:r>
              <a:rPr dirty="0"/>
              <a:t>, </a:t>
            </a:r>
            <a:r>
              <a:rPr dirty="0" err="1"/>
              <a:t>kommt</a:t>
            </a:r>
            <a:r>
              <a:rPr dirty="0"/>
              <a:t> die </a:t>
            </a:r>
            <a:r>
              <a:rPr dirty="0" err="1"/>
              <a:t>Antwort</a:t>
            </a:r>
            <a:r>
              <a:rPr dirty="0"/>
              <a:t> schnell. Bei </a:t>
            </a:r>
            <a:r>
              <a:rPr dirty="0" err="1"/>
              <a:t>einem</a:t>
            </a:r>
            <a:r>
              <a:rPr dirty="0"/>
              <a:t> </a:t>
            </a:r>
            <a:r>
              <a:rPr dirty="0" err="1"/>
              <a:t>vorhandenen</a:t>
            </a:r>
            <a:r>
              <a:rPr dirty="0"/>
              <a:t> </a:t>
            </a:r>
            <a:r>
              <a:rPr dirty="0" err="1"/>
              <a:t>Benutzer</a:t>
            </a:r>
            <a:r>
              <a:rPr dirty="0"/>
              <a:t> </a:t>
            </a:r>
            <a:r>
              <a:rPr dirty="0" err="1"/>
              <a:t>läuft</a:t>
            </a:r>
            <a:r>
              <a:rPr dirty="0"/>
              <a:t> </a:t>
            </a:r>
            <a:r>
              <a:rPr dirty="0" err="1"/>
              <a:t>BCrypt</a:t>
            </a:r>
            <a:r>
              <a:rPr dirty="0"/>
              <a:t>, und die </a:t>
            </a:r>
            <a:r>
              <a:rPr dirty="0" err="1"/>
              <a:t>Antwort</a:t>
            </a:r>
            <a:r>
              <a:rPr dirty="0"/>
              <a:t> </a:t>
            </a:r>
            <a:r>
              <a:rPr dirty="0" err="1"/>
              <a:t>dauert</a:t>
            </a:r>
            <a:r>
              <a:rPr dirty="0"/>
              <a:t> </a:t>
            </a:r>
            <a:r>
              <a:rPr dirty="0" err="1"/>
              <a:t>länger</a:t>
            </a:r>
            <a:r>
              <a:rPr dirty="0"/>
              <a:t>. Das </a:t>
            </a:r>
            <a:r>
              <a:rPr dirty="0" err="1"/>
              <a:t>kann</a:t>
            </a:r>
            <a:r>
              <a:rPr dirty="0"/>
              <a:t> den </a:t>
            </a:r>
            <a:r>
              <a:rPr dirty="0" err="1"/>
              <a:t>Benutzernamen</a:t>
            </a:r>
            <a:r>
              <a:rPr dirty="0"/>
              <a:t> </a:t>
            </a:r>
            <a:r>
              <a:rPr dirty="0" err="1"/>
              <a:t>verraten</a:t>
            </a:r>
            <a:r>
              <a:rPr dirty="0"/>
              <a:t>. </a:t>
            </a:r>
            <a:r>
              <a:rPr dirty="0" err="1"/>
              <a:t>Außerdem</a:t>
            </a:r>
            <a:r>
              <a:rPr dirty="0"/>
              <a:t> hat der OTP-</a:t>
            </a:r>
            <a:r>
              <a:rPr dirty="0" err="1"/>
              <a:t>Endpunkt</a:t>
            </a:r>
            <a:r>
              <a:rPr dirty="0"/>
              <a:t> </a:t>
            </a:r>
            <a:r>
              <a:rPr dirty="0" err="1"/>
              <a:t>nur</a:t>
            </a:r>
            <a:r>
              <a:rPr dirty="0"/>
              <a:t> vier </a:t>
            </a:r>
            <a:r>
              <a:rPr dirty="0" err="1"/>
              <a:t>Ziffern</a:t>
            </a:r>
            <a:r>
              <a:rPr dirty="0"/>
              <a:t> und </a:t>
            </a:r>
            <a:r>
              <a:rPr dirty="0" err="1"/>
              <a:t>keine</a:t>
            </a:r>
            <a:r>
              <a:rPr dirty="0"/>
              <a:t> Rate Limit. Viele </a:t>
            </a:r>
            <a:r>
              <a:rPr dirty="0" err="1"/>
              <a:t>Versuche</a:t>
            </a:r>
            <a:r>
              <a:rPr dirty="0"/>
              <a:t> </a:t>
            </a:r>
            <a:r>
              <a:rPr dirty="0" err="1"/>
              <a:t>können</a:t>
            </a:r>
            <a:r>
              <a:rPr dirty="0"/>
              <a:t> in </a:t>
            </a:r>
            <a:r>
              <a:rPr dirty="0" err="1"/>
              <a:t>kurzer</a:t>
            </a:r>
            <a:r>
              <a:rPr dirty="0"/>
              <a:t> Zeit </a:t>
            </a:r>
            <a:r>
              <a:rPr dirty="0" err="1"/>
              <a:t>einen</a:t>
            </a:r>
            <a:r>
              <a:rPr dirty="0"/>
              <a:t> </a:t>
            </a:r>
            <a:r>
              <a:rPr dirty="0" err="1"/>
              <a:t>gültigen</a:t>
            </a:r>
            <a:r>
              <a:rPr dirty="0"/>
              <a:t> Code </a:t>
            </a:r>
            <a:r>
              <a:rPr dirty="0" err="1"/>
              <a:t>finden</a:t>
            </a:r>
            <a:r>
              <a:rPr dirty="0"/>
              <a:t>. Dieser Code </a:t>
            </a:r>
            <a:r>
              <a:rPr dirty="0" err="1"/>
              <a:t>liefert</a:t>
            </a:r>
            <a:r>
              <a:rPr dirty="0"/>
              <a:t> </a:t>
            </a:r>
            <a:r>
              <a:rPr dirty="0" err="1"/>
              <a:t>einen</a:t>
            </a:r>
            <a:r>
              <a:rPr dirty="0"/>
              <a:t> JWT für den </a:t>
            </a:r>
            <a:r>
              <a:rPr dirty="0" err="1"/>
              <a:t>letzten</a:t>
            </a:r>
            <a:r>
              <a:rPr dirty="0"/>
              <a:t> </a:t>
            </a:r>
            <a:r>
              <a:rPr dirty="0" err="1"/>
              <a:t>Endpunkt</a:t>
            </a:r>
            <a:r>
              <a:rPr dirty="0"/>
              <a:t>. Eine </a:t>
            </a:r>
            <a:r>
              <a:rPr dirty="0" err="1"/>
              <a:t>wichtige</a:t>
            </a:r>
            <a:r>
              <a:rPr dirty="0"/>
              <a:t> </a:t>
            </a:r>
            <a:r>
              <a:rPr dirty="0" err="1"/>
              <a:t>Einschränkung</a:t>
            </a:r>
            <a:r>
              <a:rPr dirty="0"/>
              <a:t> des Demo-Codes: Der OTP-</a:t>
            </a:r>
            <a:r>
              <a:rPr dirty="0" err="1"/>
              <a:t>Endpunkt</a:t>
            </a:r>
            <a:r>
              <a:rPr dirty="0"/>
              <a:t> </a:t>
            </a:r>
            <a:r>
              <a:rPr dirty="0" err="1"/>
              <a:t>verlangt</a:t>
            </a:r>
            <a:r>
              <a:rPr dirty="0"/>
              <a:t> </a:t>
            </a:r>
            <a:r>
              <a:rPr dirty="0" err="1"/>
              <a:t>keinen</a:t>
            </a:r>
            <a:r>
              <a:rPr dirty="0"/>
              <a:t> </a:t>
            </a:r>
            <a:r>
              <a:rPr dirty="0" err="1"/>
              <a:t>Nachweis</a:t>
            </a:r>
            <a:r>
              <a:rPr dirty="0"/>
              <a:t> </a:t>
            </a:r>
            <a:r>
              <a:rPr dirty="0" err="1"/>
              <a:t>eines</a:t>
            </a:r>
            <a:r>
              <a:rPr dirty="0"/>
              <a:t> </a:t>
            </a:r>
            <a:r>
              <a:rPr dirty="0" err="1"/>
              <a:t>erfolgreichen</a:t>
            </a:r>
            <a:r>
              <a:rPr dirty="0"/>
              <a:t> Login. Timing und </a:t>
            </a:r>
            <a:r>
              <a:rPr dirty="0" err="1"/>
              <a:t>Passwort</a:t>
            </a:r>
            <a:r>
              <a:rPr dirty="0"/>
              <a:t> </a:t>
            </a:r>
            <a:r>
              <a:rPr dirty="0" err="1"/>
              <a:t>sind</a:t>
            </a:r>
            <a:r>
              <a:rPr dirty="0"/>
              <a:t> für </a:t>
            </a:r>
            <a:r>
              <a:rPr dirty="0" err="1"/>
              <a:t>diesen</a:t>
            </a:r>
            <a:r>
              <a:rPr dirty="0"/>
              <a:t> Schritt </a:t>
            </a:r>
            <a:r>
              <a:rPr dirty="0" err="1"/>
              <a:t>technisch</a:t>
            </a:r>
            <a:r>
              <a:rPr dirty="0"/>
              <a:t> nicht </a:t>
            </a:r>
            <a:r>
              <a:rPr dirty="0" err="1"/>
              <a:t>zwingend</a:t>
            </a:r>
            <a:r>
              <a:rPr dirty="0"/>
              <a:t> </a:t>
            </a:r>
            <a:r>
              <a:rPr dirty="0" err="1"/>
              <a:t>nötig</a:t>
            </a:r>
            <a:r>
              <a:rPr dirty="0"/>
              <a:t>.</a:t>
            </a:r>
          </a:p>
          <a:p>
            <a:endParaRPr dirty="0"/>
          </a:p>
          <a:p>
            <a:r>
              <a:rPr dirty="0"/>
              <a:t>[TERMINAL:]</a:t>
            </a:r>
          </a:p>
          <a:p>
            <a:endParaRPr dirty="0"/>
          </a:p>
          <a:p>
            <a:r>
              <a:rPr dirty="0" err="1"/>
              <a:t>Verwandte</a:t>
            </a:r>
            <a:r>
              <a:rPr dirty="0"/>
              <a:t> Spring Security Advisory: https://spring.io/security/cve-2025-22234/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 sehen wir die ganze Untersuchung noch einmal. Der Gateway-Fehler verändert ein Setting. Dadurch erscheinen Password Hashes in der Antwort. Ein schwaches Passwort ermöglicht den Zugriff auf private Notizen. Danach zeigt die Suche wegen SQL Injection zusätzliche Dokumente. Im separaten Service sehen wir schließlich Login Timing und einen OTP-Endpunkt ohne Rate Limit. Der End-to-End-Test erreicht alle vier Marker. Dabei möchte ich eine Grenze klar benennen: Der aktuelle OTP-Endpunkt ist unabhängig von einem erfolgreichen Login. Deshalb ist die Geschichte eine Folge von Experimenten, aber nicht an jeder Stelle eine technisch erzwungene Kette.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Für </a:t>
            </a:r>
            <a:r>
              <a:rPr dirty="0" err="1"/>
              <a:t>mich</a:t>
            </a:r>
            <a:r>
              <a:rPr dirty="0"/>
              <a:t> </a:t>
            </a:r>
            <a:r>
              <a:rPr dirty="0" err="1"/>
              <a:t>bleiben</a:t>
            </a:r>
            <a:r>
              <a:rPr dirty="0"/>
              <a:t> vier </a:t>
            </a:r>
            <a:r>
              <a:rPr dirty="0" err="1"/>
              <a:t>praktische</a:t>
            </a:r>
            <a:r>
              <a:rPr dirty="0"/>
              <a:t> </a:t>
            </a:r>
            <a:r>
              <a:rPr dirty="0" err="1"/>
              <a:t>Punkte</a:t>
            </a:r>
            <a:r>
              <a:rPr dirty="0"/>
              <a:t>. </a:t>
            </a:r>
            <a:br>
              <a:rPr lang="ru-RU" dirty="0"/>
            </a:br>
            <a:br>
              <a:rPr lang="ru-RU" dirty="0"/>
            </a:br>
            <a:r>
              <a:rPr dirty="0" err="1"/>
              <a:t>Erstens</a:t>
            </a:r>
            <a:r>
              <a:rPr dirty="0"/>
              <a:t> </a:t>
            </a:r>
            <a:r>
              <a:rPr dirty="0" err="1"/>
              <a:t>müssen</a:t>
            </a:r>
            <a:r>
              <a:rPr dirty="0"/>
              <a:t> </a:t>
            </a:r>
            <a:r>
              <a:rPr dirty="0" err="1"/>
              <a:t>wir</a:t>
            </a:r>
            <a:r>
              <a:rPr dirty="0"/>
              <a:t> </a:t>
            </a:r>
            <a:r>
              <a:rPr dirty="0" err="1"/>
              <a:t>wissen</a:t>
            </a:r>
            <a:r>
              <a:rPr dirty="0"/>
              <a:t>, </a:t>
            </a:r>
            <a:r>
              <a:rPr dirty="0" err="1"/>
              <a:t>welche</a:t>
            </a:r>
            <a:r>
              <a:rPr dirty="0"/>
              <a:t> </a:t>
            </a:r>
            <a:r>
              <a:rPr dirty="0" err="1"/>
              <a:t>Versionen</a:t>
            </a:r>
            <a:r>
              <a:rPr dirty="0"/>
              <a:t> von Dependencies und Runtime </a:t>
            </a:r>
            <a:r>
              <a:rPr dirty="0" err="1"/>
              <a:t>wirklich</a:t>
            </a:r>
            <a:r>
              <a:rPr dirty="0"/>
              <a:t> </a:t>
            </a:r>
            <a:r>
              <a:rPr dirty="0" err="1"/>
              <a:t>laufen</a:t>
            </a:r>
            <a:r>
              <a:rPr dirty="0"/>
              <a:t>, und Updates </a:t>
            </a:r>
            <a:r>
              <a:rPr dirty="0" err="1"/>
              <a:t>einplanen</a:t>
            </a:r>
            <a:r>
              <a:rPr dirty="0"/>
              <a:t>. </a:t>
            </a:r>
            <a:br>
              <a:rPr lang="ru-RU" dirty="0"/>
            </a:br>
            <a:br>
              <a:rPr lang="ru-RU" dirty="0"/>
            </a:br>
            <a:r>
              <a:rPr dirty="0" err="1"/>
              <a:t>Zweitens</a:t>
            </a:r>
            <a:r>
              <a:rPr dirty="0"/>
              <a:t> </a:t>
            </a:r>
            <a:r>
              <a:rPr dirty="0" err="1"/>
              <a:t>sollten</a:t>
            </a:r>
            <a:r>
              <a:rPr dirty="0"/>
              <a:t> Management Endpoints </a:t>
            </a:r>
            <a:r>
              <a:rPr dirty="0" err="1"/>
              <a:t>nur</a:t>
            </a:r>
            <a:r>
              <a:rPr dirty="0"/>
              <a:t> </a:t>
            </a:r>
            <a:r>
              <a:rPr dirty="0" err="1"/>
              <a:t>dort</a:t>
            </a:r>
            <a:r>
              <a:rPr dirty="0"/>
              <a:t> </a:t>
            </a:r>
            <a:r>
              <a:rPr dirty="0" err="1"/>
              <a:t>erreichbar</a:t>
            </a:r>
            <a:r>
              <a:rPr dirty="0"/>
              <a:t> sein, wo </a:t>
            </a:r>
            <a:r>
              <a:rPr dirty="0" err="1"/>
              <a:t>sie</a:t>
            </a:r>
            <a:r>
              <a:rPr dirty="0"/>
              <a:t> </a:t>
            </a:r>
            <a:r>
              <a:rPr dirty="0" err="1"/>
              <a:t>gebraucht</a:t>
            </a:r>
            <a:r>
              <a:rPr dirty="0"/>
              <a:t> </a:t>
            </a:r>
            <a:r>
              <a:rPr dirty="0" err="1"/>
              <a:t>werden</a:t>
            </a:r>
            <a:r>
              <a:rPr dirty="0"/>
              <a:t>.</a:t>
            </a:r>
            <a:br>
              <a:rPr lang="ru-RU" dirty="0"/>
            </a:br>
            <a:br>
              <a:rPr lang="ru-RU" dirty="0"/>
            </a:br>
            <a:r>
              <a:rPr dirty="0"/>
              <a:t> </a:t>
            </a:r>
            <a:r>
              <a:rPr dirty="0" err="1"/>
              <a:t>Drittens</a:t>
            </a:r>
            <a:r>
              <a:rPr dirty="0"/>
              <a:t> </a:t>
            </a:r>
            <a:r>
              <a:rPr dirty="0" err="1"/>
              <a:t>sollten</a:t>
            </a:r>
            <a:r>
              <a:rPr dirty="0"/>
              <a:t> </a:t>
            </a:r>
            <a:r>
              <a:rPr dirty="0" err="1"/>
              <a:t>wir</a:t>
            </a:r>
            <a:r>
              <a:rPr dirty="0"/>
              <a:t> </a:t>
            </a:r>
            <a:r>
              <a:rPr dirty="0" err="1"/>
              <a:t>Datenflüsse</a:t>
            </a:r>
            <a:r>
              <a:rPr dirty="0"/>
              <a:t> bis </a:t>
            </a:r>
            <a:r>
              <a:rPr dirty="0" err="1"/>
              <a:t>zum</a:t>
            </a:r>
            <a:r>
              <a:rPr dirty="0"/>
              <a:t> Ende </a:t>
            </a:r>
            <a:r>
              <a:rPr dirty="0" err="1"/>
              <a:t>prüfen</a:t>
            </a:r>
            <a:r>
              <a:rPr dirty="0"/>
              <a:t>: Ein Header </a:t>
            </a:r>
            <a:r>
              <a:rPr dirty="0" err="1"/>
              <a:t>oder</a:t>
            </a:r>
            <a:r>
              <a:rPr dirty="0"/>
              <a:t> </a:t>
            </a:r>
            <a:r>
              <a:rPr dirty="0" err="1"/>
              <a:t>ein</a:t>
            </a:r>
            <a:r>
              <a:rPr dirty="0"/>
              <a:t> Input-Wert </a:t>
            </a:r>
            <a:r>
              <a:rPr dirty="0" err="1"/>
              <a:t>kann</a:t>
            </a:r>
            <a:r>
              <a:rPr dirty="0"/>
              <a:t> an </a:t>
            </a:r>
            <a:r>
              <a:rPr dirty="0" err="1"/>
              <a:t>einer</a:t>
            </a:r>
            <a:r>
              <a:rPr dirty="0"/>
              <a:t> </a:t>
            </a:r>
            <a:r>
              <a:rPr dirty="0" err="1"/>
              <a:t>späteren</a:t>
            </a:r>
            <a:r>
              <a:rPr dirty="0"/>
              <a:t> Stelle </a:t>
            </a:r>
            <a:r>
              <a:rPr dirty="0" err="1"/>
              <a:t>viel</a:t>
            </a:r>
            <a:r>
              <a:rPr dirty="0"/>
              <a:t> </a:t>
            </a:r>
            <a:r>
              <a:rPr dirty="0" err="1"/>
              <a:t>mehr</a:t>
            </a:r>
            <a:r>
              <a:rPr dirty="0"/>
              <a:t> </a:t>
            </a:r>
            <a:r>
              <a:rPr dirty="0" err="1"/>
              <a:t>bewirken</a:t>
            </a:r>
            <a:r>
              <a:rPr dirty="0"/>
              <a:t> </a:t>
            </a:r>
            <a:r>
              <a:rPr dirty="0" err="1"/>
              <a:t>als</a:t>
            </a:r>
            <a:r>
              <a:rPr dirty="0"/>
              <a:t> </a:t>
            </a:r>
            <a:r>
              <a:rPr dirty="0" err="1"/>
              <a:t>erwartet</a:t>
            </a:r>
            <a:r>
              <a:rPr dirty="0"/>
              <a:t>. </a:t>
            </a:r>
            <a:br>
              <a:rPr lang="ru-RU" dirty="0"/>
            </a:br>
            <a:br>
              <a:rPr lang="ru-RU" dirty="0"/>
            </a:br>
            <a:r>
              <a:rPr dirty="0" err="1"/>
              <a:t>Viertens</a:t>
            </a:r>
            <a:r>
              <a:rPr dirty="0"/>
              <a:t> </a:t>
            </a:r>
            <a:r>
              <a:rPr dirty="0" err="1"/>
              <a:t>ist</a:t>
            </a:r>
            <a:r>
              <a:rPr dirty="0"/>
              <a:t> Authentication </a:t>
            </a:r>
            <a:r>
              <a:rPr dirty="0" err="1"/>
              <a:t>besonders</a:t>
            </a:r>
            <a:r>
              <a:rPr dirty="0"/>
              <a:t> </a:t>
            </a:r>
            <a:r>
              <a:rPr dirty="0" err="1"/>
              <a:t>empfindlich</a:t>
            </a:r>
            <a:r>
              <a:rPr dirty="0"/>
              <a:t>. Standard-Flows und Rate Limits </a:t>
            </a:r>
            <a:r>
              <a:rPr dirty="0" err="1"/>
              <a:t>sind</a:t>
            </a:r>
            <a:r>
              <a:rPr dirty="0"/>
              <a:t> </a:t>
            </a:r>
            <a:r>
              <a:rPr dirty="0" err="1"/>
              <a:t>wichtig</a:t>
            </a:r>
            <a:r>
              <a:rPr dirty="0"/>
              <a:t>, </a:t>
            </a:r>
            <a:r>
              <a:rPr dirty="0" err="1"/>
              <a:t>auch</a:t>
            </a:r>
            <a:r>
              <a:rPr dirty="0"/>
              <a:t> </a:t>
            </a:r>
            <a:r>
              <a:rPr dirty="0" err="1"/>
              <a:t>wenn</a:t>
            </a:r>
            <a:r>
              <a:rPr dirty="0"/>
              <a:t> </a:t>
            </a:r>
            <a:r>
              <a:rPr dirty="0" err="1"/>
              <a:t>ein</a:t>
            </a:r>
            <a:r>
              <a:rPr dirty="0"/>
              <a:t> </a:t>
            </a:r>
            <a:r>
              <a:rPr dirty="0" err="1"/>
              <a:t>eigener</a:t>
            </a:r>
            <a:r>
              <a:rPr dirty="0"/>
              <a:t> Controller </a:t>
            </a:r>
            <a:r>
              <a:rPr dirty="0" err="1"/>
              <a:t>zunächst</a:t>
            </a:r>
            <a:r>
              <a:rPr dirty="0"/>
              <a:t> </a:t>
            </a:r>
            <a:r>
              <a:rPr dirty="0" err="1"/>
              <a:t>einfacher</a:t>
            </a:r>
            <a:r>
              <a:rPr dirty="0"/>
              <a:t> </a:t>
            </a:r>
            <a:r>
              <a:rPr dirty="0" err="1"/>
              <a:t>aussieht</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Vielen Dank. Ich freue mich auf eure Fragen. Wir können über die Architektur, die einzelnen Experimente oder über die möglichen Schutzmaßnahmen sprechen. Wenn ihr möchtet, kann ich auch noch einmal einen bestimmten Terminal-Schritt zeigen.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BC08A6E-9032-4FEB-869C-0FF57221CAC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D99FE57C-470F-4E37-82C2-25AB8113F568}"/>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A9CF4BE-0DF2-4F52-B483-59F78D98761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7A36538-FAB3-4017-98DB-5E76E8E8A97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85BAF69-B628-415C-BAE4-F749FE9E6AA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CB6B4AD-2F4D-457B-9C18-CA63256BDCF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9B98BDEA-D080-4AA3-A651-9B1353794AB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615F203E-21CA-4765-A52A-5F6016ACA6C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8BCB776-3961-425B-AAFE-BF83EE8C97A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5C3E1210-7322-4CD6-BA12-CCBAE7DE510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B3560BD0-282B-D1B2-0E8C-CC94F6053009}"/>
              </a:ext>
            </a:extLst>
          </p:cNvPr>
          <p:cNvSpPr txBox="1"/>
          <p:nvPr userDrawn="1">
            <p:extLst>
              <p:ext uri="{1162E1C5-73C7-4A58-AE30-91384D911F3F}">
                <p184:classification xmlns:p184="http://schemas.microsoft.com/office/powerpoint/2018/4/main" val="hdr"/>
              </p:ext>
            </p:extLst>
          </p:nvPr>
        </p:nvSpPr>
        <p:spPr>
          <a:xfrm>
            <a:off x="5826125" y="63500"/>
            <a:ext cx="568325" cy="152400"/>
          </a:xfrm>
          <a:prstGeom prst="rect">
            <a:avLst/>
          </a:prstGeom>
        </p:spPr>
        <p:txBody>
          <a:bodyPr horzOverflow="overflow" lIns="0" tIns="0" rIns="0" bIns="0">
            <a:spAutoFit/>
          </a:bodyPr>
          <a:lstStyle/>
          <a:p>
            <a:pPr algn="l"/>
            <a:r>
              <a:rPr lang="de-AT" sz="1000">
                <a:solidFill>
                  <a:srgbClr val="000000">
                    <a:alpha val="50000"/>
                  </a:srgbClr>
                </a:solidFill>
                <a:latin typeface="Aptos" panose="020F0502020204030204" pitchFamily="34" charset="0"/>
              </a:rPr>
              <a:t>TLP:CLEAR</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0E6959DB-8DDE-441A-A6F9-75822E7AB92B}"/>
              </a:ext>
            </a:extLst>
          </p:cNvPr>
          <p:cNvSpPr>
            <a:spLocks noGrp="1"/>
          </p:cNvSpPr>
          <p:nvPr/>
        </p:nvSpPr>
        <p:spPr>
          <a:xfrm>
            <a:off x="647700" y="1190625"/>
            <a:ext cx="85725" cy="3476625"/>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DB717E6E-D429-42A4-841B-E0B93D74CA7B}"/>
              </a:ext>
            </a:extLst>
          </p:cNvPr>
          <p:cNvSpPr>
            <a:spLocks noGrp="1"/>
          </p:cNvSpPr>
          <p:nvPr/>
        </p:nvSpPr>
        <p:spPr>
          <a:xfrm>
            <a:off x="1066800" y="1219200"/>
            <a:ext cx="10096500" cy="1685925"/>
          </a:xfrm>
          <a:prstGeom prst="rect">
            <a:avLst/>
          </a:prstGeom>
          <a:noFill/>
          <a:ln w="0">
            <a:noFill/>
            <a:prstDash val="solid"/>
          </a:ln>
        </p:spPr>
        <p:txBody>
          <a:bodyPr wrap="square" lIns="0" tIns="0" rIns="0" bIns="0" anchor="ctr">
            <a:normAutofit/>
          </a:bodyPr>
          <a:lstStyle>
            <a:defPPr algn="l">
              <a:defRPr sz="4425" b="1">
                <a:solidFill>
                  <a:srgbClr val="202935"/>
                </a:solidFill>
                <a:latin typeface="Arial"/>
                <a:ea typeface="Arial"/>
                <a:cs typeface="Arial"/>
              </a:defRPr>
            </a:defPPr>
            <a:lvl1pPr algn="l">
              <a:defRPr sz="4425" b="1">
                <a:solidFill>
                  <a:srgbClr val="202935"/>
                </a:solidFill>
                <a:latin typeface="Arial"/>
                <a:ea typeface="Arial"/>
                <a:cs typeface="Arial"/>
              </a:defRPr>
            </a:lvl1pPr>
            <a:lvl2pPr algn="l">
              <a:defRPr sz="4425" b="1">
                <a:solidFill>
                  <a:srgbClr val="202935"/>
                </a:solidFill>
                <a:latin typeface="Arial"/>
                <a:ea typeface="Arial"/>
                <a:cs typeface="Arial"/>
              </a:defRPr>
            </a:lvl2pPr>
            <a:lvl3pPr algn="l">
              <a:defRPr sz="4425" b="1">
                <a:solidFill>
                  <a:srgbClr val="202935"/>
                </a:solidFill>
                <a:latin typeface="Arial"/>
                <a:ea typeface="Arial"/>
                <a:cs typeface="Arial"/>
              </a:defRPr>
            </a:lvl3pPr>
            <a:lvl4pPr algn="l">
              <a:defRPr sz="4425" b="1">
                <a:solidFill>
                  <a:srgbClr val="202935"/>
                </a:solidFill>
                <a:latin typeface="Arial"/>
                <a:ea typeface="Arial"/>
                <a:cs typeface="Arial"/>
              </a:defRPr>
            </a:lvl4pPr>
            <a:lvl5pPr algn="l">
              <a:defRPr sz="4425" b="1">
                <a:solidFill>
                  <a:srgbClr val="202935"/>
                </a:solidFill>
                <a:latin typeface="Arial"/>
                <a:ea typeface="Arial"/>
                <a:cs typeface="Arial"/>
              </a:defRPr>
            </a:lvl5pPr>
            <a:lvl6pPr algn="l">
              <a:defRPr sz="4425" b="1">
                <a:solidFill>
                  <a:srgbClr val="202935"/>
                </a:solidFill>
                <a:latin typeface="Arial"/>
                <a:ea typeface="Arial"/>
                <a:cs typeface="Arial"/>
              </a:defRPr>
            </a:lvl6pPr>
            <a:lvl7pPr algn="l">
              <a:defRPr sz="4425" b="1">
                <a:solidFill>
                  <a:srgbClr val="202935"/>
                </a:solidFill>
                <a:latin typeface="Arial"/>
                <a:ea typeface="Arial"/>
                <a:cs typeface="Arial"/>
              </a:defRPr>
            </a:lvl7pPr>
            <a:lvl8pPr algn="l">
              <a:defRPr sz="4425" b="1">
                <a:solidFill>
                  <a:srgbClr val="202935"/>
                </a:solidFill>
                <a:latin typeface="Arial"/>
                <a:ea typeface="Arial"/>
                <a:cs typeface="Arial"/>
              </a:defRPr>
            </a:lvl8pPr>
            <a:lvl9pPr algn="l">
              <a:defRPr sz="4425" b="1">
                <a:solidFill>
                  <a:srgbClr val="202935"/>
                </a:solidFill>
                <a:latin typeface="Arial"/>
                <a:ea typeface="Arial"/>
                <a:cs typeface="Arial"/>
              </a:defRPr>
            </a:lvl9pPr>
          </a:lstStyle>
          <a:p>
            <a:pPr algn="l">
              <a:defRPr sz="4425" b="1">
                <a:solidFill>
                  <a:srgbClr val="202935"/>
                </a:solidFill>
                <a:latin typeface="Arial"/>
                <a:ea typeface="Arial"/>
                <a:cs typeface="Arial"/>
              </a:defRPr>
            </a:pPr>
            <a:r>
              <a:rPr lang="de-AT" sz="4425" b="1" noProof="0" dirty="0">
                <a:solidFill>
                  <a:srgbClr val="202935"/>
                </a:solidFill>
                <a:latin typeface="Arial"/>
                <a:ea typeface="Arial"/>
                <a:cs typeface="Arial"/>
              </a:rPr>
              <a:t>Wenn Schwachstellen</a:t>
            </a:r>
          </a:p>
          <a:p>
            <a:pPr algn="l">
              <a:defRPr sz="4425" b="1">
                <a:solidFill>
                  <a:srgbClr val="202935"/>
                </a:solidFill>
                <a:latin typeface="Arial"/>
                <a:ea typeface="Arial"/>
                <a:cs typeface="Arial"/>
              </a:defRPr>
            </a:pPr>
            <a:r>
              <a:rPr lang="de-AT" sz="4425" b="1" noProof="0" dirty="0">
                <a:solidFill>
                  <a:srgbClr val="202935"/>
                </a:solidFill>
                <a:latin typeface="Arial"/>
                <a:ea typeface="Arial"/>
                <a:cs typeface="Arial"/>
              </a:rPr>
              <a:t>zusammenwirken</a:t>
            </a:r>
          </a:p>
        </p:txBody>
      </p:sp>
      <p:sp>
        <p:nvSpPr>
          <p:cNvPr id="3" name="Rechteck 2">
            <a:extLst>
              <a:ext uri="{FF2B5EF4-FFF2-40B4-BE49-F238E27FC236}">
                <a16:creationId xmlns:a16="http://schemas.microsoft.com/office/drawing/2014/main" id="{422945BF-673F-442F-8B72-AA9C04013E66}"/>
              </a:ext>
            </a:extLst>
          </p:cNvPr>
          <p:cNvSpPr>
            <a:spLocks noGrp="1"/>
          </p:cNvSpPr>
          <p:nvPr/>
        </p:nvSpPr>
        <p:spPr>
          <a:xfrm>
            <a:off x="1085850" y="3190875"/>
            <a:ext cx="8763000" cy="723900"/>
          </a:xfrm>
          <a:prstGeom prst="rect">
            <a:avLst/>
          </a:prstGeom>
          <a:noFill/>
          <a:ln w="0">
            <a:noFill/>
            <a:prstDash val="solid"/>
          </a:ln>
        </p:spPr>
        <p:txBody>
          <a:bodyPr wrap="square" lIns="0" tIns="0" rIns="0" bIns="0" anchor="ctr">
            <a:normAutofit/>
          </a:bodyPr>
          <a:lstStyle>
            <a:defPPr algn="l">
              <a:defRPr sz="2175" b="0">
                <a:solidFill>
                  <a:srgbClr val="5D6872"/>
                </a:solidFill>
                <a:latin typeface="Arial"/>
                <a:ea typeface="Arial"/>
                <a:cs typeface="Arial"/>
              </a:defRPr>
            </a:defPPr>
            <a:lvl1pPr algn="l">
              <a:defRPr sz="2175" b="0">
                <a:solidFill>
                  <a:srgbClr val="5D6872"/>
                </a:solidFill>
                <a:latin typeface="Arial"/>
                <a:ea typeface="Arial"/>
                <a:cs typeface="Arial"/>
              </a:defRPr>
            </a:lvl1pPr>
            <a:lvl2pPr algn="l">
              <a:defRPr sz="2175" b="0">
                <a:solidFill>
                  <a:srgbClr val="5D6872"/>
                </a:solidFill>
                <a:latin typeface="Arial"/>
                <a:ea typeface="Arial"/>
                <a:cs typeface="Arial"/>
              </a:defRPr>
            </a:lvl2pPr>
            <a:lvl3pPr algn="l">
              <a:defRPr sz="2175" b="0">
                <a:solidFill>
                  <a:srgbClr val="5D6872"/>
                </a:solidFill>
                <a:latin typeface="Arial"/>
                <a:ea typeface="Arial"/>
                <a:cs typeface="Arial"/>
              </a:defRPr>
            </a:lvl3pPr>
            <a:lvl4pPr algn="l">
              <a:defRPr sz="2175" b="0">
                <a:solidFill>
                  <a:srgbClr val="5D6872"/>
                </a:solidFill>
                <a:latin typeface="Arial"/>
                <a:ea typeface="Arial"/>
                <a:cs typeface="Arial"/>
              </a:defRPr>
            </a:lvl4pPr>
            <a:lvl5pPr algn="l">
              <a:defRPr sz="2175" b="0">
                <a:solidFill>
                  <a:srgbClr val="5D6872"/>
                </a:solidFill>
                <a:latin typeface="Arial"/>
                <a:ea typeface="Arial"/>
                <a:cs typeface="Arial"/>
              </a:defRPr>
            </a:lvl5pPr>
            <a:lvl6pPr algn="l">
              <a:defRPr sz="2175" b="0">
                <a:solidFill>
                  <a:srgbClr val="5D6872"/>
                </a:solidFill>
                <a:latin typeface="Arial"/>
                <a:ea typeface="Arial"/>
                <a:cs typeface="Arial"/>
              </a:defRPr>
            </a:lvl6pPr>
            <a:lvl7pPr algn="l">
              <a:defRPr sz="2175" b="0">
                <a:solidFill>
                  <a:srgbClr val="5D6872"/>
                </a:solidFill>
                <a:latin typeface="Arial"/>
                <a:ea typeface="Arial"/>
                <a:cs typeface="Arial"/>
              </a:defRPr>
            </a:lvl7pPr>
            <a:lvl8pPr algn="l">
              <a:defRPr sz="2175" b="0">
                <a:solidFill>
                  <a:srgbClr val="5D6872"/>
                </a:solidFill>
                <a:latin typeface="Arial"/>
                <a:ea typeface="Arial"/>
                <a:cs typeface="Arial"/>
              </a:defRPr>
            </a:lvl8pPr>
            <a:lvl9pPr algn="l">
              <a:defRPr sz="2175" b="0">
                <a:solidFill>
                  <a:srgbClr val="5D6872"/>
                </a:solidFill>
                <a:latin typeface="Arial"/>
                <a:ea typeface="Arial"/>
                <a:cs typeface="Arial"/>
              </a:defRPr>
            </a:lvl9pPr>
          </a:lstStyle>
          <a:p>
            <a:pPr algn="l">
              <a:defRPr sz="2175" b="0">
                <a:solidFill>
                  <a:srgbClr val="5D6872"/>
                </a:solidFill>
                <a:latin typeface="Arial"/>
                <a:ea typeface="Arial"/>
                <a:cs typeface="Arial"/>
              </a:defRPr>
            </a:pPr>
            <a:r>
              <a:rPr lang="de-AT" sz="2175" b="0" noProof="0" dirty="0">
                <a:solidFill>
                  <a:srgbClr val="5D6872"/>
                </a:solidFill>
                <a:latin typeface="Arial"/>
                <a:ea typeface="Arial"/>
                <a:cs typeface="Arial"/>
              </a:rPr>
              <a:t>Eine Untersuchung an einem Spring Demo-System</a:t>
            </a:r>
          </a:p>
        </p:txBody>
      </p:sp>
      <p:sp>
        <p:nvSpPr>
          <p:cNvPr id="4" name="Gerader Verbinder 3">
            <a:extLst>
              <a:ext uri="{FF2B5EF4-FFF2-40B4-BE49-F238E27FC236}">
                <a16:creationId xmlns:a16="http://schemas.microsoft.com/office/drawing/2014/main" id="{AFCBC19C-0135-451F-8851-440B3D9E74DB}"/>
              </a:ext>
            </a:extLst>
          </p:cNvPr>
          <p:cNvSpPr>
            <a:spLocks noGrp="1"/>
          </p:cNvSpPr>
          <p:nvPr/>
        </p:nvSpPr>
        <p:spPr>
          <a:xfrm>
            <a:off x="1085850" y="4276725"/>
            <a:ext cx="9334500" cy="0"/>
          </a:xfrm>
          <a:prstGeom prst="line">
            <a:avLst/>
          </a:prstGeom>
          <a:noFill/>
          <a:ln w="19050">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A17753B3-C3C5-4559-AD2E-19C7E94E246E}"/>
              </a:ext>
            </a:extLst>
          </p:cNvPr>
          <p:cNvSpPr>
            <a:spLocks noGrp="1"/>
          </p:cNvSpPr>
          <p:nvPr/>
        </p:nvSpPr>
        <p:spPr>
          <a:xfrm>
            <a:off x="1085850" y="4552950"/>
            <a:ext cx="9525000" cy="438150"/>
          </a:xfrm>
          <a:prstGeom prst="rect">
            <a:avLst/>
          </a:prstGeom>
          <a:noFill/>
          <a:ln w="0">
            <a:noFill/>
            <a:prstDash val="solid"/>
          </a:ln>
        </p:spPr>
        <p:txBody>
          <a:bodyPr wrap="square" lIns="0" tIns="0" rIns="0" bIns="0" anchor="ctr">
            <a:normAutofit/>
          </a:bodyPr>
          <a:lstStyle>
            <a:defPPr algn="l">
              <a:defRPr sz="1800" b="1">
                <a:solidFill>
                  <a:srgbClr val="C55A2B"/>
                </a:solidFill>
                <a:latin typeface="Arial"/>
                <a:ea typeface="Arial"/>
                <a:cs typeface="Arial"/>
              </a:defRPr>
            </a:defPPr>
            <a:lvl1pPr algn="l">
              <a:defRPr sz="1800" b="1">
                <a:solidFill>
                  <a:srgbClr val="C55A2B"/>
                </a:solidFill>
                <a:latin typeface="Arial"/>
                <a:ea typeface="Arial"/>
                <a:cs typeface="Arial"/>
              </a:defRPr>
            </a:lvl1pPr>
            <a:lvl2pPr algn="l">
              <a:defRPr sz="1800" b="1">
                <a:solidFill>
                  <a:srgbClr val="C55A2B"/>
                </a:solidFill>
                <a:latin typeface="Arial"/>
                <a:ea typeface="Arial"/>
                <a:cs typeface="Arial"/>
              </a:defRPr>
            </a:lvl2pPr>
            <a:lvl3pPr algn="l">
              <a:defRPr sz="1800" b="1">
                <a:solidFill>
                  <a:srgbClr val="C55A2B"/>
                </a:solidFill>
                <a:latin typeface="Arial"/>
                <a:ea typeface="Arial"/>
                <a:cs typeface="Arial"/>
              </a:defRPr>
            </a:lvl3pPr>
            <a:lvl4pPr algn="l">
              <a:defRPr sz="1800" b="1">
                <a:solidFill>
                  <a:srgbClr val="C55A2B"/>
                </a:solidFill>
                <a:latin typeface="Arial"/>
                <a:ea typeface="Arial"/>
                <a:cs typeface="Arial"/>
              </a:defRPr>
            </a:lvl4pPr>
            <a:lvl5pPr algn="l">
              <a:defRPr sz="1800" b="1">
                <a:solidFill>
                  <a:srgbClr val="C55A2B"/>
                </a:solidFill>
                <a:latin typeface="Arial"/>
                <a:ea typeface="Arial"/>
                <a:cs typeface="Arial"/>
              </a:defRPr>
            </a:lvl5pPr>
            <a:lvl6pPr algn="l">
              <a:defRPr sz="1800" b="1">
                <a:solidFill>
                  <a:srgbClr val="C55A2B"/>
                </a:solidFill>
                <a:latin typeface="Arial"/>
                <a:ea typeface="Arial"/>
                <a:cs typeface="Arial"/>
              </a:defRPr>
            </a:lvl6pPr>
            <a:lvl7pPr algn="l">
              <a:defRPr sz="1800" b="1">
                <a:solidFill>
                  <a:srgbClr val="C55A2B"/>
                </a:solidFill>
                <a:latin typeface="Arial"/>
                <a:ea typeface="Arial"/>
                <a:cs typeface="Arial"/>
              </a:defRPr>
            </a:lvl7pPr>
            <a:lvl8pPr algn="l">
              <a:defRPr sz="1800" b="1">
                <a:solidFill>
                  <a:srgbClr val="C55A2B"/>
                </a:solidFill>
                <a:latin typeface="Arial"/>
                <a:ea typeface="Arial"/>
                <a:cs typeface="Arial"/>
              </a:defRPr>
            </a:lvl8pPr>
            <a:lvl9pPr algn="l">
              <a:defRPr sz="1800" b="1">
                <a:solidFill>
                  <a:srgbClr val="C55A2B"/>
                </a:solidFill>
                <a:latin typeface="Arial"/>
                <a:ea typeface="Arial"/>
                <a:cs typeface="Arial"/>
              </a:defRPr>
            </a:lvl9pPr>
          </a:lstStyle>
          <a:p>
            <a:pPr algn="l">
              <a:defRPr sz="1800" b="1">
                <a:solidFill>
                  <a:srgbClr val="C55A2B"/>
                </a:solidFill>
                <a:latin typeface="Arial"/>
                <a:ea typeface="Arial"/>
                <a:cs typeface="Arial"/>
              </a:defRPr>
            </a:pPr>
            <a:r>
              <a:rPr lang="de-AT" sz="1800" b="1" noProof="0" dirty="0" err="1">
                <a:solidFill>
                  <a:srgbClr val="C55A2B"/>
                </a:solidFill>
                <a:latin typeface="Arial"/>
                <a:ea typeface="Arial"/>
                <a:cs typeface="Arial"/>
              </a:rPr>
              <a:t>Dependencies</a:t>
            </a:r>
            <a:r>
              <a:rPr lang="de-AT" sz="1800" b="1" noProof="0" dirty="0">
                <a:solidFill>
                  <a:srgbClr val="C55A2B"/>
                </a:solidFill>
                <a:latin typeface="Arial"/>
                <a:ea typeface="Arial"/>
                <a:cs typeface="Arial"/>
              </a:rPr>
              <a:t> · Trust </a:t>
            </a:r>
            <a:r>
              <a:rPr lang="de-AT" sz="1800" b="1" noProof="0" dirty="0" err="1">
                <a:solidFill>
                  <a:srgbClr val="C55A2B"/>
                </a:solidFill>
                <a:latin typeface="Arial"/>
                <a:ea typeface="Arial"/>
                <a:cs typeface="Arial"/>
              </a:rPr>
              <a:t>Boundaries</a:t>
            </a:r>
            <a:r>
              <a:rPr lang="de-AT" sz="1800" b="1" noProof="0" dirty="0">
                <a:solidFill>
                  <a:srgbClr val="C55A2B"/>
                </a:solidFill>
                <a:latin typeface="Arial"/>
                <a:ea typeface="Arial"/>
                <a:cs typeface="Arial"/>
              </a:rPr>
              <a:t> · Live Demos</a:t>
            </a:r>
          </a:p>
        </p:txBody>
      </p:sp>
    </p:spTree>
    <p:extLst>
      <p:ext uri="{BB962C8B-B14F-4D97-AF65-F5344CB8AC3E}">
        <p14:creationId xmlns:p14="http://schemas.microsoft.com/office/powerpoint/2010/main" val="697935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2" name="Rechteck 21">
            <a:extLst>
              <a:ext uri="{FF2B5EF4-FFF2-40B4-BE49-F238E27FC236}">
                <a16:creationId xmlns:a16="http://schemas.microsoft.com/office/drawing/2014/main" id="{4A6622B5-27B3-44CF-A26A-8933CFD4126F}"/>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257E10DE-5643-44B7-9C20-D6E7AB8EB046}"/>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Warum Updates wichtig sind</a:t>
            </a:r>
          </a:p>
        </p:txBody>
      </p:sp>
      <p:sp>
        <p:nvSpPr>
          <p:cNvPr id="3" name="Rechteck 2">
            <a:extLst>
              <a:ext uri="{FF2B5EF4-FFF2-40B4-BE49-F238E27FC236}">
                <a16:creationId xmlns:a16="http://schemas.microsoft.com/office/drawing/2014/main" id="{99E73F6F-B3C5-44AC-A8F6-BEC9E1F9761D}"/>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152F9BC0-0606-49ED-AD17-1B2E9D53057B}"/>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953973C4-F69B-43D8-8FBC-F1A983EAACF3}"/>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02</a:t>
            </a:r>
          </a:p>
        </p:txBody>
      </p:sp>
      <p:sp>
        <p:nvSpPr>
          <p:cNvPr id="6" name="Rechteck 5">
            <a:extLst>
              <a:ext uri="{FF2B5EF4-FFF2-40B4-BE49-F238E27FC236}">
                <a16:creationId xmlns:a16="http://schemas.microsoft.com/office/drawing/2014/main" id="{A70A8151-D2ED-4F3F-A7CB-E3631077E2A4}"/>
              </a:ext>
            </a:extLst>
          </p:cNvPr>
          <p:cNvSpPr>
            <a:spLocks noGrp="1"/>
          </p:cNvSpPr>
          <p:nvPr/>
        </p:nvSpPr>
        <p:spPr>
          <a:xfrm>
            <a:off x="685800" y="1447800"/>
            <a:ext cx="9715500" cy="581025"/>
          </a:xfrm>
          <a:prstGeom prst="rect">
            <a:avLst/>
          </a:prstGeom>
          <a:noFill/>
          <a:ln w="0">
            <a:noFill/>
            <a:prstDash val="solid"/>
          </a:ln>
        </p:spPr>
        <p:txBody>
          <a:bodyPr wrap="square" lIns="0" tIns="0" rIns="0" bIns="0" anchor="ctr">
            <a:normAutofit/>
          </a:bodyPr>
          <a:lstStyle>
            <a:defPPr algn="l">
              <a:defRPr sz="2250" b="1">
                <a:solidFill>
                  <a:srgbClr val="202935"/>
                </a:solidFill>
                <a:latin typeface="Arial"/>
                <a:ea typeface="Arial"/>
                <a:cs typeface="Arial"/>
              </a:defRPr>
            </a:defPPr>
            <a:lvl1pPr algn="l">
              <a:defRPr sz="2250" b="1">
                <a:solidFill>
                  <a:srgbClr val="202935"/>
                </a:solidFill>
                <a:latin typeface="Arial"/>
                <a:ea typeface="Arial"/>
                <a:cs typeface="Arial"/>
              </a:defRPr>
            </a:lvl1pPr>
            <a:lvl2pPr algn="l">
              <a:defRPr sz="2250" b="1">
                <a:solidFill>
                  <a:srgbClr val="202935"/>
                </a:solidFill>
                <a:latin typeface="Arial"/>
                <a:ea typeface="Arial"/>
                <a:cs typeface="Arial"/>
              </a:defRPr>
            </a:lvl2pPr>
            <a:lvl3pPr algn="l">
              <a:defRPr sz="2250" b="1">
                <a:solidFill>
                  <a:srgbClr val="202935"/>
                </a:solidFill>
                <a:latin typeface="Arial"/>
                <a:ea typeface="Arial"/>
                <a:cs typeface="Arial"/>
              </a:defRPr>
            </a:lvl3pPr>
            <a:lvl4pPr algn="l">
              <a:defRPr sz="2250" b="1">
                <a:solidFill>
                  <a:srgbClr val="202935"/>
                </a:solidFill>
                <a:latin typeface="Arial"/>
                <a:ea typeface="Arial"/>
                <a:cs typeface="Arial"/>
              </a:defRPr>
            </a:lvl4pPr>
            <a:lvl5pPr algn="l">
              <a:defRPr sz="2250" b="1">
                <a:solidFill>
                  <a:srgbClr val="202935"/>
                </a:solidFill>
                <a:latin typeface="Arial"/>
                <a:ea typeface="Arial"/>
                <a:cs typeface="Arial"/>
              </a:defRPr>
            </a:lvl5pPr>
            <a:lvl6pPr algn="l">
              <a:defRPr sz="2250" b="1">
                <a:solidFill>
                  <a:srgbClr val="202935"/>
                </a:solidFill>
                <a:latin typeface="Arial"/>
                <a:ea typeface="Arial"/>
                <a:cs typeface="Arial"/>
              </a:defRPr>
            </a:lvl6pPr>
            <a:lvl7pPr algn="l">
              <a:defRPr sz="2250" b="1">
                <a:solidFill>
                  <a:srgbClr val="202935"/>
                </a:solidFill>
                <a:latin typeface="Arial"/>
                <a:ea typeface="Arial"/>
                <a:cs typeface="Arial"/>
              </a:defRPr>
            </a:lvl7pPr>
            <a:lvl8pPr algn="l">
              <a:defRPr sz="2250" b="1">
                <a:solidFill>
                  <a:srgbClr val="202935"/>
                </a:solidFill>
                <a:latin typeface="Arial"/>
                <a:ea typeface="Arial"/>
                <a:cs typeface="Arial"/>
              </a:defRPr>
            </a:lvl8pPr>
            <a:lvl9pPr algn="l">
              <a:defRPr sz="2250" b="1">
                <a:solidFill>
                  <a:srgbClr val="202935"/>
                </a:solidFill>
                <a:latin typeface="Arial"/>
                <a:ea typeface="Arial"/>
                <a:cs typeface="Arial"/>
              </a:defRPr>
            </a:lvl9pPr>
          </a:lstStyle>
          <a:p>
            <a:pPr algn="l">
              <a:defRPr sz="2250" b="1">
                <a:solidFill>
                  <a:srgbClr val="202935"/>
                </a:solidFill>
                <a:latin typeface="Arial"/>
                <a:ea typeface="Arial"/>
                <a:cs typeface="Arial"/>
              </a:defRPr>
            </a:pPr>
            <a:r>
              <a:rPr lang="de-AT" sz="2250" b="1" noProof="0" dirty="0">
                <a:solidFill>
                  <a:srgbClr val="202935"/>
                </a:solidFill>
                <a:latin typeface="Arial"/>
                <a:ea typeface="Arial"/>
                <a:cs typeface="Arial"/>
              </a:rPr>
              <a:t>Auch unveränderter Anwendungscode kann neue Risiken haben.</a:t>
            </a:r>
          </a:p>
        </p:txBody>
      </p:sp>
      <p:sp>
        <p:nvSpPr>
          <p:cNvPr id="7" name="Gerader Verbinder 6">
            <a:extLst>
              <a:ext uri="{FF2B5EF4-FFF2-40B4-BE49-F238E27FC236}">
                <a16:creationId xmlns:a16="http://schemas.microsoft.com/office/drawing/2014/main" id="{ABD15333-AD4E-46F1-9344-BCB8B1A80687}"/>
              </a:ext>
            </a:extLst>
          </p:cNvPr>
          <p:cNvSpPr>
            <a:spLocks noGrp="1"/>
          </p:cNvSpPr>
          <p:nvPr/>
        </p:nvSpPr>
        <p:spPr>
          <a:xfrm>
            <a:off x="685800" y="2286000"/>
            <a:ext cx="10810875" cy="0"/>
          </a:xfrm>
          <a:prstGeom prst="line">
            <a:avLst/>
          </a:prstGeom>
          <a:noFill/>
          <a:ln w="19050">
            <a:solidFill>
              <a:srgbClr val="D6D4CD"/>
            </a:solidFill>
            <a:prstDash val="solid"/>
          </a:ln>
        </p:spPr>
        <p:txBody>
          <a:bodyPr/>
          <a:lstStyle/>
          <a:p>
            <a:endParaRPr lang="de-AT" noProof="0" dirty="0"/>
          </a:p>
        </p:txBody>
      </p:sp>
      <p:sp>
        <p:nvSpPr>
          <p:cNvPr id="8" name="Rechteck 7">
            <a:extLst>
              <a:ext uri="{FF2B5EF4-FFF2-40B4-BE49-F238E27FC236}">
                <a16:creationId xmlns:a16="http://schemas.microsoft.com/office/drawing/2014/main" id="{87A24D1D-8342-4CEB-B39B-E4F9790EFA2A}"/>
              </a:ext>
            </a:extLst>
          </p:cNvPr>
          <p:cNvSpPr>
            <a:spLocks noGrp="1"/>
          </p:cNvSpPr>
          <p:nvPr/>
        </p:nvSpPr>
        <p:spPr>
          <a:xfrm>
            <a:off x="685800" y="2581275"/>
            <a:ext cx="3905250" cy="257175"/>
          </a:xfrm>
          <a:prstGeom prst="rect">
            <a:avLst/>
          </a:prstGeom>
          <a:noFill/>
          <a:ln w="0">
            <a:noFill/>
            <a:prstDash val="solid"/>
          </a:ln>
        </p:spPr>
        <p:txBody>
          <a:bodyPr wrap="square" lIns="0" tIns="0" rIns="0" bIns="0" anchor="ctr">
            <a:normAutofit/>
          </a:bodyPr>
          <a:lstStyle>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a:pPr algn="l">
              <a:defRPr sz="1125" b="1">
                <a:solidFill>
                  <a:srgbClr val="C55A2B"/>
                </a:solidFill>
                <a:latin typeface="Arial"/>
                <a:ea typeface="Arial"/>
                <a:cs typeface="Arial"/>
              </a:defRPr>
            </a:pPr>
            <a:r>
              <a:rPr lang="de-AT" sz="1125" b="1" noProof="0" dirty="0">
                <a:solidFill>
                  <a:srgbClr val="C55A2B"/>
                </a:solidFill>
                <a:latin typeface="Arial"/>
                <a:ea typeface="Arial"/>
                <a:cs typeface="Arial"/>
              </a:rPr>
              <a:t>WAS SICH ÄNDERN KANN</a:t>
            </a:r>
          </a:p>
        </p:txBody>
      </p:sp>
      <p:sp>
        <p:nvSpPr>
          <p:cNvPr id="9" name="Rechteck 8">
            <a:extLst>
              <a:ext uri="{FF2B5EF4-FFF2-40B4-BE49-F238E27FC236}">
                <a16:creationId xmlns:a16="http://schemas.microsoft.com/office/drawing/2014/main" id="{06CF047F-0F7F-40A4-9A50-9BEE358CAC18}"/>
              </a:ext>
            </a:extLst>
          </p:cNvPr>
          <p:cNvSpPr>
            <a:spLocks noGrp="1"/>
          </p:cNvSpPr>
          <p:nvPr/>
        </p:nvSpPr>
        <p:spPr>
          <a:xfrm>
            <a:off x="685800" y="3124200"/>
            <a:ext cx="66675" cy="66675"/>
          </a:xfrm>
          <a:prstGeom prst="rect">
            <a:avLst/>
          </a:prstGeom>
          <a:solidFill>
            <a:srgbClr val="C55A2B"/>
          </a:solidFill>
          <a:ln w="0">
            <a:noFill/>
            <a:prstDash val="solid"/>
          </a:ln>
        </p:spPr>
        <p:txBody>
          <a:bodyPr/>
          <a:lstStyle/>
          <a:p>
            <a:endParaRPr lang="de-AT" noProof="0" dirty="0"/>
          </a:p>
        </p:txBody>
      </p:sp>
      <p:sp>
        <p:nvSpPr>
          <p:cNvPr id="10" name="Rechteck 9">
            <a:extLst>
              <a:ext uri="{FF2B5EF4-FFF2-40B4-BE49-F238E27FC236}">
                <a16:creationId xmlns:a16="http://schemas.microsoft.com/office/drawing/2014/main" id="{AF79AEF5-BF4E-41D8-8832-FB3B0A84A264}"/>
              </a:ext>
            </a:extLst>
          </p:cNvPr>
          <p:cNvSpPr>
            <a:spLocks noGrp="1"/>
          </p:cNvSpPr>
          <p:nvPr/>
        </p:nvSpPr>
        <p:spPr>
          <a:xfrm>
            <a:off x="885825" y="2981325"/>
            <a:ext cx="4610100" cy="638175"/>
          </a:xfrm>
          <a:prstGeom prst="rect">
            <a:avLst/>
          </a:prstGeom>
          <a:noFill/>
          <a:ln w="0">
            <a:noFill/>
            <a:prstDash val="solid"/>
          </a:ln>
        </p:spPr>
        <p:txBody>
          <a:bodyPr wrap="square" lIns="0" tIns="0" rIns="0" bIns="0" anchor="ctr">
            <a:normAutofit/>
          </a:bodyPr>
          <a:lstStyle>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a:pPr algn="l">
              <a:defRPr sz="1875" b="0">
                <a:solidFill>
                  <a:srgbClr val="202935"/>
                </a:solidFill>
                <a:latin typeface="Arial"/>
                <a:ea typeface="Arial"/>
                <a:cs typeface="Arial"/>
              </a:defRPr>
            </a:pPr>
            <a:r>
              <a:rPr lang="de-AT" sz="1875" b="0" noProof="0" dirty="0">
                <a:solidFill>
                  <a:srgbClr val="202935"/>
                </a:solidFill>
                <a:latin typeface="Arial"/>
                <a:ea typeface="Arial"/>
                <a:cs typeface="Arial"/>
              </a:rPr>
              <a:t>Neue Schwachstelle in einer Library</a:t>
            </a:r>
          </a:p>
        </p:txBody>
      </p:sp>
      <p:sp>
        <p:nvSpPr>
          <p:cNvPr id="11" name="Rechteck 10">
            <a:extLst>
              <a:ext uri="{FF2B5EF4-FFF2-40B4-BE49-F238E27FC236}">
                <a16:creationId xmlns:a16="http://schemas.microsoft.com/office/drawing/2014/main" id="{3D56275F-6C27-4946-8586-944AFF36B8D2}"/>
              </a:ext>
            </a:extLst>
          </p:cNvPr>
          <p:cNvSpPr>
            <a:spLocks noGrp="1"/>
          </p:cNvSpPr>
          <p:nvPr/>
        </p:nvSpPr>
        <p:spPr>
          <a:xfrm>
            <a:off x="685800" y="3838575"/>
            <a:ext cx="66675" cy="66675"/>
          </a:xfrm>
          <a:prstGeom prst="rect">
            <a:avLst/>
          </a:prstGeom>
          <a:solidFill>
            <a:srgbClr val="C55A2B"/>
          </a:solidFill>
          <a:ln w="0">
            <a:noFill/>
            <a:prstDash val="solid"/>
          </a:ln>
        </p:spPr>
        <p:txBody>
          <a:bodyPr/>
          <a:lstStyle/>
          <a:p>
            <a:endParaRPr lang="de-AT" noProof="0" dirty="0"/>
          </a:p>
        </p:txBody>
      </p:sp>
      <p:sp>
        <p:nvSpPr>
          <p:cNvPr id="12" name="Rechteck 11">
            <a:extLst>
              <a:ext uri="{FF2B5EF4-FFF2-40B4-BE49-F238E27FC236}">
                <a16:creationId xmlns:a16="http://schemas.microsoft.com/office/drawing/2014/main" id="{A6B17F1D-CB0A-40D8-AA25-8BABBE845447}"/>
              </a:ext>
            </a:extLst>
          </p:cNvPr>
          <p:cNvSpPr>
            <a:spLocks noGrp="1"/>
          </p:cNvSpPr>
          <p:nvPr/>
        </p:nvSpPr>
        <p:spPr>
          <a:xfrm>
            <a:off x="885825" y="3695700"/>
            <a:ext cx="4610100" cy="638175"/>
          </a:xfrm>
          <a:prstGeom prst="rect">
            <a:avLst/>
          </a:prstGeom>
          <a:noFill/>
          <a:ln w="0">
            <a:noFill/>
            <a:prstDash val="solid"/>
          </a:ln>
        </p:spPr>
        <p:txBody>
          <a:bodyPr wrap="square" lIns="0" tIns="0" rIns="0" bIns="0" anchor="ctr">
            <a:normAutofit/>
          </a:bodyPr>
          <a:lstStyle>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a:pPr algn="l">
              <a:defRPr sz="1875" b="0">
                <a:solidFill>
                  <a:srgbClr val="202935"/>
                </a:solidFill>
                <a:latin typeface="Arial"/>
                <a:ea typeface="Arial"/>
                <a:cs typeface="Arial"/>
              </a:defRPr>
            </a:pPr>
            <a:r>
              <a:rPr lang="de-AT" sz="1875" b="0" noProof="0" dirty="0">
                <a:solidFill>
                  <a:srgbClr val="202935"/>
                </a:solidFill>
                <a:latin typeface="Arial"/>
                <a:ea typeface="Arial"/>
                <a:cs typeface="Arial"/>
              </a:rPr>
              <a:t>Fehler in Framework oder </a:t>
            </a:r>
            <a:r>
              <a:rPr lang="de-AT" sz="1875" b="0" noProof="0" dirty="0" err="1">
                <a:solidFill>
                  <a:srgbClr val="202935"/>
                </a:solidFill>
                <a:latin typeface="Arial"/>
                <a:ea typeface="Arial"/>
                <a:cs typeface="Arial"/>
              </a:rPr>
              <a:t>Runtime</a:t>
            </a:r>
            <a:endParaRPr lang="de-AT" sz="1875" b="0" noProof="0" dirty="0">
              <a:solidFill>
                <a:srgbClr val="202935"/>
              </a:solidFill>
              <a:latin typeface="Arial"/>
              <a:ea typeface="Arial"/>
              <a:cs typeface="Arial"/>
            </a:endParaRPr>
          </a:p>
        </p:txBody>
      </p:sp>
      <p:sp>
        <p:nvSpPr>
          <p:cNvPr id="13" name="Rechteck 12">
            <a:extLst>
              <a:ext uri="{FF2B5EF4-FFF2-40B4-BE49-F238E27FC236}">
                <a16:creationId xmlns:a16="http://schemas.microsoft.com/office/drawing/2014/main" id="{6E3F0F1A-598E-4EC6-B7D5-9CA9500D3EE9}"/>
              </a:ext>
            </a:extLst>
          </p:cNvPr>
          <p:cNvSpPr>
            <a:spLocks noGrp="1"/>
          </p:cNvSpPr>
          <p:nvPr/>
        </p:nvSpPr>
        <p:spPr>
          <a:xfrm>
            <a:off x="685800" y="4552950"/>
            <a:ext cx="66675" cy="66675"/>
          </a:xfrm>
          <a:prstGeom prst="rect">
            <a:avLst/>
          </a:prstGeom>
          <a:solidFill>
            <a:srgbClr val="C55A2B"/>
          </a:solidFill>
          <a:ln w="0">
            <a:noFill/>
            <a:prstDash val="solid"/>
          </a:ln>
        </p:spPr>
        <p:txBody>
          <a:bodyPr/>
          <a:lstStyle/>
          <a:p>
            <a:endParaRPr lang="de-AT" noProof="0" dirty="0"/>
          </a:p>
        </p:txBody>
      </p:sp>
      <p:sp>
        <p:nvSpPr>
          <p:cNvPr id="14" name="Rechteck 13">
            <a:extLst>
              <a:ext uri="{FF2B5EF4-FFF2-40B4-BE49-F238E27FC236}">
                <a16:creationId xmlns:a16="http://schemas.microsoft.com/office/drawing/2014/main" id="{B42FFE07-7F90-4047-B911-915E0F95F909}"/>
              </a:ext>
            </a:extLst>
          </p:cNvPr>
          <p:cNvSpPr>
            <a:spLocks noGrp="1"/>
          </p:cNvSpPr>
          <p:nvPr/>
        </p:nvSpPr>
        <p:spPr>
          <a:xfrm>
            <a:off x="885825" y="4410075"/>
            <a:ext cx="4610100" cy="638175"/>
          </a:xfrm>
          <a:prstGeom prst="rect">
            <a:avLst/>
          </a:prstGeom>
          <a:noFill/>
          <a:ln w="0">
            <a:noFill/>
            <a:prstDash val="solid"/>
          </a:ln>
        </p:spPr>
        <p:txBody>
          <a:bodyPr wrap="square" lIns="0" tIns="0" rIns="0" bIns="0" anchor="ctr">
            <a:normAutofit/>
          </a:bodyPr>
          <a:lstStyle>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a:pPr algn="l">
              <a:defRPr sz="1875" b="0">
                <a:solidFill>
                  <a:srgbClr val="202935"/>
                </a:solidFill>
                <a:latin typeface="Arial"/>
                <a:ea typeface="Arial"/>
                <a:cs typeface="Arial"/>
              </a:defRPr>
            </a:pPr>
            <a:r>
              <a:rPr lang="de-AT" sz="1875" b="0" noProof="0" dirty="0">
                <a:solidFill>
                  <a:srgbClr val="202935"/>
                </a:solidFill>
                <a:latin typeface="Arial"/>
                <a:ea typeface="Arial"/>
                <a:cs typeface="Arial"/>
              </a:rPr>
              <a:t>Öffentlich erreichbare Funktion</a:t>
            </a:r>
          </a:p>
        </p:txBody>
      </p:sp>
      <p:sp>
        <p:nvSpPr>
          <p:cNvPr id="15" name="Rechteck 14">
            <a:extLst>
              <a:ext uri="{FF2B5EF4-FFF2-40B4-BE49-F238E27FC236}">
                <a16:creationId xmlns:a16="http://schemas.microsoft.com/office/drawing/2014/main" id="{5F57C11D-12F5-4667-8855-CA34A7EE03F5}"/>
              </a:ext>
            </a:extLst>
          </p:cNvPr>
          <p:cNvSpPr>
            <a:spLocks noGrp="1"/>
          </p:cNvSpPr>
          <p:nvPr/>
        </p:nvSpPr>
        <p:spPr>
          <a:xfrm>
            <a:off x="6334125" y="2581275"/>
            <a:ext cx="4476750" cy="257175"/>
          </a:xfrm>
          <a:prstGeom prst="rect">
            <a:avLst/>
          </a:prstGeom>
          <a:noFill/>
          <a:ln w="0">
            <a:noFill/>
            <a:prstDash val="solid"/>
          </a:ln>
        </p:spPr>
        <p:txBody>
          <a:bodyPr wrap="square" lIns="0" tIns="0" rIns="0" bIns="0" anchor="ctr">
            <a:normAutofit/>
          </a:bodyPr>
          <a:lstStyle>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a:pPr algn="l">
              <a:defRPr sz="1125" b="1">
                <a:solidFill>
                  <a:srgbClr val="C55A2B"/>
                </a:solidFill>
                <a:latin typeface="Arial"/>
                <a:ea typeface="Arial"/>
                <a:cs typeface="Arial"/>
              </a:defRPr>
            </a:pPr>
            <a:r>
              <a:rPr lang="de-AT" sz="1125" b="1" noProof="0" dirty="0">
                <a:solidFill>
                  <a:srgbClr val="C55A2B"/>
                </a:solidFill>
                <a:latin typeface="Arial"/>
                <a:ea typeface="Arial"/>
                <a:cs typeface="Arial"/>
              </a:rPr>
              <a:t>WAS WIR PRÜFEN MÜSSEN</a:t>
            </a:r>
          </a:p>
        </p:txBody>
      </p:sp>
      <p:sp>
        <p:nvSpPr>
          <p:cNvPr id="16" name="Rechteck 15">
            <a:extLst>
              <a:ext uri="{FF2B5EF4-FFF2-40B4-BE49-F238E27FC236}">
                <a16:creationId xmlns:a16="http://schemas.microsoft.com/office/drawing/2014/main" id="{23E58C8F-2A5E-4F67-8BEE-74F733D6B25A}"/>
              </a:ext>
            </a:extLst>
          </p:cNvPr>
          <p:cNvSpPr>
            <a:spLocks noGrp="1"/>
          </p:cNvSpPr>
          <p:nvPr/>
        </p:nvSpPr>
        <p:spPr>
          <a:xfrm>
            <a:off x="6334125" y="3124200"/>
            <a:ext cx="66675" cy="66675"/>
          </a:xfrm>
          <a:prstGeom prst="rect">
            <a:avLst/>
          </a:prstGeom>
          <a:solidFill>
            <a:srgbClr val="C55A2B"/>
          </a:solidFill>
          <a:ln w="0">
            <a:noFill/>
            <a:prstDash val="solid"/>
          </a:ln>
        </p:spPr>
        <p:txBody>
          <a:bodyPr/>
          <a:lstStyle/>
          <a:p>
            <a:endParaRPr lang="de-AT" noProof="0" dirty="0"/>
          </a:p>
        </p:txBody>
      </p:sp>
      <p:sp>
        <p:nvSpPr>
          <p:cNvPr id="17" name="Rechteck 16">
            <a:extLst>
              <a:ext uri="{FF2B5EF4-FFF2-40B4-BE49-F238E27FC236}">
                <a16:creationId xmlns:a16="http://schemas.microsoft.com/office/drawing/2014/main" id="{26401598-230E-4D9C-B21E-FAE39481C801}"/>
              </a:ext>
            </a:extLst>
          </p:cNvPr>
          <p:cNvSpPr>
            <a:spLocks noGrp="1"/>
          </p:cNvSpPr>
          <p:nvPr/>
        </p:nvSpPr>
        <p:spPr>
          <a:xfrm>
            <a:off x="6534150" y="2981325"/>
            <a:ext cx="4848225" cy="638175"/>
          </a:xfrm>
          <a:prstGeom prst="rect">
            <a:avLst/>
          </a:prstGeom>
          <a:noFill/>
          <a:ln w="0">
            <a:noFill/>
            <a:prstDash val="solid"/>
          </a:ln>
        </p:spPr>
        <p:txBody>
          <a:bodyPr wrap="square" lIns="0" tIns="0" rIns="0" bIns="0" anchor="ctr">
            <a:normAutofit/>
          </a:bodyPr>
          <a:lstStyle>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a:pPr algn="l">
              <a:defRPr sz="1875" b="0">
                <a:solidFill>
                  <a:srgbClr val="202935"/>
                </a:solidFill>
                <a:latin typeface="Arial"/>
                <a:ea typeface="Arial"/>
                <a:cs typeface="Arial"/>
              </a:defRPr>
            </a:pPr>
            <a:r>
              <a:rPr lang="de-AT" sz="1875" b="0" noProof="0" dirty="0">
                <a:solidFill>
                  <a:srgbClr val="202935"/>
                </a:solidFill>
                <a:latin typeface="Arial"/>
                <a:ea typeface="Arial"/>
                <a:cs typeface="Arial"/>
              </a:rPr>
              <a:t>Welche Version läuft wirklich?</a:t>
            </a:r>
          </a:p>
        </p:txBody>
      </p:sp>
      <p:sp>
        <p:nvSpPr>
          <p:cNvPr id="18" name="Rechteck 17">
            <a:extLst>
              <a:ext uri="{FF2B5EF4-FFF2-40B4-BE49-F238E27FC236}">
                <a16:creationId xmlns:a16="http://schemas.microsoft.com/office/drawing/2014/main" id="{13417649-683E-4735-9267-5B908968D864}"/>
              </a:ext>
            </a:extLst>
          </p:cNvPr>
          <p:cNvSpPr>
            <a:spLocks noGrp="1"/>
          </p:cNvSpPr>
          <p:nvPr/>
        </p:nvSpPr>
        <p:spPr>
          <a:xfrm>
            <a:off x="6334125" y="3838575"/>
            <a:ext cx="66675" cy="66675"/>
          </a:xfrm>
          <a:prstGeom prst="rect">
            <a:avLst/>
          </a:prstGeom>
          <a:solidFill>
            <a:srgbClr val="C55A2B"/>
          </a:solidFill>
          <a:ln w="0">
            <a:noFill/>
            <a:prstDash val="solid"/>
          </a:ln>
        </p:spPr>
        <p:txBody>
          <a:bodyPr/>
          <a:lstStyle/>
          <a:p>
            <a:endParaRPr lang="de-AT" noProof="0" dirty="0"/>
          </a:p>
        </p:txBody>
      </p:sp>
      <p:sp>
        <p:nvSpPr>
          <p:cNvPr id="19" name="Rechteck 18">
            <a:extLst>
              <a:ext uri="{FF2B5EF4-FFF2-40B4-BE49-F238E27FC236}">
                <a16:creationId xmlns:a16="http://schemas.microsoft.com/office/drawing/2014/main" id="{37AB368E-3F6B-45E3-B920-805B9C6A961F}"/>
              </a:ext>
            </a:extLst>
          </p:cNvPr>
          <p:cNvSpPr>
            <a:spLocks noGrp="1"/>
          </p:cNvSpPr>
          <p:nvPr/>
        </p:nvSpPr>
        <p:spPr>
          <a:xfrm>
            <a:off x="6534150" y="3695700"/>
            <a:ext cx="4848225" cy="638175"/>
          </a:xfrm>
          <a:prstGeom prst="rect">
            <a:avLst/>
          </a:prstGeom>
          <a:noFill/>
          <a:ln w="0">
            <a:noFill/>
            <a:prstDash val="solid"/>
          </a:ln>
        </p:spPr>
        <p:txBody>
          <a:bodyPr wrap="square" lIns="0" tIns="0" rIns="0" bIns="0" anchor="ctr">
            <a:normAutofit/>
          </a:bodyPr>
          <a:lstStyle>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a:pPr algn="l">
              <a:defRPr sz="1875" b="0">
                <a:solidFill>
                  <a:srgbClr val="202935"/>
                </a:solidFill>
                <a:latin typeface="Arial"/>
                <a:ea typeface="Arial"/>
                <a:cs typeface="Arial"/>
              </a:defRPr>
            </a:pPr>
            <a:r>
              <a:rPr lang="de-AT" sz="1875" b="0" noProof="0" dirty="0">
                <a:solidFill>
                  <a:srgbClr val="202935"/>
                </a:solidFill>
                <a:latin typeface="Arial"/>
                <a:ea typeface="Arial"/>
                <a:cs typeface="Arial"/>
              </a:rPr>
              <a:t>Ist der betroffene Weg erreichbar?</a:t>
            </a:r>
          </a:p>
        </p:txBody>
      </p:sp>
      <p:sp>
        <p:nvSpPr>
          <p:cNvPr id="20" name="Rechteck 19">
            <a:extLst>
              <a:ext uri="{FF2B5EF4-FFF2-40B4-BE49-F238E27FC236}">
                <a16:creationId xmlns:a16="http://schemas.microsoft.com/office/drawing/2014/main" id="{691B977C-C768-4C46-B1E2-7960C1AC4348}"/>
              </a:ext>
            </a:extLst>
          </p:cNvPr>
          <p:cNvSpPr>
            <a:spLocks noGrp="1"/>
          </p:cNvSpPr>
          <p:nvPr/>
        </p:nvSpPr>
        <p:spPr>
          <a:xfrm>
            <a:off x="6334125" y="4552950"/>
            <a:ext cx="66675" cy="66675"/>
          </a:xfrm>
          <a:prstGeom prst="rect">
            <a:avLst/>
          </a:prstGeom>
          <a:solidFill>
            <a:srgbClr val="C55A2B"/>
          </a:solidFill>
          <a:ln w="0">
            <a:noFill/>
            <a:prstDash val="solid"/>
          </a:ln>
        </p:spPr>
        <p:txBody>
          <a:bodyPr/>
          <a:lstStyle/>
          <a:p>
            <a:endParaRPr lang="de-AT" noProof="0" dirty="0"/>
          </a:p>
        </p:txBody>
      </p:sp>
      <p:sp>
        <p:nvSpPr>
          <p:cNvPr id="21" name="Rechteck 20">
            <a:extLst>
              <a:ext uri="{FF2B5EF4-FFF2-40B4-BE49-F238E27FC236}">
                <a16:creationId xmlns:a16="http://schemas.microsoft.com/office/drawing/2014/main" id="{9B72AFA4-0765-49D5-9451-0F73E2988A68}"/>
              </a:ext>
            </a:extLst>
          </p:cNvPr>
          <p:cNvSpPr>
            <a:spLocks noGrp="1"/>
          </p:cNvSpPr>
          <p:nvPr/>
        </p:nvSpPr>
        <p:spPr>
          <a:xfrm>
            <a:off x="6534150" y="4410075"/>
            <a:ext cx="4848225" cy="638175"/>
          </a:xfrm>
          <a:prstGeom prst="rect">
            <a:avLst/>
          </a:prstGeom>
          <a:noFill/>
          <a:ln w="0">
            <a:noFill/>
            <a:prstDash val="solid"/>
          </a:ln>
        </p:spPr>
        <p:txBody>
          <a:bodyPr wrap="square" lIns="0" tIns="0" rIns="0" bIns="0" anchor="ctr">
            <a:normAutofit/>
          </a:bodyPr>
          <a:lstStyle>
            <a:defPPr algn="l">
              <a:defRPr sz="1875" b="0">
                <a:solidFill>
                  <a:srgbClr val="202935"/>
                </a:solidFill>
                <a:latin typeface="Arial"/>
                <a:ea typeface="Arial"/>
                <a:cs typeface="Arial"/>
              </a:defRPr>
            </a:defPPr>
            <a:lvl1pPr algn="l">
              <a:defRPr sz="1875" b="0">
                <a:solidFill>
                  <a:srgbClr val="202935"/>
                </a:solidFill>
                <a:latin typeface="Arial"/>
                <a:ea typeface="Arial"/>
                <a:cs typeface="Arial"/>
              </a:defRPr>
            </a:lvl1pPr>
            <a:lvl2pPr algn="l">
              <a:defRPr sz="1875" b="0">
                <a:solidFill>
                  <a:srgbClr val="202935"/>
                </a:solidFill>
                <a:latin typeface="Arial"/>
                <a:ea typeface="Arial"/>
                <a:cs typeface="Arial"/>
              </a:defRPr>
            </a:lvl2pPr>
            <a:lvl3pPr algn="l">
              <a:defRPr sz="1875" b="0">
                <a:solidFill>
                  <a:srgbClr val="202935"/>
                </a:solidFill>
                <a:latin typeface="Arial"/>
                <a:ea typeface="Arial"/>
                <a:cs typeface="Arial"/>
              </a:defRPr>
            </a:lvl3pPr>
            <a:lvl4pPr algn="l">
              <a:defRPr sz="1875" b="0">
                <a:solidFill>
                  <a:srgbClr val="202935"/>
                </a:solidFill>
                <a:latin typeface="Arial"/>
                <a:ea typeface="Arial"/>
                <a:cs typeface="Arial"/>
              </a:defRPr>
            </a:lvl4pPr>
            <a:lvl5pPr algn="l">
              <a:defRPr sz="1875" b="0">
                <a:solidFill>
                  <a:srgbClr val="202935"/>
                </a:solidFill>
                <a:latin typeface="Arial"/>
                <a:ea typeface="Arial"/>
                <a:cs typeface="Arial"/>
              </a:defRPr>
            </a:lvl5pPr>
            <a:lvl6pPr algn="l">
              <a:defRPr sz="1875" b="0">
                <a:solidFill>
                  <a:srgbClr val="202935"/>
                </a:solidFill>
                <a:latin typeface="Arial"/>
                <a:ea typeface="Arial"/>
                <a:cs typeface="Arial"/>
              </a:defRPr>
            </a:lvl6pPr>
            <a:lvl7pPr algn="l">
              <a:defRPr sz="1875" b="0">
                <a:solidFill>
                  <a:srgbClr val="202935"/>
                </a:solidFill>
                <a:latin typeface="Arial"/>
                <a:ea typeface="Arial"/>
                <a:cs typeface="Arial"/>
              </a:defRPr>
            </a:lvl7pPr>
            <a:lvl8pPr algn="l">
              <a:defRPr sz="1875" b="0">
                <a:solidFill>
                  <a:srgbClr val="202935"/>
                </a:solidFill>
                <a:latin typeface="Arial"/>
                <a:ea typeface="Arial"/>
                <a:cs typeface="Arial"/>
              </a:defRPr>
            </a:lvl8pPr>
            <a:lvl9pPr algn="l">
              <a:defRPr sz="1875" b="0">
                <a:solidFill>
                  <a:srgbClr val="202935"/>
                </a:solidFill>
                <a:latin typeface="Arial"/>
                <a:ea typeface="Arial"/>
                <a:cs typeface="Arial"/>
              </a:defRPr>
            </a:lvl9pPr>
          </a:lstStyle>
          <a:p>
            <a:pPr algn="l">
              <a:defRPr sz="1875" b="0">
                <a:solidFill>
                  <a:srgbClr val="202935"/>
                </a:solidFill>
                <a:latin typeface="Arial"/>
                <a:ea typeface="Arial"/>
                <a:cs typeface="Arial"/>
              </a:defRPr>
            </a:pPr>
            <a:r>
              <a:rPr lang="de-AT" sz="1875" b="0" noProof="0" dirty="0">
                <a:solidFill>
                  <a:srgbClr val="202935"/>
                </a:solidFill>
                <a:latin typeface="Arial"/>
                <a:ea typeface="Arial"/>
                <a:cs typeface="Arial"/>
              </a:rPr>
              <a:t>Wann können wir patchen?</a:t>
            </a:r>
          </a:p>
        </p:txBody>
      </p:sp>
    </p:spTree>
    <p:extLst>
      <p:ext uri="{BB962C8B-B14F-4D97-AF65-F5344CB8AC3E}">
        <p14:creationId xmlns:p14="http://schemas.microsoft.com/office/powerpoint/2010/main" val="19735457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6B4C7A22-2FA6-4C36-BC8D-33BF90EF0FC3}"/>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8882D69A-9317-4D19-B6C9-8510F6A40909}"/>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Ein aktuelles Beispiel: PHP</a:t>
            </a:r>
          </a:p>
        </p:txBody>
      </p:sp>
      <p:sp>
        <p:nvSpPr>
          <p:cNvPr id="3" name="Rechteck 2">
            <a:extLst>
              <a:ext uri="{FF2B5EF4-FFF2-40B4-BE49-F238E27FC236}">
                <a16:creationId xmlns:a16="http://schemas.microsoft.com/office/drawing/2014/main" id="{59E2E721-FC48-46A5-A45D-FB5522F460B2}"/>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86A0938B-5D3D-4CEB-B275-B9B67A8AA2DD}"/>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B0A85130-0210-41A4-ABB2-EA4491CD0B12}"/>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03</a:t>
            </a:r>
          </a:p>
        </p:txBody>
      </p:sp>
      <p:sp>
        <p:nvSpPr>
          <p:cNvPr id="6" name="Rechteck 5">
            <a:extLst>
              <a:ext uri="{FF2B5EF4-FFF2-40B4-BE49-F238E27FC236}">
                <a16:creationId xmlns:a16="http://schemas.microsoft.com/office/drawing/2014/main" id="{AE07AE07-E641-4925-BD3B-4D5C35BA75D3}"/>
              </a:ext>
            </a:extLst>
          </p:cNvPr>
          <p:cNvSpPr>
            <a:spLocks noGrp="1"/>
          </p:cNvSpPr>
          <p:nvPr/>
        </p:nvSpPr>
        <p:spPr>
          <a:xfrm>
            <a:off x="685800" y="1600200"/>
            <a:ext cx="4953000" cy="800100"/>
          </a:xfrm>
          <a:prstGeom prst="rect">
            <a:avLst/>
          </a:prstGeom>
          <a:noFill/>
          <a:ln w="0">
            <a:noFill/>
            <a:prstDash val="solid"/>
          </a:ln>
        </p:spPr>
        <p:txBody>
          <a:bodyPr wrap="square" lIns="0" tIns="0" rIns="0" bIns="0" anchor="ctr">
            <a:normAutofit/>
          </a:bodyPr>
          <a:lstStyle>
            <a:defPPr algn="l">
              <a:defRPr sz="2625" b="1">
                <a:solidFill>
                  <a:srgbClr val="C55A2B"/>
                </a:solidFill>
                <a:latin typeface="Arial"/>
                <a:ea typeface="Arial"/>
                <a:cs typeface="Arial"/>
              </a:defRPr>
            </a:defPPr>
            <a:lvl1pPr algn="l">
              <a:defRPr sz="2625" b="1">
                <a:solidFill>
                  <a:srgbClr val="C55A2B"/>
                </a:solidFill>
                <a:latin typeface="Arial"/>
                <a:ea typeface="Arial"/>
                <a:cs typeface="Arial"/>
              </a:defRPr>
            </a:lvl1pPr>
            <a:lvl2pPr algn="l">
              <a:defRPr sz="2625" b="1">
                <a:solidFill>
                  <a:srgbClr val="C55A2B"/>
                </a:solidFill>
                <a:latin typeface="Arial"/>
                <a:ea typeface="Arial"/>
                <a:cs typeface="Arial"/>
              </a:defRPr>
            </a:lvl2pPr>
            <a:lvl3pPr algn="l">
              <a:defRPr sz="2625" b="1">
                <a:solidFill>
                  <a:srgbClr val="C55A2B"/>
                </a:solidFill>
                <a:latin typeface="Arial"/>
                <a:ea typeface="Arial"/>
                <a:cs typeface="Arial"/>
              </a:defRPr>
            </a:lvl3pPr>
            <a:lvl4pPr algn="l">
              <a:defRPr sz="2625" b="1">
                <a:solidFill>
                  <a:srgbClr val="C55A2B"/>
                </a:solidFill>
                <a:latin typeface="Arial"/>
                <a:ea typeface="Arial"/>
                <a:cs typeface="Arial"/>
              </a:defRPr>
            </a:lvl4pPr>
            <a:lvl5pPr algn="l">
              <a:defRPr sz="2625" b="1">
                <a:solidFill>
                  <a:srgbClr val="C55A2B"/>
                </a:solidFill>
                <a:latin typeface="Arial"/>
                <a:ea typeface="Arial"/>
                <a:cs typeface="Arial"/>
              </a:defRPr>
            </a:lvl5pPr>
            <a:lvl6pPr algn="l">
              <a:defRPr sz="2625" b="1">
                <a:solidFill>
                  <a:srgbClr val="C55A2B"/>
                </a:solidFill>
                <a:latin typeface="Arial"/>
                <a:ea typeface="Arial"/>
                <a:cs typeface="Arial"/>
              </a:defRPr>
            </a:lvl6pPr>
            <a:lvl7pPr algn="l">
              <a:defRPr sz="2625" b="1">
                <a:solidFill>
                  <a:srgbClr val="C55A2B"/>
                </a:solidFill>
                <a:latin typeface="Arial"/>
                <a:ea typeface="Arial"/>
                <a:cs typeface="Arial"/>
              </a:defRPr>
            </a:lvl7pPr>
            <a:lvl8pPr algn="l">
              <a:defRPr sz="2625" b="1">
                <a:solidFill>
                  <a:srgbClr val="C55A2B"/>
                </a:solidFill>
                <a:latin typeface="Arial"/>
                <a:ea typeface="Arial"/>
                <a:cs typeface="Arial"/>
              </a:defRPr>
            </a:lvl8pPr>
            <a:lvl9pPr algn="l">
              <a:defRPr sz="2625" b="1">
                <a:solidFill>
                  <a:srgbClr val="C55A2B"/>
                </a:solidFill>
                <a:latin typeface="Arial"/>
                <a:ea typeface="Arial"/>
                <a:cs typeface="Arial"/>
              </a:defRPr>
            </a:lvl9pPr>
          </a:lstStyle>
          <a:p>
            <a:pPr algn="l">
              <a:defRPr sz="2625" b="1">
                <a:solidFill>
                  <a:srgbClr val="C55A2B"/>
                </a:solidFill>
                <a:latin typeface="Arial"/>
                <a:ea typeface="Arial"/>
                <a:cs typeface="Arial"/>
              </a:defRPr>
            </a:pPr>
            <a:r>
              <a:rPr lang="de-AT" sz="2625" b="1" noProof="0" dirty="0">
                <a:solidFill>
                  <a:srgbClr val="C55A2B"/>
                </a:solidFill>
                <a:latin typeface="Arial"/>
                <a:ea typeface="Arial"/>
                <a:cs typeface="Arial"/>
              </a:rPr>
              <a:t>21. Oktober 2026</a:t>
            </a:r>
          </a:p>
        </p:txBody>
      </p:sp>
      <p:sp>
        <p:nvSpPr>
          <p:cNvPr id="7" name="Rechteck 6">
            <a:extLst>
              <a:ext uri="{FF2B5EF4-FFF2-40B4-BE49-F238E27FC236}">
                <a16:creationId xmlns:a16="http://schemas.microsoft.com/office/drawing/2014/main" id="{2BBF9192-C8F3-4397-98FC-E2D0297FD780}"/>
              </a:ext>
            </a:extLst>
          </p:cNvPr>
          <p:cNvSpPr>
            <a:spLocks noGrp="1"/>
          </p:cNvSpPr>
          <p:nvPr/>
        </p:nvSpPr>
        <p:spPr>
          <a:xfrm>
            <a:off x="685800" y="2457450"/>
            <a:ext cx="4905375" cy="1190625"/>
          </a:xfrm>
          <a:prstGeom prst="rect">
            <a:avLst/>
          </a:prstGeom>
          <a:noFill/>
          <a:ln w="0">
            <a:noFill/>
            <a:prstDash val="solid"/>
          </a:ln>
        </p:spPr>
        <p:txBody>
          <a:bodyPr wrap="square" lIns="0" tIns="0" rIns="0" bIns="0" anchor="ctr">
            <a:normAutofit/>
          </a:bodyPr>
          <a:lstStyle>
            <a:defPPr algn="l">
              <a:defRPr sz="2325" b="1">
                <a:solidFill>
                  <a:srgbClr val="202935"/>
                </a:solidFill>
                <a:latin typeface="Arial"/>
                <a:ea typeface="Arial"/>
                <a:cs typeface="Arial"/>
              </a:defRPr>
            </a:defPPr>
            <a:lvl1pPr algn="l">
              <a:defRPr sz="2325" b="1">
                <a:solidFill>
                  <a:srgbClr val="202935"/>
                </a:solidFill>
                <a:latin typeface="Arial"/>
                <a:ea typeface="Arial"/>
                <a:cs typeface="Arial"/>
              </a:defRPr>
            </a:lvl1pPr>
            <a:lvl2pPr algn="l">
              <a:defRPr sz="2325" b="1">
                <a:solidFill>
                  <a:srgbClr val="202935"/>
                </a:solidFill>
                <a:latin typeface="Arial"/>
                <a:ea typeface="Arial"/>
                <a:cs typeface="Arial"/>
              </a:defRPr>
            </a:lvl2pPr>
            <a:lvl3pPr algn="l">
              <a:defRPr sz="2325" b="1">
                <a:solidFill>
                  <a:srgbClr val="202935"/>
                </a:solidFill>
                <a:latin typeface="Arial"/>
                <a:ea typeface="Arial"/>
                <a:cs typeface="Arial"/>
              </a:defRPr>
            </a:lvl3pPr>
            <a:lvl4pPr algn="l">
              <a:defRPr sz="2325" b="1">
                <a:solidFill>
                  <a:srgbClr val="202935"/>
                </a:solidFill>
                <a:latin typeface="Arial"/>
                <a:ea typeface="Arial"/>
                <a:cs typeface="Arial"/>
              </a:defRPr>
            </a:lvl4pPr>
            <a:lvl5pPr algn="l">
              <a:defRPr sz="2325" b="1">
                <a:solidFill>
                  <a:srgbClr val="202935"/>
                </a:solidFill>
                <a:latin typeface="Arial"/>
                <a:ea typeface="Arial"/>
                <a:cs typeface="Arial"/>
              </a:defRPr>
            </a:lvl5pPr>
            <a:lvl6pPr algn="l">
              <a:defRPr sz="2325" b="1">
                <a:solidFill>
                  <a:srgbClr val="202935"/>
                </a:solidFill>
                <a:latin typeface="Arial"/>
                <a:ea typeface="Arial"/>
                <a:cs typeface="Arial"/>
              </a:defRPr>
            </a:lvl6pPr>
            <a:lvl7pPr algn="l">
              <a:defRPr sz="2325" b="1">
                <a:solidFill>
                  <a:srgbClr val="202935"/>
                </a:solidFill>
                <a:latin typeface="Arial"/>
                <a:ea typeface="Arial"/>
                <a:cs typeface="Arial"/>
              </a:defRPr>
            </a:lvl7pPr>
            <a:lvl8pPr algn="l">
              <a:defRPr sz="2325" b="1">
                <a:solidFill>
                  <a:srgbClr val="202935"/>
                </a:solidFill>
                <a:latin typeface="Arial"/>
                <a:ea typeface="Arial"/>
                <a:cs typeface="Arial"/>
              </a:defRPr>
            </a:lvl8pPr>
            <a:lvl9pPr algn="l">
              <a:defRPr sz="2325" b="1">
                <a:solidFill>
                  <a:srgbClr val="202935"/>
                </a:solidFill>
                <a:latin typeface="Arial"/>
                <a:ea typeface="Arial"/>
                <a:cs typeface="Arial"/>
              </a:defRPr>
            </a:lvl9pPr>
          </a:lstStyle>
          <a:p>
            <a:pPr algn="l">
              <a:defRPr sz="2325" b="1">
                <a:solidFill>
                  <a:srgbClr val="202935"/>
                </a:solidFill>
                <a:latin typeface="Arial"/>
                <a:ea typeface="Arial"/>
                <a:cs typeface="Arial"/>
              </a:defRPr>
            </a:pPr>
            <a:r>
              <a:rPr lang="de-AT" sz="2325" b="1" noProof="0" dirty="0">
                <a:solidFill>
                  <a:srgbClr val="202935"/>
                </a:solidFill>
                <a:latin typeface="Arial"/>
                <a:ea typeface="Arial"/>
                <a:cs typeface="Arial"/>
              </a:rPr>
              <a:t>Zwei kritische PHP-Schwachstellen wurden behoben.</a:t>
            </a:r>
          </a:p>
        </p:txBody>
      </p:sp>
      <p:sp>
        <p:nvSpPr>
          <p:cNvPr id="8" name="Gerader Verbinder 7">
            <a:extLst>
              <a:ext uri="{FF2B5EF4-FFF2-40B4-BE49-F238E27FC236}">
                <a16:creationId xmlns:a16="http://schemas.microsoft.com/office/drawing/2014/main" id="{5B566DA4-39FB-4FBA-87A2-43901EE06E9B}"/>
              </a:ext>
            </a:extLst>
          </p:cNvPr>
          <p:cNvSpPr>
            <a:spLocks noGrp="1"/>
          </p:cNvSpPr>
          <p:nvPr/>
        </p:nvSpPr>
        <p:spPr>
          <a:xfrm>
            <a:off x="6076950" y="1562100"/>
            <a:ext cx="0" cy="3714750"/>
          </a:xfrm>
          <a:prstGeom prst="line">
            <a:avLst/>
          </a:prstGeom>
          <a:noFill/>
          <a:ln w="19050">
            <a:solidFill>
              <a:srgbClr val="D6D4CD"/>
            </a:solidFill>
            <a:prstDash val="solid"/>
          </a:ln>
        </p:spPr>
        <p:txBody>
          <a:bodyPr/>
          <a:lstStyle/>
          <a:p>
            <a:endParaRPr lang="de-AT" noProof="0" dirty="0"/>
          </a:p>
        </p:txBody>
      </p:sp>
      <p:sp>
        <p:nvSpPr>
          <p:cNvPr id="9" name="Rechteck 8">
            <a:extLst>
              <a:ext uri="{FF2B5EF4-FFF2-40B4-BE49-F238E27FC236}">
                <a16:creationId xmlns:a16="http://schemas.microsoft.com/office/drawing/2014/main" id="{2254A7C5-F7AE-464B-A3B4-ACD2367A2560}"/>
              </a:ext>
            </a:extLst>
          </p:cNvPr>
          <p:cNvSpPr>
            <a:spLocks noGrp="1"/>
          </p:cNvSpPr>
          <p:nvPr/>
        </p:nvSpPr>
        <p:spPr>
          <a:xfrm>
            <a:off x="6477000" y="1619250"/>
            <a:ext cx="4667250" cy="447675"/>
          </a:xfrm>
          <a:prstGeom prst="rect">
            <a:avLst/>
          </a:prstGeom>
          <a:noFill/>
          <a:ln w="0">
            <a:noFill/>
            <a:prstDash val="solid"/>
          </a:ln>
        </p:spPr>
        <p:txBody>
          <a:bodyPr wrap="square" lIns="0" tIns="0" rIns="0" bIns="0" anchor="ctr">
            <a:normAutofit/>
          </a:bodyPr>
          <a:lstStyle>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a:pPr algn="l">
              <a:defRPr sz="2100" b="1">
                <a:solidFill>
                  <a:srgbClr val="202935"/>
                </a:solidFill>
                <a:latin typeface="Arial"/>
                <a:ea typeface="Arial"/>
                <a:cs typeface="Arial"/>
              </a:defRPr>
            </a:pPr>
            <a:r>
              <a:rPr lang="de-AT" sz="2100" b="1" noProof="0" dirty="0">
                <a:solidFill>
                  <a:srgbClr val="202935"/>
                </a:solidFill>
                <a:latin typeface="Arial"/>
                <a:ea typeface="Arial"/>
                <a:cs typeface="Arial"/>
              </a:rPr>
              <a:t>CVE-2026-109618</a:t>
            </a:r>
          </a:p>
        </p:txBody>
      </p:sp>
      <p:sp>
        <p:nvSpPr>
          <p:cNvPr id="10" name="Rechteck 9">
            <a:extLst>
              <a:ext uri="{FF2B5EF4-FFF2-40B4-BE49-F238E27FC236}">
                <a16:creationId xmlns:a16="http://schemas.microsoft.com/office/drawing/2014/main" id="{A68C6C35-A390-44BD-8C81-3B587BE50A3D}"/>
              </a:ext>
            </a:extLst>
          </p:cNvPr>
          <p:cNvSpPr>
            <a:spLocks noGrp="1"/>
          </p:cNvSpPr>
          <p:nvPr/>
        </p:nvSpPr>
        <p:spPr>
          <a:xfrm>
            <a:off x="6477000" y="2324100"/>
            <a:ext cx="4667250" cy="447675"/>
          </a:xfrm>
          <a:prstGeom prst="rect">
            <a:avLst/>
          </a:prstGeom>
          <a:noFill/>
          <a:ln w="0">
            <a:noFill/>
            <a:prstDash val="solid"/>
          </a:ln>
        </p:spPr>
        <p:txBody>
          <a:bodyPr wrap="square" lIns="0" tIns="0" rIns="0" bIns="0" anchor="ctr">
            <a:normAutofit/>
          </a:bodyPr>
          <a:lstStyle>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a:pPr algn="l">
              <a:defRPr sz="2100" b="1">
                <a:solidFill>
                  <a:srgbClr val="202935"/>
                </a:solidFill>
                <a:latin typeface="Arial"/>
                <a:ea typeface="Arial"/>
                <a:cs typeface="Arial"/>
              </a:defRPr>
            </a:pPr>
            <a:r>
              <a:rPr lang="de-AT" sz="2100" b="1" noProof="0" dirty="0">
                <a:solidFill>
                  <a:srgbClr val="202935"/>
                </a:solidFill>
                <a:latin typeface="Arial"/>
                <a:ea typeface="Arial"/>
                <a:cs typeface="Arial"/>
              </a:rPr>
              <a:t>CVE-2026-109619</a:t>
            </a:r>
          </a:p>
        </p:txBody>
      </p:sp>
      <p:sp>
        <p:nvSpPr>
          <p:cNvPr id="11" name="Rechteck 10">
            <a:extLst>
              <a:ext uri="{FF2B5EF4-FFF2-40B4-BE49-F238E27FC236}">
                <a16:creationId xmlns:a16="http://schemas.microsoft.com/office/drawing/2014/main" id="{C0875C76-584D-4930-A29C-AD0294B8322B}"/>
              </a:ext>
            </a:extLst>
          </p:cNvPr>
          <p:cNvSpPr>
            <a:spLocks noGrp="1"/>
          </p:cNvSpPr>
          <p:nvPr/>
        </p:nvSpPr>
        <p:spPr>
          <a:xfrm>
            <a:off x="6477000" y="3476625"/>
            <a:ext cx="4743450" cy="1371600"/>
          </a:xfrm>
          <a:prstGeom prst="rect">
            <a:avLst/>
          </a:prstGeom>
          <a:noFill/>
          <a:ln w="0">
            <a:noFill/>
            <a:prstDash val="solid"/>
          </a:ln>
        </p:spPr>
        <p:txBody>
          <a:bodyPr wrap="square" lIns="0" tIns="0" rIns="0" bIns="0" anchor="ctr">
            <a:normAutofit/>
          </a:bodyPr>
          <a:lstStyle>
            <a:defPPr algn="l">
              <a:defRPr sz="1875" b="0">
                <a:solidFill>
                  <a:srgbClr val="5D6872"/>
                </a:solidFill>
                <a:latin typeface="Arial"/>
                <a:ea typeface="Arial"/>
                <a:cs typeface="Arial"/>
              </a:defRPr>
            </a:defPPr>
            <a:lvl1pPr algn="l">
              <a:defRPr sz="1875" b="0">
                <a:solidFill>
                  <a:srgbClr val="5D6872"/>
                </a:solidFill>
                <a:latin typeface="Arial"/>
                <a:ea typeface="Arial"/>
                <a:cs typeface="Arial"/>
              </a:defRPr>
            </a:lvl1pPr>
            <a:lvl2pPr algn="l">
              <a:defRPr sz="1875" b="0">
                <a:solidFill>
                  <a:srgbClr val="5D6872"/>
                </a:solidFill>
                <a:latin typeface="Arial"/>
                <a:ea typeface="Arial"/>
                <a:cs typeface="Arial"/>
              </a:defRPr>
            </a:lvl2pPr>
            <a:lvl3pPr algn="l">
              <a:defRPr sz="1875" b="0">
                <a:solidFill>
                  <a:srgbClr val="5D6872"/>
                </a:solidFill>
                <a:latin typeface="Arial"/>
                <a:ea typeface="Arial"/>
                <a:cs typeface="Arial"/>
              </a:defRPr>
            </a:lvl3pPr>
            <a:lvl4pPr algn="l">
              <a:defRPr sz="1875" b="0">
                <a:solidFill>
                  <a:srgbClr val="5D6872"/>
                </a:solidFill>
                <a:latin typeface="Arial"/>
                <a:ea typeface="Arial"/>
                <a:cs typeface="Arial"/>
              </a:defRPr>
            </a:lvl4pPr>
            <a:lvl5pPr algn="l">
              <a:defRPr sz="1875" b="0">
                <a:solidFill>
                  <a:srgbClr val="5D6872"/>
                </a:solidFill>
                <a:latin typeface="Arial"/>
                <a:ea typeface="Arial"/>
                <a:cs typeface="Arial"/>
              </a:defRPr>
            </a:lvl5pPr>
            <a:lvl6pPr algn="l">
              <a:defRPr sz="1875" b="0">
                <a:solidFill>
                  <a:srgbClr val="5D6872"/>
                </a:solidFill>
                <a:latin typeface="Arial"/>
                <a:ea typeface="Arial"/>
                <a:cs typeface="Arial"/>
              </a:defRPr>
            </a:lvl6pPr>
            <a:lvl7pPr algn="l">
              <a:defRPr sz="1875" b="0">
                <a:solidFill>
                  <a:srgbClr val="5D6872"/>
                </a:solidFill>
                <a:latin typeface="Arial"/>
                <a:ea typeface="Arial"/>
                <a:cs typeface="Arial"/>
              </a:defRPr>
            </a:lvl7pPr>
            <a:lvl8pPr algn="l">
              <a:defRPr sz="1875" b="0">
                <a:solidFill>
                  <a:srgbClr val="5D6872"/>
                </a:solidFill>
                <a:latin typeface="Arial"/>
                <a:ea typeface="Arial"/>
                <a:cs typeface="Arial"/>
              </a:defRPr>
            </a:lvl8pPr>
            <a:lvl9pPr algn="l">
              <a:defRPr sz="1875" b="0">
                <a:solidFill>
                  <a:srgbClr val="5D6872"/>
                </a:solidFill>
                <a:latin typeface="Arial"/>
                <a:ea typeface="Arial"/>
                <a:cs typeface="Arial"/>
              </a:defRPr>
            </a:lvl9pPr>
          </a:lstStyle>
          <a:p>
            <a:pPr algn="l">
              <a:defRPr sz="1875" b="0">
                <a:solidFill>
                  <a:srgbClr val="5D6872"/>
                </a:solidFill>
                <a:latin typeface="Arial"/>
                <a:ea typeface="Arial"/>
                <a:cs typeface="Arial"/>
              </a:defRPr>
            </a:pPr>
            <a:r>
              <a:rPr lang="de-AT" sz="1875" b="0" noProof="0" dirty="0">
                <a:solidFill>
                  <a:srgbClr val="5D6872"/>
                </a:solidFill>
                <a:latin typeface="Arial"/>
                <a:ea typeface="Arial"/>
                <a:cs typeface="Arial"/>
              </a:rPr>
              <a:t>Die Frage ist nicht nur: „Gibt es einen Patch?“</a:t>
            </a:r>
          </a:p>
          <a:p>
            <a:pPr algn="l">
              <a:defRPr sz="1875" b="0">
                <a:solidFill>
                  <a:srgbClr val="5D6872"/>
                </a:solidFill>
                <a:latin typeface="Arial"/>
                <a:ea typeface="Arial"/>
                <a:cs typeface="Arial"/>
              </a:defRPr>
            </a:pPr>
            <a:r>
              <a:rPr lang="de-AT" sz="1875" b="0" noProof="0" dirty="0">
                <a:solidFill>
                  <a:srgbClr val="5D6872"/>
                </a:solidFill>
                <a:latin typeface="Arial"/>
                <a:ea typeface="Arial"/>
                <a:cs typeface="Arial"/>
              </a:rPr>
              <a:t>Sondern auch: „Welche Systeme sind betroffen?“</a:t>
            </a:r>
          </a:p>
        </p:txBody>
      </p:sp>
      <p:sp>
        <p:nvSpPr>
          <p:cNvPr id="12" name="Rechteck 11">
            <a:extLst>
              <a:ext uri="{FF2B5EF4-FFF2-40B4-BE49-F238E27FC236}">
                <a16:creationId xmlns:a16="http://schemas.microsoft.com/office/drawing/2014/main" id="{2B146E99-ACEE-4695-ADA9-31001FC9B6B3}"/>
              </a:ext>
            </a:extLst>
          </p:cNvPr>
          <p:cNvSpPr>
            <a:spLocks noGrp="1"/>
          </p:cNvSpPr>
          <p:nvPr/>
        </p:nvSpPr>
        <p:spPr>
          <a:xfrm>
            <a:off x="685800" y="5448300"/>
            <a:ext cx="10477500" cy="361950"/>
          </a:xfrm>
          <a:prstGeom prst="rect">
            <a:avLst/>
          </a:prstGeom>
          <a:noFill/>
          <a:ln w="0">
            <a:noFill/>
            <a:prstDash val="solid"/>
          </a:ln>
        </p:spPr>
        <p:txBody>
          <a:bodyPr wrap="square" lIns="0" tIns="0" rIns="0" bIns="0" anchor="ctr">
            <a:normAutofit/>
          </a:bodyPr>
          <a:lstStyle>
            <a:defPPr algn="l">
              <a:defRPr sz="1200" b="0">
                <a:solidFill>
                  <a:srgbClr val="5D6872"/>
                </a:solidFill>
                <a:latin typeface="Arial"/>
                <a:ea typeface="Arial"/>
                <a:cs typeface="Arial"/>
              </a:defRPr>
            </a:defPPr>
            <a:lvl1pPr algn="l">
              <a:defRPr sz="1200" b="0">
                <a:solidFill>
                  <a:srgbClr val="5D6872"/>
                </a:solidFill>
                <a:latin typeface="Arial"/>
                <a:ea typeface="Arial"/>
                <a:cs typeface="Arial"/>
              </a:defRPr>
            </a:lvl1pPr>
            <a:lvl2pPr algn="l">
              <a:defRPr sz="1200" b="0">
                <a:solidFill>
                  <a:srgbClr val="5D6872"/>
                </a:solidFill>
                <a:latin typeface="Arial"/>
                <a:ea typeface="Arial"/>
                <a:cs typeface="Arial"/>
              </a:defRPr>
            </a:lvl2pPr>
            <a:lvl3pPr algn="l">
              <a:defRPr sz="1200" b="0">
                <a:solidFill>
                  <a:srgbClr val="5D6872"/>
                </a:solidFill>
                <a:latin typeface="Arial"/>
                <a:ea typeface="Arial"/>
                <a:cs typeface="Arial"/>
              </a:defRPr>
            </a:lvl3pPr>
            <a:lvl4pPr algn="l">
              <a:defRPr sz="1200" b="0">
                <a:solidFill>
                  <a:srgbClr val="5D6872"/>
                </a:solidFill>
                <a:latin typeface="Arial"/>
                <a:ea typeface="Arial"/>
                <a:cs typeface="Arial"/>
              </a:defRPr>
            </a:lvl4pPr>
            <a:lvl5pPr algn="l">
              <a:defRPr sz="1200" b="0">
                <a:solidFill>
                  <a:srgbClr val="5D6872"/>
                </a:solidFill>
                <a:latin typeface="Arial"/>
                <a:ea typeface="Arial"/>
                <a:cs typeface="Arial"/>
              </a:defRPr>
            </a:lvl5pPr>
            <a:lvl6pPr algn="l">
              <a:defRPr sz="1200" b="0">
                <a:solidFill>
                  <a:srgbClr val="5D6872"/>
                </a:solidFill>
                <a:latin typeface="Arial"/>
                <a:ea typeface="Arial"/>
                <a:cs typeface="Arial"/>
              </a:defRPr>
            </a:lvl6pPr>
            <a:lvl7pPr algn="l">
              <a:defRPr sz="1200" b="0">
                <a:solidFill>
                  <a:srgbClr val="5D6872"/>
                </a:solidFill>
                <a:latin typeface="Arial"/>
                <a:ea typeface="Arial"/>
                <a:cs typeface="Arial"/>
              </a:defRPr>
            </a:lvl7pPr>
            <a:lvl8pPr algn="l">
              <a:defRPr sz="1200" b="0">
                <a:solidFill>
                  <a:srgbClr val="5D6872"/>
                </a:solidFill>
                <a:latin typeface="Arial"/>
                <a:ea typeface="Arial"/>
                <a:cs typeface="Arial"/>
              </a:defRPr>
            </a:lvl8pPr>
            <a:lvl9pPr algn="l">
              <a:defRPr sz="1200" b="0">
                <a:solidFill>
                  <a:srgbClr val="5D6872"/>
                </a:solidFill>
                <a:latin typeface="Arial"/>
                <a:ea typeface="Arial"/>
                <a:cs typeface="Arial"/>
              </a:defRPr>
            </a:lvl9pPr>
          </a:lstStyle>
          <a:p>
            <a:pPr algn="l">
              <a:defRPr sz="1200" b="0">
                <a:solidFill>
                  <a:srgbClr val="5D6872"/>
                </a:solidFill>
                <a:latin typeface="Arial"/>
                <a:ea typeface="Arial"/>
                <a:cs typeface="Arial"/>
              </a:defRPr>
            </a:pPr>
            <a:r>
              <a:rPr lang="de-AT" sz="1200" b="0" noProof="0" dirty="0">
                <a:solidFill>
                  <a:srgbClr val="5D6872"/>
                </a:solidFill>
                <a:latin typeface="Arial"/>
                <a:ea typeface="Arial"/>
                <a:cs typeface="Arial"/>
              </a:rPr>
              <a:t>Quelle: PHP Security Advisory, php.net · 21.10.2026</a:t>
            </a:r>
          </a:p>
        </p:txBody>
      </p:sp>
    </p:spTree>
    <p:extLst>
      <p:ext uri="{BB962C8B-B14F-4D97-AF65-F5344CB8AC3E}">
        <p14:creationId xmlns:p14="http://schemas.microsoft.com/office/powerpoint/2010/main" val="1868770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24740BA5-2FB9-4BC3-9743-07FB7FF0DE26}"/>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84FFDB4D-E180-46A3-A08E-366EFD79D9DA}"/>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Warum heute Spring?</a:t>
            </a:r>
          </a:p>
        </p:txBody>
      </p:sp>
      <p:sp>
        <p:nvSpPr>
          <p:cNvPr id="3" name="Rechteck 2">
            <a:extLst>
              <a:ext uri="{FF2B5EF4-FFF2-40B4-BE49-F238E27FC236}">
                <a16:creationId xmlns:a16="http://schemas.microsoft.com/office/drawing/2014/main" id="{CB247AE1-1A14-4DA8-846A-34C9D23A143D}"/>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171BFF5C-0955-411F-9641-098D5F1412CA}"/>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423D6D85-AF01-45B2-B2DE-3BEA961BD210}"/>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04</a:t>
            </a:r>
          </a:p>
        </p:txBody>
      </p:sp>
      <p:sp>
        <p:nvSpPr>
          <p:cNvPr id="6" name="Rechteck 5">
            <a:extLst>
              <a:ext uri="{FF2B5EF4-FFF2-40B4-BE49-F238E27FC236}">
                <a16:creationId xmlns:a16="http://schemas.microsoft.com/office/drawing/2014/main" id="{5EFCA068-4DCB-4C66-83F8-4DDE92F47FB8}"/>
              </a:ext>
            </a:extLst>
          </p:cNvPr>
          <p:cNvSpPr>
            <a:spLocks noGrp="1"/>
          </p:cNvSpPr>
          <p:nvPr/>
        </p:nvSpPr>
        <p:spPr>
          <a:xfrm>
            <a:off x="704850" y="1666875"/>
            <a:ext cx="9525000" cy="838200"/>
          </a:xfrm>
          <a:prstGeom prst="rect">
            <a:avLst/>
          </a:prstGeom>
          <a:noFill/>
          <a:ln w="0">
            <a:noFill/>
            <a:prstDash val="solid"/>
          </a:ln>
        </p:spPr>
        <p:txBody>
          <a:bodyPr wrap="square" lIns="0" tIns="0" rIns="0" bIns="0" anchor="ctr">
            <a:normAutofit/>
          </a:bodyPr>
          <a:lstStyle>
            <a:defPPr algn="l">
              <a:defRPr sz="2925" b="1">
                <a:solidFill>
                  <a:srgbClr val="202935"/>
                </a:solidFill>
                <a:latin typeface="Arial"/>
                <a:ea typeface="Arial"/>
                <a:cs typeface="Arial"/>
              </a:defRPr>
            </a:defPPr>
            <a:lvl1pPr algn="l">
              <a:defRPr sz="2925" b="1">
                <a:solidFill>
                  <a:srgbClr val="202935"/>
                </a:solidFill>
                <a:latin typeface="Arial"/>
                <a:ea typeface="Arial"/>
                <a:cs typeface="Arial"/>
              </a:defRPr>
            </a:lvl1pPr>
            <a:lvl2pPr algn="l">
              <a:defRPr sz="2925" b="1">
                <a:solidFill>
                  <a:srgbClr val="202935"/>
                </a:solidFill>
                <a:latin typeface="Arial"/>
                <a:ea typeface="Arial"/>
                <a:cs typeface="Arial"/>
              </a:defRPr>
            </a:lvl2pPr>
            <a:lvl3pPr algn="l">
              <a:defRPr sz="2925" b="1">
                <a:solidFill>
                  <a:srgbClr val="202935"/>
                </a:solidFill>
                <a:latin typeface="Arial"/>
                <a:ea typeface="Arial"/>
                <a:cs typeface="Arial"/>
              </a:defRPr>
            </a:lvl3pPr>
            <a:lvl4pPr algn="l">
              <a:defRPr sz="2925" b="1">
                <a:solidFill>
                  <a:srgbClr val="202935"/>
                </a:solidFill>
                <a:latin typeface="Arial"/>
                <a:ea typeface="Arial"/>
                <a:cs typeface="Arial"/>
              </a:defRPr>
            </a:lvl4pPr>
            <a:lvl5pPr algn="l">
              <a:defRPr sz="2925" b="1">
                <a:solidFill>
                  <a:srgbClr val="202935"/>
                </a:solidFill>
                <a:latin typeface="Arial"/>
                <a:ea typeface="Arial"/>
                <a:cs typeface="Arial"/>
              </a:defRPr>
            </a:lvl5pPr>
            <a:lvl6pPr algn="l">
              <a:defRPr sz="2925" b="1">
                <a:solidFill>
                  <a:srgbClr val="202935"/>
                </a:solidFill>
                <a:latin typeface="Arial"/>
                <a:ea typeface="Arial"/>
                <a:cs typeface="Arial"/>
              </a:defRPr>
            </a:lvl6pPr>
            <a:lvl7pPr algn="l">
              <a:defRPr sz="2925" b="1">
                <a:solidFill>
                  <a:srgbClr val="202935"/>
                </a:solidFill>
                <a:latin typeface="Arial"/>
                <a:ea typeface="Arial"/>
                <a:cs typeface="Arial"/>
              </a:defRPr>
            </a:lvl7pPr>
            <a:lvl8pPr algn="l">
              <a:defRPr sz="2925" b="1">
                <a:solidFill>
                  <a:srgbClr val="202935"/>
                </a:solidFill>
                <a:latin typeface="Arial"/>
                <a:ea typeface="Arial"/>
                <a:cs typeface="Arial"/>
              </a:defRPr>
            </a:lvl8pPr>
            <a:lvl9pPr algn="l">
              <a:defRPr sz="2925" b="1">
                <a:solidFill>
                  <a:srgbClr val="202935"/>
                </a:solidFill>
                <a:latin typeface="Arial"/>
                <a:ea typeface="Arial"/>
                <a:cs typeface="Arial"/>
              </a:defRPr>
            </a:lvl9pPr>
          </a:lstStyle>
          <a:p>
            <a:pPr algn="l">
              <a:defRPr sz="2925" b="1">
                <a:solidFill>
                  <a:srgbClr val="202935"/>
                </a:solidFill>
                <a:latin typeface="Arial"/>
                <a:ea typeface="Arial"/>
                <a:cs typeface="Arial"/>
              </a:defRPr>
            </a:pPr>
            <a:r>
              <a:rPr lang="de-AT" sz="2925" b="1" noProof="0" dirty="0">
                <a:solidFill>
                  <a:srgbClr val="202935"/>
                </a:solidFill>
                <a:latin typeface="Arial"/>
                <a:ea typeface="Arial"/>
                <a:cs typeface="Arial"/>
              </a:rPr>
              <a:t>Viele unserer Projekte nutzen Java und Spring.</a:t>
            </a:r>
          </a:p>
        </p:txBody>
      </p:sp>
      <p:sp>
        <p:nvSpPr>
          <p:cNvPr id="7" name="Rechteck 6">
            <a:extLst>
              <a:ext uri="{FF2B5EF4-FFF2-40B4-BE49-F238E27FC236}">
                <a16:creationId xmlns:a16="http://schemas.microsoft.com/office/drawing/2014/main" id="{F630D065-DCFF-4103-A9DD-E82EF82E3361}"/>
              </a:ext>
            </a:extLst>
          </p:cNvPr>
          <p:cNvSpPr>
            <a:spLocks noGrp="1"/>
          </p:cNvSpPr>
          <p:nvPr/>
        </p:nvSpPr>
        <p:spPr>
          <a:xfrm>
            <a:off x="704850" y="2876550"/>
            <a:ext cx="85725" cy="1809750"/>
          </a:xfrm>
          <a:prstGeom prst="rect">
            <a:avLst/>
          </a:prstGeom>
          <a:solidFill>
            <a:srgbClr val="C55A2B"/>
          </a:solidFill>
          <a:ln w="0">
            <a:noFill/>
            <a:prstDash val="solid"/>
          </a:ln>
        </p:spPr>
        <p:txBody>
          <a:bodyPr/>
          <a:lstStyle/>
          <a:p>
            <a:endParaRPr lang="de-AT" noProof="0" dirty="0"/>
          </a:p>
        </p:txBody>
      </p:sp>
      <p:sp>
        <p:nvSpPr>
          <p:cNvPr id="8" name="Rechteck 7">
            <a:extLst>
              <a:ext uri="{FF2B5EF4-FFF2-40B4-BE49-F238E27FC236}">
                <a16:creationId xmlns:a16="http://schemas.microsoft.com/office/drawing/2014/main" id="{2ADBF416-6FA9-4B5A-BD7E-BECF63C259BD}"/>
              </a:ext>
            </a:extLst>
          </p:cNvPr>
          <p:cNvSpPr>
            <a:spLocks noGrp="1"/>
          </p:cNvSpPr>
          <p:nvPr/>
        </p:nvSpPr>
        <p:spPr>
          <a:xfrm>
            <a:off x="1028700" y="2914650"/>
            <a:ext cx="9334500" cy="1524000"/>
          </a:xfrm>
          <a:prstGeom prst="rect">
            <a:avLst/>
          </a:prstGeom>
          <a:noFill/>
          <a:ln w="0">
            <a:noFill/>
            <a:prstDash val="solid"/>
          </a:ln>
        </p:spPr>
        <p:txBody>
          <a:bodyPr wrap="square" lIns="0" tIns="0" rIns="0" bIns="0" anchor="ctr">
            <a:normAutofit/>
          </a:bodyPr>
          <a:lstStyle>
            <a:defPPr algn="l">
              <a:defRPr sz="2250" b="0">
                <a:solidFill>
                  <a:srgbClr val="202935"/>
                </a:solidFill>
                <a:latin typeface="Arial"/>
                <a:ea typeface="Arial"/>
                <a:cs typeface="Arial"/>
              </a:defRPr>
            </a:defPPr>
            <a:lvl1pPr algn="l">
              <a:defRPr sz="2250" b="0">
                <a:solidFill>
                  <a:srgbClr val="202935"/>
                </a:solidFill>
                <a:latin typeface="Arial"/>
                <a:ea typeface="Arial"/>
                <a:cs typeface="Arial"/>
              </a:defRPr>
            </a:lvl1pPr>
            <a:lvl2pPr algn="l">
              <a:defRPr sz="2250" b="0">
                <a:solidFill>
                  <a:srgbClr val="202935"/>
                </a:solidFill>
                <a:latin typeface="Arial"/>
                <a:ea typeface="Arial"/>
                <a:cs typeface="Arial"/>
              </a:defRPr>
            </a:lvl2pPr>
            <a:lvl3pPr algn="l">
              <a:defRPr sz="2250" b="0">
                <a:solidFill>
                  <a:srgbClr val="202935"/>
                </a:solidFill>
                <a:latin typeface="Arial"/>
                <a:ea typeface="Arial"/>
                <a:cs typeface="Arial"/>
              </a:defRPr>
            </a:lvl3pPr>
            <a:lvl4pPr algn="l">
              <a:defRPr sz="2250" b="0">
                <a:solidFill>
                  <a:srgbClr val="202935"/>
                </a:solidFill>
                <a:latin typeface="Arial"/>
                <a:ea typeface="Arial"/>
                <a:cs typeface="Arial"/>
              </a:defRPr>
            </a:lvl4pPr>
            <a:lvl5pPr algn="l">
              <a:defRPr sz="2250" b="0">
                <a:solidFill>
                  <a:srgbClr val="202935"/>
                </a:solidFill>
                <a:latin typeface="Arial"/>
                <a:ea typeface="Arial"/>
                <a:cs typeface="Arial"/>
              </a:defRPr>
            </a:lvl5pPr>
            <a:lvl6pPr algn="l">
              <a:defRPr sz="2250" b="0">
                <a:solidFill>
                  <a:srgbClr val="202935"/>
                </a:solidFill>
                <a:latin typeface="Arial"/>
                <a:ea typeface="Arial"/>
                <a:cs typeface="Arial"/>
              </a:defRPr>
            </a:lvl6pPr>
            <a:lvl7pPr algn="l">
              <a:defRPr sz="2250" b="0">
                <a:solidFill>
                  <a:srgbClr val="202935"/>
                </a:solidFill>
                <a:latin typeface="Arial"/>
                <a:ea typeface="Arial"/>
                <a:cs typeface="Arial"/>
              </a:defRPr>
            </a:lvl7pPr>
            <a:lvl8pPr algn="l">
              <a:defRPr sz="2250" b="0">
                <a:solidFill>
                  <a:srgbClr val="202935"/>
                </a:solidFill>
                <a:latin typeface="Arial"/>
                <a:ea typeface="Arial"/>
                <a:cs typeface="Arial"/>
              </a:defRPr>
            </a:lvl8pPr>
            <a:lvl9pPr algn="l">
              <a:defRPr sz="2250" b="0">
                <a:solidFill>
                  <a:srgbClr val="202935"/>
                </a:solidFill>
                <a:latin typeface="Arial"/>
                <a:ea typeface="Arial"/>
                <a:cs typeface="Arial"/>
              </a:defRPr>
            </a:lvl9pPr>
          </a:lstStyle>
          <a:p>
            <a:pPr algn="l">
              <a:defRPr sz="2250" b="0">
                <a:solidFill>
                  <a:srgbClr val="202935"/>
                </a:solidFill>
                <a:latin typeface="Arial"/>
                <a:ea typeface="Arial"/>
                <a:cs typeface="Arial"/>
              </a:defRPr>
            </a:pPr>
            <a:r>
              <a:rPr lang="de-AT" sz="2250" b="0" noProof="0" dirty="0">
                <a:solidFill>
                  <a:srgbClr val="202935"/>
                </a:solidFill>
                <a:latin typeface="Arial"/>
                <a:ea typeface="Arial"/>
                <a:cs typeface="Arial"/>
              </a:rPr>
              <a:t>Deshalb zeige ich ein Spring Demo-System:</a:t>
            </a:r>
          </a:p>
          <a:p>
            <a:pPr algn="l">
              <a:defRPr sz="2250" b="0">
                <a:solidFill>
                  <a:srgbClr val="202935"/>
                </a:solidFill>
                <a:latin typeface="Arial"/>
                <a:ea typeface="Arial"/>
                <a:cs typeface="Arial"/>
              </a:defRPr>
            </a:pPr>
            <a:r>
              <a:rPr lang="de-AT" sz="2250" b="0" noProof="0" dirty="0">
                <a:solidFill>
                  <a:srgbClr val="202935"/>
                </a:solidFill>
                <a:latin typeface="Arial"/>
                <a:ea typeface="Arial"/>
                <a:cs typeface="Arial"/>
              </a:rPr>
              <a:t>Welche Komponenten sind erreichbar?</a:t>
            </a:r>
          </a:p>
          <a:p>
            <a:pPr algn="l">
              <a:defRPr sz="2250" b="0">
                <a:solidFill>
                  <a:srgbClr val="202935"/>
                </a:solidFill>
                <a:latin typeface="Arial"/>
                <a:ea typeface="Arial"/>
                <a:cs typeface="Arial"/>
              </a:defRPr>
            </a:pPr>
            <a:r>
              <a:rPr lang="de-AT" sz="2250" b="0" noProof="0" dirty="0">
                <a:solidFill>
                  <a:srgbClr val="202935"/>
                </a:solidFill>
                <a:latin typeface="Arial"/>
                <a:ea typeface="Arial"/>
                <a:cs typeface="Arial"/>
              </a:rPr>
              <a:t>Wie wirken mehrere Schwächen zusammen?</a:t>
            </a:r>
          </a:p>
        </p:txBody>
      </p:sp>
    </p:spTree>
    <p:extLst>
      <p:ext uri="{BB962C8B-B14F-4D97-AF65-F5344CB8AC3E}">
        <p14:creationId xmlns:p14="http://schemas.microsoft.com/office/powerpoint/2010/main" val="1509635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26639A12-4E89-45A5-91B3-95571104A368}"/>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048120BF-B805-4B00-A391-773020ABD6B1}"/>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Agenda</a:t>
            </a:r>
          </a:p>
        </p:txBody>
      </p:sp>
      <p:sp>
        <p:nvSpPr>
          <p:cNvPr id="3" name="Rechteck 2">
            <a:extLst>
              <a:ext uri="{FF2B5EF4-FFF2-40B4-BE49-F238E27FC236}">
                <a16:creationId xmlns:a16="http://schemas.microsoft.com/office/drawing/2014/main" id="{6F39C1DF-F6DC-4AF3-973C-1773385C37C2}"/>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473105CF-5BB0-4EA6-B2EC-123D36CB8EDA}"/>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5C46D9E0-34A9-4F59-BFF9-527AD10E1D5A}"/>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05</a:t>
            </a:r>
          </a:p>
        </p:txBody>
      </p:sp>
      <p:sp>
        <p:nvSpPr>
          <p:cNvPr id="6" name="Gerader Verbinder 5">
            <a:extLst>
              <a:ext uri="{FF2B5EF4-FFF2-40B4-BE49-F238E27FC236}">
                <a16:creationId xmlns:a16="http://schemas.microsoft.com/office/drawing/2014/main" id="{53DD20E5-0FED-4B51-B97F-9DD1189C0FF3}"/>
              </a:ext>
            </a:extLst>
          </p:cNvPr>
          <p:cNvSpPr>
            <a:spLocks noGrp="1"/>
          </p:cNvSpPr>
          <p:nvPr/>
        </p:nvSpPr>
        <p:spPr>
          <a:xfrm>
            <a:off x="704850" y="1524000"/>
            <a:ext cx="10477500" cy="0"/>
          </a:xfrm>
          <a:prstGeom prst="line">
            <a:avLst/>
          </a:prstGeom>
          <a:noFill/>
          <a:ln w="9525">
            <a:solidFill>
              <a:srgbClr val="D6D4CD"/>
            </a:solidFill>
            <a:prstDash val="solid"/>
          </a:ln>
        </p:spPr>
        <p:txBody>
          <a:bodyPr/>
          <a:lstStyle/>
          <a:p>
            <a:endParaRPr lang="de-AT" noProof="0" dirty="0"/>
          </a:p>
        </p:txBody>
      </p:sp>
      <p:sp>
        <p:nvSpPr>
          <p:cNvPr id="7" name="Rechteck 6">
            <a:extLst>
              <a:ext uri="{FF2B5EF4-FFF2-40B4-BE49-F238E27FC236}">
                <a16:creationId xmlns:a16="http://schemas.microsoft.com/office/drawing/2014/main" id="{805B16E8-9478-4CB9-A8E2-26734B392F8F}"/>
              </a:ext>
            </a:extLst>
          </p:cNvPr>
          <p:cNvSpPr>
            <a:spLocks noGrp="1"/>
          </p:cNvSpPr>
          <p:nvPr/>
        </p:nvSpPr>
        <p:spPr>
          <a:xfrm>
            <a:off x="800100" y="1657350"/>
            <a:ext cx="9810750" cy="676275"/>
          </a:xfrm>
          <a:prstGeom prst="rect">
            <a:avLst/>
          </a:prstGeom>
          <a:noFill/>
          <a:ln w="0">
            <a:noFill/>
            <a:prstDash val="solid"/>
          </a:ln>
        </p:spPr>
        <p:txBody>
          <a:bodyPr wrap="square" lIns="0" tIns="0" rIns="0" bIns="0" anchor="ctr">
            <a:normAutofit/>
          </a:bodyPr>
          <a:lstStyle>
            <a:defPPr algn="l">
              <a:defRPr sz="2400" b="0">
                <a:solidFill>
                  <a:srgbClr val="202935"/>
                </a:solidFill>
                <a:latin typeface="Arial"/>
                <a:ea typeface="Arial"/>
                <a:cs typeface="Arial"/>
              </a:defRPr>
            </a:defPPr>
            <a:lvl1pPr algn="l">
              <a:defRPr sz="2400" b="0">
                <a:solidFill>
                  <a:srgbClr val="202935"/>
                </a:solidFill>
                <a:latin typeface="Arial"/>
                <a:ea typeface="Arial"/>
                <a:cs typeface="Arial"/>
              </a:defRPr>
            </a:lvl1pPr>
            <a:lvl2pPr algn="l">
              <a:defRPr sz="2400" b="0">
                <a:solidFill>
                  <a:srgbClr val="202935"/>
                </a:solidFill>
                <a:latin typeface="Arial"/>
                <a:ea typeface="Arial"/>
                <a:cs typeface="Arial"/>
              </a:defRPr>
            </a:lvl2pPr>
            <a:lvl3pPr algn="l">
              <a:defRPr sz="2400" b="0">
                <a:solidFill>
                  <a:srgbClr val="202935"/>
                </a:solidFill>
                <a:latin typeface="Arial"/>
                <a:ea typeface="Arial"/>
                <a:cs typeface="Arial"/>
              </a:defRPr>
            </a:lvl3pPr>
            <a:lvl4pPr algn="l">
              <a:defRPr sz="2400" b="0">
                <a:solidFill>
                  <a:srgbClr val="202935"/>
                </a:solidFill>
                <a:latin typeface="Arial"/>
                <a:ea typeface="Arial"/>
                <a:cs typeface="Arial"/>
              </a:defRPr>
            </a:lvl4pPr>
            <a:lvl5pPr algn="l">
              <a:defRPr sz="2400" b="0">
                <a:solidFill>
                  <a:srgbClr val="202935"/>
                </a:solidFill>
                <a:latin typeface="Arial"/>
                <a:ea typeface="Arial"/>
                <a:cs typeface="Arial"/>
              </a:defRPr>
            </a:lvl5pPr>
            <a:lvl6pPr algn="l">
              <a:defRPr sz="2400" b="0">
                <a:solidFill>
                  <a:srgbClr val="202935"/>
                </a:solidFill>
                <a:latin typeface="Arial"/>
                <a:ea typeface="Arial"/>
                <a:cs typeface="Arial"/>
              </a:defRPr>
            </a:lvl6pPr>
            <a:lvl7pPr algn="l">
              <a:defRPr sz="2400" b="0">
                <a:solidFill>
                  <a:srgbClr val="202935"/>
                </a:solidFill>
                <a:latin typeface="Arial"/>
                <a:ea typeface="Arial"/>
                <a:cs typeface="Arial"/>
              </a:defRPr>
            </a:lvl7pPr>
            <a:lvl8pPr algn="l">
              <a:defRPr sz="2400" b="0">
                <a:solidFill>
                  <a:srgbClr val="202935"/>
                </a:solidFill>
                <a:latin typeface="Arial"/>
                <a:ea typeface="Arial"/>
                <a:cs typeface="Arial"/>
              </a:defRPr>
            </a:lvl8pPr>
            <a:lvl9pPr algn="l">
              <a:defRPr sz="2400" b="0">
                <a:solidFill>
                  <a:srgbClr val="202935"/>
                </a:solidFill>
                <a:latin typeface="Arial"/>
                <a:ea typeface="Arial"/>
                <a:cs typeface="Arial"/>
              </a:defRPr>
            </a:lvl9pPr>
          </a:lstStyle>
          <a:p>
            <a:pPr algn="l">
              <a:defRPr sz="2400" b="0">
                <a:solidFill>
                  <a:srgbClr val="202935"/>
                </a:solidFill>
                <a:latin typeface="Arial"/>
                <a:ea typeface="Arial"/>
                <a:cs typeface="Arial"/>
              </a:defRPr>
            </a:pPr>
            <a:r>
              <a:rPr lang="de-AT" sz="2400" b="0" noProof="0" dirty="0">
                <a:solidFill>
                  <a:srgbClr val="202935"/>
                </a:solidFill>
                <a:latin typeface="Arial"/>
                <a:ea typeface="Arial"/>
                <a:cs typeface="Arial"/>
              </a:rPr>
              <a:t>01  Szenario und Projektidee</a:t>
            </a:r>
          </a:p>
        </p:txBody>
      </p:sp>
      <p:sp>
        <p:nvSpPr>
          <p:cNvPr id="8" name="Gerader Verbinder 7">
            <a:extLst>
              <a:ext uri="{FF2B5EF4-FFF2-40B4-BE49-F238E27FC236}">
                <a16:creationId xmlns:a16="http://schemas.microsoft.com/office/drawing/2014/main" id="{E011F441-7554-4C7B-BC10-EE86BD3FD789}"/>
              </a:ext>
            </a:extLst>
          </p:cNvPr>
          <p:cNvSpPr>
            <a:spLocks noGrp="1"/>
          </p:cNvSpPr>
          <p:nvPr/>
        </p:nvSpPr>
        <p:spPr>
          <a:xfrm>
            <a:off x="704850" y="2514600"/>
            <a:ext cx="10477500" cy="0"/>
          </a:xfrm>
          <a:prstGeom prst="line">
            <a:avLst/>
          </a:prstGeom>
          <a:noFill/>
          <a:ln w="9525">
            <a:solidFill>
              <a:srgbClr val="D6D4CD"/>
            </a:solidFill>
            <a:prstDash val="solid"/>
          </a:ln>
        </p:spPr>
        <p:txBody>
          <a:bodyPr/>
          <a:lstStyle/>
          <a:p>
            <a:endParaRPr lang="de-AT" noProof="0" dirty="0"/>
          </a:p>
        </p:txBody>
      </p:sp>
      <p:sp>
        <p:nvSpPr>
          <p:cNvPr id="9" name="Rechteck 8">
            <a:extLst>
              <a:ext uri="{FF2B5EF4-FFF2-40B4-BE49-F238E27FC236}">
                <a16:creationId xmlns:a16="http://schemas.microsoft.com/office/drawing/2014/main" id="{D287A572-0EDE-4FBB-B219-9434D194BCA4}"/>
              </a:ext>
            </a:extLst>
          </p:cNvPr>
          <p:cNvSpPr>
            <a:spLocks noGrp="1"/>
          </p:cNvSpPr>
          <p:nvPr/>
        </p:nvSpPr>
        <p:spPr>
          <a:xfrm>
            <a:off x="800100" y="2647950"/>
            <a:ext cx="9810750" cy="676275"/>
          </a:xfrm>
          <a:prstGeom prst="rect">
            <a:avLst/>
          </a:prstGeom>
          <a:noFill/>
          <a:ln w="0">
            <a:noFill/>
            <a:prstDash val="solid"/>
          </a:ln>
        </p:spPr>
        <p:txBody>
          <a:bodyPr wrap="square" lIns="0" tIns="0" rIns="0" bIns="0" anchor="ctr">
            <a:normAutofit/>
          </a:bodyPr>
          <a:lstStyle>
            <a:defPPr algn="l">
              <a:defRPr sz="2400" b="0">
                <a:solidFill>
                  <a:srgbClr val="202935"/>
                </a:solidFill>
                <a:latin typeface="Arial"/>
                <a:ea typeface="Arial"/>
                <a:cs typeface="Arial"/>
              </a:defRPr>
            </a:defPPr>
            <a:lvl1pPr algn="l">
              <a:defRPr sz="2400" b="0">
                <a:solidFill>
                  <a:srgbClr val="202935"/>
                </a:solidFill>
                <a:latin typeface="Arial"/>
                <a:ea typeface="Arial"/>
                <a:cs typeface="Arial"/>
              </a:defRPr>
            </a:lvl1pPr>
            <a:lvl2pPr algn="l">
              <a:defRPr sz="2400" b="0">
                <a:solidFill>
                  <a:srgbClr val="202935"/>
                </a:solidFill>
                <a:latin typeface="Arial"/>
                <a:ea typeface="Arial"/>
                <a:cs typeface="Arial"/>
              </a:defRPr>
            </a:lvl2pPr>
            <a:lvl3pPr algn="l">
              <a:defRPr sz="2400" b="0">
                <a:solidFill>
                  <a:srgbClr val="202935"/>
                </a:solidFill>
                <a:latin typeface="Arial"/>
                <a:ea typeface="Arial"/>
                <a:cs typeface="Arial"/>
              </a:defRPr>
            </a:lvl3pPr>
            <a:lvl4pPr algn="l">
              <a:defRPr sz="2400" b="0">
                <a:solidFill>
                  <a:srgbClr val="202935"/>
                </a:solidFill>
                <a:latin typeface="Arial"/>
                <a:ea typeface="Arial"/>
                <a:cs typeface="Arial"/>
              </a:defRPr>
            </a:lvl4pPr>
            <a:lvl5pPr algn="l">
              <a:defRPr sz="2400" b="0">
                <a:solidFill>
                  <a:srgbClr val="202935"/>
                </a:solidFill>
                <a:latin typeface="Arial"/>
                <a:ea typeface="Arial"/>
                <a:cs typeface="Arial"/>
              </a:defRPr>
            </a:lvl5pPr>
            <a:lvl6pPr algn="l">
              <a:defRPr sz="2400" b="0">
                <a:solidFill>
                  <a:srgbClr val="202935"/>
                </a:solidFill>
                <a:latin typeface="Arial"/>
                <a:ea typeface="Arial"/>
                <a:cs typeface="Arial"/>
              </a:defRPr>
            </a:lvl6pPr>
            <a:lvl7pPr algn="l">
              <a:defRPr sz="2400" b="0">
                <a:solidFill>
                  <a:srgbClr val="202935"/>
                </a:solidFill>
                <a:latin typeface="Arial"/>
                <a:ea typeface="Arial"/>
                <a:cs typeface="Arial"/>
              </a:defRPr>
            </a:lvl7pPr>
            <a:lvl8pPr algn="l">
              <a:defRPr sz="2400" b="0">
                <a:solidFill>
                  <a:srgbClr val="202935"/>
                </a:solidFill>
                <a:latin typeface="Arial"/>
                <a:ea typeface="Arial"/>
                <a:cs typeface="Arial"/>
              </a:defRPr>
            </a:lvl8pPr>
            <a:lvl9pPr algn="l">
              <a:defRPr sz="2400" b="0">
                <a:solidFill>
                  <a:srgbClr val="202935"/>
                </a:solidFill>
                <a:latin typeface="Arial"/>
                <a:ea typeface="Arial"/>
                <a:cs typeface="Arial"/>
              </a:defRPr>
            </a:lvl9pPr>
          </a:lstStyle>
          <a:p>
            <a:pPr algn="l">
              <a:defRPr sz="2400" b="0">
                <a:solidFill>
                  <a:srgbClr val="202935"/>
                </a:solidFill>
                <a:latin typeface="Arial"/>
                <a:ea typeface="Arial"/>
                <a:cs typeface="Arial"/>
              </a:defRPr>
            </a:pPr>
            <a:r>
              <a:rPr lang="de-AT" sz="2400" b="0" noProof="0" dirty="0">
                <a:solidFill>
                  <a:srgbClr val="202935"/>
                </a:solidFill>
                <a:latin typeface="Arial"/>
                <a:ea typeface="Arial"/>
                <a:cs typeface="Arial"/>
              </a:rPr>
              <a:t>02  Aufbau und normaler Ablauf</a:t>
            </a:r>
          </a:p>
        </p:txBody>
      </p:sp>
      <p:sp>
        <p:nvSpPr>
          <p:cNvPr id="10" name="Gerader Verbinder 9">
            <a:extLst>
              <a:ext uri="{FF2B5EF4-FFF2-40B4-BE49-F238E27FC236}">
                <a16:creationId xmlns:a16="http://schemas.microsoft.com/office/drawing/2014/main" id="{ABB0A449-BCCC-486F-9B94-3C92DA1BF5FC}"/>
              </a:ext>
            </a:extLst>
          </p:cNvPr>
          <p:cNvSpPr>
            <a:spLocks noGrp="1"/>
          </p:cNvSpPr>
          <p:nvPr/>
        </p:nvSpPr>
        <p:spPr>
          <a:xfrm>
            <a:off x="704850" y="3505200"/>
            <a:ext cx="10477500" cy="0"/>
          </a:xfrm>
          <a:prstGeom prst="line">
            <a:avLst/>
          </a:prstGeom>
          <a:noFill/>
          <a:ln w="9525">
            <a:solidFill>
              <a:srgbClr val="D6D4CD"/>
            </a:solidFill>
            <a:prstDash val="solid"/>
          </a:ln>
        </p:spPr>
        <p:txBody>
          <a:bodyPr/>
          <a:lstStyle/>
          <a:p>
            <a:endParaRPr lang="de-AT" noProof="0" dirty="0"/>
          </a:p>
        </p:txBody>
      </p:sp>
      <p:sp>
        <p:nvSpPr>
          <p:cNvPr id="11" name="Rechteck 10">
            <a:extLst>
              <a:ext uri="{FF2B5EF4-FFF2-40B4-BE49-F238E27FC236}">
                <a16:creationId xmlns:a16="http://schemas.microsoft.com/office/drawing/2014/main" id="{A0F31C79-1310-4617-97E4-2BF07C5F29D6}"/>
              </a:ext>
            </a:extLst>
          </p:cNvPr>
          <p:cNvSpPr>
            <a:spLocks noGrp="1"/>
          </p:cNvSpPr>
          <p:nvPr/>
        </p:nvSpPr>
        <p:spPr>
          <a:xfrm>
            <a:off x="800100" y="3638550"/>
            <a:ext cx="9810750" cy="676275"/>
          </a:xfrm>
          <a:prstGeom prst="rect">
            <a:avLst/>
          </a:prstGeom>
          <a:noFill/>
          <a:ln w="0">
            <a:noFill/>
            <a:prstDash val="solid"/>
          </a:ln>
        </p:spPr>
        <p:txBody>
          <a:bodyPr wrap="square" lIns="0" tIns="0" rIns="0" bIns="0" anchor="ctr">
            <a:normAutofit/>
          </a:bodyPr>
          <a:lstStyle>
            <a:defPPr algn="l">
              <a:defRPr sz="2400" b="1">
                <a:solidFill>
                  <a:srgbClr val="C55A2B"/>
                </a:solidFill>
                <a:latin typeface="Arial"/>
                <a:ea typeface="Arial"/>
                <a:cs typeface="Arial"/>
              </a:defRPr>
            </a:defPPr>
            <a:lvl1pPr algn="l">
              <a:defRPr sz="2400" b="1">
                <a:solidFill>
                  <a:srgbClr val="C55A2B"/>
                </a:solidFill>
                <a:latin typeface="Arial"/>
                <a:ea typeface="Arial"/>
                <a:cs typeface="Arial"/>
              </a:defRPr>
            </a:lvl1pPr>
            <a:lvl2pPr algn="l">
              <a:defRPr sz="2400" b="1">
                <a:solidFill>
                  <a:srgbClr val="C55A2B"/>
                </a:solidFill>
                <a:latin typeface="Arial"/>
                <a:ea typeface="Arial"/>
                <a:cs typeface="Arial"/>
              </a:defRPr>
            </a:lvl2pPr>
            <a:lvl3pPr algn="l">
              <a:defRPr sz="2400" b="1">
                <a:solidFill>
                  <a:srgbClr val="C55A2B"/>
                </a:solidFill>
                <a:latin typeface="Arial"/>
                <a:ea typeface="Arial"/>
                <a:cs typeface="Arial"/>
              </a:defRPr>
            </a:lvl3pPr>
            <a:lvl4pPr algn="l">
              <a:defRPr sz="2400" b="1">
                <a:solidFill>
                  <a:srgbClr val="C55A2B"/>
                </a:solidFill>
                <a:latin typeface="Arial"/>
                <a:ea typeface="Arial"/>
                <a:cs typeface="Arial"/>
              </a:defRPr>
            </a:lvl4pPr>
            <a:lvl5pPr algn="l">
              <a:defRPr sz="2400" b="1">
                <a:solidFill>
                  <a:srgbClr val="C55A2B"/>
                </a:solidFill>
                <a:latin typeface="Arial"/>
                <a:ea typeface="Arial"/>
                <a:cs typeface="Arial"/>
              </a:defRPr>
            </a:lvl5pPr>
            <a:lvl6pPr algn="l">
              <a:defRPr sz="2400" b="1">
                <a:solidFill>
                  <a:srgbClr val="C55A2B"/>
                </a:solidFill>
                <a:latin typeface="Arial"/>
                <a:ea typeface="Arial"/>
                <a:cs typeface="Arial"/>
              </a:defRPr>
            </a:lvl6pPr>
            <a:lvl7pPr algn="l">
              <a:defRPr sz="2400" b="1">
                <a:solidFill>
                  <a:srgbClr val="C55A2B"/>
                </a:solidFill>
                <a:latin typeface="Arial"/>
                <a:ea typeface="Arial"/>
                <a:cs typeface="Arial"/>
              </a:defRPr>
            </a:lvl7pPr>
            <a:lvl8pPr algn="l">
              <a:defRPr sz="2400" b="1">
                <a:solidFill>
                  <a:srgbClr val="C55A2B"/>
                </a:solidFill>
                <a:latin typeface="Arial"/>
                <a:ea typeface="Arial"/>
                <a:cs typeface="Arial"/>
              </a:defRPr>
            </a:lvl8pPr>
            <a:lvl9pPr algn="l">
              <a:defRPr sz="2400" b="1">
                <a:solidFill>
                  <a:srgbClr val="C55A2B"/>
                </a:solidFill>
                <a:latin typeface="Arial"/>
                <a:ea typeface="Arial"/>
                <a:cs typeface="Arial"/>
              </a:defRPr>
            </a:lvl9pPr>
          </a:lstStyle>
          <a:p>
            <a:pPr algn="l">
              <a:defRPr sz="2400" b="1">
                <a:solidFill>
                  <a:srgbClr val="C55A2B"/>
                </a:solidFill>
                <a:latin typeface="Arial"/>
                <a:ea typeface="Arial"/>
                <a:cs typeface="Arial"/>
              </a:defRPr>
            </a:pPr>
            <a:r>
              <a:rPr lang="de-AT" sz="2400" b="1" noProof="0" dirty="0">
                <a:solidFill>
                  <a:srgbClr val="C55A2B"/>
                </a:solidFill>
                <a:latin typeface="Arial"/>
                <a:ea typeface="Arial"/>
                <a:cs typeface="Arial"/>
              </a:rPr>
              <a:t>03  Vier Experimente mit Live Demos</a:t>
            </a:r>
          </a:p>
        </p:txBody>
      </p:sp>
      <p:sp>
        <p:nvSpPr>
          <p:cNvPr id="12" name="Gerader Verbinder 11">
            <a:extLst>
              <a:ext uri="{FF2B5EF4-FFF2-40B4-BE49-F238E27FC236}">
                <a16:creationId xmlns:a16="http://schemas.microsoft.com/office/drawing/2014/main" id="{CE5B26D1-1756-41BD-91A6-F99BCAC5C30F}"/>
              </a:ext>
            </a:extLst>
          </p:cNvPr>
          <p:cNvSpPr>
            <a:spLocks noGrp="1"/>
          </p:cNvSpPr>
          <p:nvPr/>
        </p:nvSpPr>
        <p:spPr>
          <a:xfrm>
            <a:off x="704850" y="4495800"/>
            <a:ext cx="10477500" cy="0"/>
          </a:xfrm>
          <a:prstGeom prst="line">
            <a:avLst/>
          </a:prstGeom>
          <a:noFill/>
          <a:ln w="9525">
            <a:solidFill>
              <a:srgbClr val="D6D4CD"/>
            </a:solidFill>
            <a:prstDash val="solid"/>
          </a:ln>
        </p:spPr>
        <p:txBody>
          <a:bodyPr/>
          <a:lstStyle/>
          <a:p>
            <a:endParaRPr lang="de-AT" noProof="0" dirty="0"/>
          </a:p>
        </p:txBody>
      </p:sp>
      <p:sp>
        <p:nvSpPr>
          <p:cNvPr id="13" name="Rechteck 12">
            <a:extLst>
              <a:ext uri="{FF2B5EF4-FFF2-40B4-BE49-F238E27FC236}">
                <a16:creationId xmlns:a16="http://schemas.microsoft.com/office/drawing/2014/main" id="{D370B72B-E5BD-4A36-A691-DFB7DA529FB6}"/>
              </a:ext>
            </a:extLst>
          </p:cNvPr>
          <p:cNvSpPr>
            <a:spLocks noGrp="1"/>
          </p:cNvSpPr>
          <p:nvPr/>
        </p:nvSpPr>
        <p:spPr>
          <a:xfrm>
            <a:off x="800100" y="4629150"/>
            <a:ext cx="9810750" cy="676275"/>
          </a:xfrm>
          <a:prstGeom prst="rect">
            <a:avLst/>
          </a:prstGeom>
          <a:noFill/>
          <a:ln w="0">
            <a:noFill/>
            <a:prstDash val="solid"/>
          </a:ln>
        </p:spPr>
        <p:txBody>
          <a:bodyPr wrap="square" lIns="0" tIns="0" rIns="0" bIns="0" anchor="ctr">
            <a:normAutofit/>
          </a:bodyPr>
          <a:lstStyle>
            <a:defPPr algn="l">
              <a:defRPr sz="2400" b="0">
                <a:solidFill>
                  <a:srgbClr val="202935"/>
                </a:solidFill>
                <a:latin typeface="Arial"/>
                <a:ea typeface="Arial"/>
                <a:cs typeface="Arial"/>
              </a:defRPr>
            </a:defPPr>
            <a:lvl1pPr algn="l">
              <a:defRPr sz="2400" b="0">
                <a:solidFill>
                  <a:srgbClr val="202935"/>
                </a:solidFill>
                <a:latin typeface="Arial"/>
                <a:ea typeface="Arial"/>
                <a:cs typeface="Arial"/>
              </a:defRPr>
            </a:lvl1pPr>
            <a:lvl2pPr algn="l">
              <a:defRPr sz="2400" b="0">
                <a:solidFill>
                  <a:srgbClr val="202935"/>
                </a:solidFill>
                <a:latin typeface="Arial"/>
                <a:ea typeface="Arial"/>
                <a:cs typeface="Arial"/>
              </a:defRPr>
            </a:lvl2pPr>
            <a:lvl3pPr algn="l">
              <a:defRPr sz="2400" b="0">
                <a:solidFill>
                  <a:srgbClr val="202935"/>
                </a:solidFill>
                <a:latin typeface="Arial"/>
                <a:ea typeface="Arial"/>
                <a:cs typeface="Arial"/>
              </a:defRPr>
            </a:lvl3pPr>
            <a:lvl4pPr algn="l">
              <a:defRPr sz="2400" b="0">
                <a:solidFill>
                  <a:srgbClr val="202935"/>
                </a:solidFill>
                <a:latin typeface="Arial"/>
                <a:ea typeface="Arial"/>
                <a:cs typeface="Arial"/>
              </a:defRPr>
            </a:lvl4pPr>
            <a:lvl5pPr algn="l">
              <a:defRPr sz="2400" b="0">
                <a:solidFill>
                  <a:srgbClr val="202935"/>
                </a:solidFill>
                <a:latin typeface="Arial"/>
                <a:ea typeface="Arial"/>
                <a:cs typeface="Arial"/>
              </a:defRPr>
            </a:lvl5pPr>
            <a:lvl6pPr algn="l">
              <a:defRPr sz="2400" b="0">
                <a:solidFill>
                  <a:srgbClr val="202935"/>
                </a:solidFill>
                <a:latin typeface="Arial"/>
                <a:ea typeface="Arial"/>
                <a:cs typeface="Arial"/>
              </a:defRPr>
            </a:lvl6pPr>
            <a:lvl7pPr algn="l">
              <a:defRPr sz="2400" b="0">
                <a:solidFill>
                  <a:srgbClr val="202935"/>
                </a:solidFill>
                <a:latin typeface="Arial"/>
                <a:ea typeface="Arial"/>
                <a:cs typeface="Arial"/>
              </a:defRPr>
            </a:lvl7pPr>
            <a:lvl8pPr algn="l">
              <a:defRPr sz="2400" b="0">
                <a:solidFill>
                  <a:srgbClr val="202935"/>
                </a:solidFill>
                <a:latin typeface="Arial"/>
                <a:ea typeface="Arial"/>
                <a:cs typeface="Arial"/>
              </a:defRPr>
            </a:lvl8pPr>
            <a:lvl9pPr algn="l">
              <a:defRPr sz="2400" b="0">
                <a:solidFill>
                  <a:srgbClr val="202935"/>
                </a:solidFill>
                <a:latin typeface="Arial"/>
                <a:ea typeface="Arial"/>
                <a:cs typeface="Arial"/>
              </a:defRPr>
            </a:lvl9pPr>
          </a:lstStyle>
          <a:p>
            <a:pPr algn="l">
              <a:defRPr sz="2400" b="0">
                <a:solidFill>
                  <a:srgbClr val="202935"/>
                </a:solidFill>
                <a:latin typeface="Arial"/>
                <a:ea typeface="Arial"/>
                <a:cs typeface="Arial"/>
              </a:defRPr>
            </a:pPr>
            <a:r>
              <a:rPr lang="de-AT" sz="2400" b="0" noProof="0" dirty="0">
                <a:solidFill>
                  <a:srgbClr val="202935"/>
                </a:solidFill>
                <a:latin typeface="Arial"/>
                <a:ea typeface="Arial"/>
                <a:cs typeface="Arial"/>
              </a:rPr>
              <a:t>04  Ergebnisse und Takeaways</a:t>
            </a:r>
          </a:p>
        </p:txBody>
      </p:sp>
    </p:spTree>
    <p:extLst>
      <p:ext uri="{BB962C8B-B14F-4D97-AF65-F5344CB8AC3E}">
        <p14:creationId xmlns:p14="http://schemas.microsoft.com/office/powerpoint/2010/main" val="720565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cxnSp>
        <p:nvCxnSpPr>
          <p:cNvPr id="18" name="Gerade Verbindung mit Pfeil 17">
            <a:extLst>
              <a:ext uri="{FF2B5EF4-FFF2-40B4-BE49-F238E27FC236}">
                <a16:creationId xmlns:a16="http://schemas.microsoft.com/office/drawing/2014/main" id="{2F5BB70E-2BB4-4134-BF77-2F12A2F386EA}"/>
              </a:ext>
            </a:extLst>
          </p:cNvPr>
          <p:cNvCxnSpPr>
            <a:stCxn id="11" idx="3"/>
            <a:endCxn id="14" idx="1"/>
          </p:cNvCxnSpPr>
          <p:nvPr/>
        </p:nvCxnSpPr>
        <p:spPr>
          <a:xfrm>
            <a:off x="7610475" y="4367213"/>
            <a:ext cx="733425" cy="0"/>
          </a:xfrm>
          <a:prstGeom prst="straightConnector1">
            <a:avLst/>
          </a:prstGeom>
          <a:ln w="19050">
            <a:solidFill>
              <a:srgbClr val="202935"/>
            </a:solidFill>
            <a:prstDash val="solid"/>
            <a:tailEnd type="arrow" w="med" len="med"/>
          </a:ln>
        </p:spPr>
      </p:cxnSp>
      <p:cxnSp>
        <p:nvCxnSpPr>
          <p:cNvPr id="17" name="Gerade Verbindung mit Pfeil 16">
            <a:extLst>
              <a:ext uri="{FF2B5EF4-FFF2-40B4-BE49-F238E27FC236}">
                <a16:creationId xmlns:a16="http://schemas.microsoft.com/office/drawing/2014/main" id="{41EC5A10-4B73-4FEC-8BCF-45C6EF857FFB}"/>
              </a:ext>
            </a:extLst>
          </p:cNvPr>
          <p:cNvCxnSpPr>
            <a:stCxn id="8" idx="3"/>
            <a:endCxn id="11" idx="1"/>
          </p:cNvCxnSpPr>
          <p:nvPr/>
        </p:nvCxnSpPr>
        <p:spPr>
          <a:xfrm>
            <a:off x="3876675" y="4367213"/>
            <a:ext cx="733425" cy="0"/>
          </a:xfrm>
          <a:prstGeom prst="straightConnector1">
            <a:avLst/>
          </a:prstGeom>
          <a:ln w="19050">
            <a:solidFill>
              <a:srgbClr val="202935"/>
            </a:solidFill>
            <a:prstDash val="solid"/>
            <a:tailEnd type="arrow" w="med" len="med"/>
          </a:ln>
        </p:spPr>
      </p:cxnSp>
      <p:sp>
        <p:nvSpPr>
          <p:cNvPr id="19" name="Rechteck 18">
            <a:extLst>
              <a:ext uri="{FF2B5EF4-FFF2-40B4-BE49-F238E27FC236}">
                <a16:creationId xmlns:a16="http://schemas.microsoft.com/office/drawing/2014/main" id="{0C453627-17C4-4639-A6AB-592D361DEF42}"/>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1DCEE152-D2A6-4057-92B7-C1FB1CCB2418}"/>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Die Geschichte in einer Minute</a:t>
            </a:r>
          </a:p>
        </p:txBody>
      </p:sp>
      <p:sp>
        <p:nvSpPr>
          <p:cNvPr id="3" name="Rechteck 2">
            <a:extLst>
              <a:ext uri="{FF2B5EF4-FFF2-40B4-BE49-F238E27FC236}">
                <a16:creationId xmlns:a16="http://schemas.microsoft.com/office/drawing/2014/main" id="{208DBCF6-C428-447A-99F1-95D419773F04}"/>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6FE4BBB3-3DAB-4BC5-BA83-17A1B9170BAD}"/>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91002AA0-CA85-4A53-8B15-4CB6FCDBDE59}"/>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06</a:t>
            </a:r>
          </a:p>
        </p:txBody>
      </p:sp>
      <p:sp>
        <p:nvSpPr>
          <p:cNvPr id="6" name="Rechteck 5">
            <a:extLst>
              <a:ext uri="{FF2B5EF4-FFF2-40B4-BE49-F238E27FC236}">
                <a16:creationId xmlns:a16="http://schemas.microsoft.com/office/drawing/2014/main" id="{193B1766-0480-4C53-AB6D-BF635A3A5BE4}"/>
              </a:ext>
            </a:extLst>
          </p:cNvPr>
          <p:cNvSpPr>
            <a:spLocks noGrp="1"/>
          </p:cNvSpPr>
          <p:nvPr/>
        </p:nvSpPr>
        <p:spPr>
          <a:xfrm>
            <a:off x="733425" y="1476375"/>
            <a:ext cx="4572000" cy="257175"/>
          </a:xfrm>
          <a:prstGeom prst="rect">
            <a:avLst/>
          </a:prstGeom>
          <a:noFill/>
          <a:ln w="0">
            <a:noFill/>
            <a:prstDash val="solid"/>
          </a:ln>
        </p:spPr>
        <p:txBody>
          <a:bodyPr wrap="square" lIns="0" tIns="0" rIns="0" bIns="0" anchor="ctr">
            <a:normAutofit/>
          </a:bodyPr>
          <a:lstStyle>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a:pPr algn="l">
              <a:defRPr sz="1125" b="1">
                <a:solidFill>
                  <a:srgbClr val="C55A2B"/>
                </a:solidFill>
                <a:latin typeface="Arial"/>
                <a:ea typeface="Arial"/>
                <a:cs typeface="Arial"/>
              </a:defRPr>
            </a:pPr>
            <a:r>
              <a:rPr lang="de-AT" sz="1125" b="1" noProof="0" dirty="0">
                <a:solidFill>
                  <a:srgbClr val="C55A2B"/>
                </a:solidFill>
                <a:latin typeface="Arial"/>
                <a:ea typeface="Arial"/>
                <a:cs typeface="Arial"/>
              </a:rPr>
              <a:t>FIKTIVES SZENARIO</a:t>
            </a:r>
          </a:p>
        </p:txBody>
      </p:sp>
      <p:sp>
        <p:nvSpPr>
          <p:cNvPr id="7" name="Rechteck 6">
            <a:extLst>
              <a:ext uri="{FF2B5EF4-FFF2-40B4-BE49-F238E27FC236}">
                <a16:creationId xmlns:a16="http://schemas.microsoft.com/office/drawing/2014/main" id="{707FFFF1-6711-4435-9C4F-C5FDFB47656D}"/>
              </a:ext>
            </a:extLst>
          </p:cNvPr>
          <p:cNvSpPr>
            <a:spLocks noGrp="1"/>
          </p:cNvSpPr>
          <p:nvPr/>
        </p:nvSpPr>
        <p:spPr>
          <a:xfrm>
            <a:off x="733425" y="1933575"/>
            <a:ext cx="10001250" cy="1209675"/>
          </a:xfrm>
          <a:prstGeom prst="rect">
            <a:avLst/>
          </a:prstGeom>
          <a:noFill/>
          <a:ln w="0">
            <a:noFill/>
            <a:prstDash val="solid"/>
          </a:ln>
        </p:spPr>
        <p:txBody>
          <a:bodyPr wrap="square" lIns="0" tIns="0" rIns="0" bIns="0" anchor="ctr">
            <a:normAutofit/>
          </a:bodyPr>
          <a:lstStyle>
            <a:defPPr algn="l">
              <a:defRPr sz="2550" b="1">
                <a:solidFill>
                  <a:srgbClr val="202935"/>
                </a:solidFill>
                <a:latin typeface="Arial"/>
                <a:ea typeface="Arial"/>
                <a:cs typeface="Arial"/>
              </a:defRPr>
            </a:defPPr>
            <a:lvl1pPr algn="l">
              <a:defRPr sz="2550" b="1">
                <a:solidFill>
                  <a:srgbClr val="202935"/>
                </a:solidFill>
                <a:latin typeface="Arial"/>
                <a:ea typeface="Arial"/>
                <a:cs typeface="Arial"/>
              </a:defRPr>
            </a:lvl1pPr>
            <a:lvl2pPr algn="l">
              <a:defRPr sz="2550" b="1">
                <a:solidFill>
                  <a:srgbClr val="202935"/>
                </a:solidFill>
                <a:latin typeface="Arial"/>
                <a:ea typeface="Arial"/>
                <a:cs typeface="Arial"/>
              </a:defRPr>
            </a:lvl2pPr>
            <a:lvl3pPr algn="l">
              <a:defRPr sz="2550" b="1">
                <a:solidFill>
                  <a:srgbClr val="202935"/>
                </a:solidFill>
                <a:latin typeface="Arial"/>
                <a:ea typeface="Arial"/>
                <a:cs typeface="Arial"/>
              </a:defRPr>
            </a:lvl3pPr>
            <a:lvl4pPr algn="l">
              <a:defRPr sz="2550" b="1">
                <a:solidFill>
                  <a:srgbClr val="202935"/>
                </a:solidFill>
                <a:latin typeface="Arial"/>
                <a:ea typeface="Arial"/>
                <a:cs typeface="Arial"/>
              </a:defRPr>
            </a:lvl4pPr>
            <a:lvl5pPr algn="l">
              <a:defRPr sz="2550" b="1">
                <a:solidFill>
                  <a:srgbClr val="202935"/>
                </a:solidFill>
                <a:latin typeface="Arial"/>
                <a:ea typeface="Arial"/>
                <a:cs typeface="Arial"/>
              </a:defRPr>
            </a:lvl5pPr>
            <a:lvl6pPr algn="l">
              <a:defRPr sz="2550" b="1">
                <a:solidFill>
                  <a:srgbClr val="202935"/>
                </a:solidFill>
                <a:latin typeface="Arial"/>
                <a:ea typeface="Arial"/>
                <a:cs typeface="Arial"/>
              </a:defRPr>
            </a:lvl6pPr>
            <a:lvl7pPr algn="l">
              <a:defRPr sz="2550" b="1">
                <a:solidFill>
                  <a:srgbClr val="202935"/>
                </a:solidFill>
                <a:latin typeface="Arial"/>
                <a:ea typeface="Arial"/>
                <a:cs typeface="Arial"/>
              </a:defRPr>
            </a:lvl7pPr>
            <a:lvl8pPr algn="l">
              <a:defRPr sz="2550" b="1">
                <a:solidFill>
                  <a:srgbClr val="202935"/>
                </a:solidFill>
                <a:latin typeface="Arial"/>
                <a:ea typeface="Arial"/>
                <a:cs typeface="Arial"/>
              </a:defRPr>
            </a:lvl8pPr>
            <a:lvl9pPr algn="l">
              <a:defRPr sz="2550" b="1">
                <a:solidFill>
                  <a:srgbClr val="202935"/>
                </a:solidFill>
                <a:latin typeface="Arial"/>
                <a:ea typeface="Arial"/>
                <a:cs typeface="Arial"/>
              </a:defRPr>
            </a:lvl9pPr>
          </a:lstStyle>
          <a:p>
            <a:pPr algn="l">
              <a:defRPr sz="2550" b="1">
                <a:solidFill>
                  <a:srgbClr val="202935"/>
                </a:solidFill>
                <a:latin typeface="Arial"/>
                <a:ea typeface="Arial"/>
                <a:cs typeface="Arial"/>
              </a:defRPr>
            </a:pPr>
            <a:r>
              <a:rPr lang="de-AT" sz="2550" b="1" noProof="0" dirty="0">
                <a:solidFill>
                  <a:srgbClr val="202935"/>
                </a:solidFill>
                <a:latin typeface="Arial"/>
                <a:ea typeface="Arial"/>
                <a:cs typeface="Arial"/>
              </a:rPr>
              <a:t>Ein AI Assistant veröffentlicht versehentlich eine Konfiguration für das MATO-Archiv.</a:t>
            </a:r>
          </a:p>
        </p:txBody>
      </p:sp>
      <p:sp>
        <p:nvSpPr>
          <p:cNvPr id="8" name="Rechteck 7">
            <a:extLst>
              <a:ext uri="{FF2B5EF4-FFF2-40B4-BE49-F238E27FC236}">
                <a16:creationId xmlns:a16="http://schemas.microsoft.com/office/drawing/2014/main" id="{32AA398A-DD58-40FF-AD35-EF15F355BE6C}"/>
              </a:ext>
            </a:extLst>
          </p:cNvPr>
          <p:cNvSpPr>
            <a:spLocks noGrp="1"/>
          </p:cNvSpPr>
          <p:nvPr/>
        </p:nvSpPr>
        <p:spPr>
          <a:xfrm>
            <a:off x="876300" y="3724275"/>
            <a:ext cx="3000375" cy="1285875"/>
          </a:xfrm>
          <a:prstGeom prst="rect">
            <a:avLst/>
          </a:prstGeom>
          <a:solidFill>
            <a:srgbClr val="FFFFFF"/>
          </a:solidFill>
          <a:ln w="9525">
            <a:solidFill>
              <a:srgbClr val="D6D4CD"/>
            </a:solidFill>
            <a:prstDash val="solid"/>
          </a:ln>
        </p:spPr>
        <p:txBody>
          <a:bodyPr/>
          <a:lstStyle/>
          <a:p>
            <a:endParaRPr lang="de-AT" noProof="0" dirty="0"/>
          </a:p>
        </p:txBody>
      </p:sp>
      <p:sp>
        <p:nvSpPr>
          <p:cNvPr id="9" name="Rechteck 8">
            <a:extLst>
              <a:ext uri="{FF2B5EF4-FFF2-40B4-BE49-F238E27FC236}">
                <a16:creationId xmlns:a16="http://schemas.microsoft.com/office/drawing/2014/main" id="{E7DED7E4-02C8-4B33-9A4A-5907A7B0B40F}"/>
              </a:ext>
            </a:extLst>
          </p:cNvPr>
          <p:cNvSpPr>
            <a:spLocks noGrp="1"/>
          </p:cNvSpPr>
          <p:nvPr/>
        </p:nvSpPr>
        <p:spPr>
          <a:xfrm>
            <a:off x="1028700" y="3838575"/>
            <a:ext cx="2695575"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Öffentliches Repo</a:t>
            </a:r>
          </a:p>
        </p:txBody>
      </p:sp>
      <p:sp>
        <p:nvSpPr>
          <p:cNvPr id="10" name="Rechteck 9">
            <a:extLst>
              <a:ext uri="{FF2B5EF4-FFF2-40B4-BE49-F238E27FC236}">
                <a16:creationId xmlns:a16="http://schemas.microsoft.com/office/drawing/2014/main" id="{8C7E3B2C-12A9-4763-839F-57BD370B2C94}"/>
              </a:ext>
            </a:extLst>
          </p:cNvPr>
          <p:cNvSpPr>
            <a:spLocks noGrp="1"/>
          </p:cNvSpPr>
          <p:nvPr/>
        </p:nvSpPr>
        <p:spPr>
          <a:xfrm>
            <a:off x="1028700" y="4191000"/>
            <a:ext cx="2695575" cy="752475"/>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enthält .</a:t>
            </a:r>
            <a:r>
              <a:rPr lang="de-AT" sz="1275" b="0" noProof="0" dirty="0" err="1">
                <a:solidFill>
                  <a:srgbClr val="5D6872"/>
                </a:solidFill>
                <a:latin typeface="Arial"/>
                <a:ea typeface="Arial"/>
                <a:cs typeface="Arial"/>
              </a:rPr>
              <a:t>mcp.json</a:t>
            </a:r>
            <a:endParaRPr lang="de-AT" sz="1275" b="0" noProof="0" dirty="0">
              <a:solidFill>
                <a:srgbClr val="5D6872"/>
              </a:solidFill>
              <a:latin typeface="Arial"/>
              <a:ea typeface="Arial"/>
              <a:cs typeface="Arial"/>
            </a:endParaRPr>
          </a:p>
        </p:txBody>
      </p:sp>
      <p:sp>
        <p:nvSpPr>
          <p:cNvPr id="11" name="Rechteck 10">
            <a:extLst>
              <a:ext uri="{FF2B5EF4-FFF2-40B4-BE49-F238E27FC236}">
                <a16:creationId xmlns:a16="http://schemas.microsoft.com/office/drawing/2014/main" id="{C64DC20D-9575-4750-88A8-9A201E5B35DF}"/>
              </a:ext>
            </a:extLst>
          </p:cNvPr>
          <p:cNvSpPr>
            <a:spLocks noGrp="1"/>
          </p:cNvSpPr>
          <p:nvPr/>
        </p:nvSpPr>
        <p:spPr>
          <a:xfrm>
            <a:off x="4610100" y="3724275"/>
            <a:ext cx="3000375" cy="1285875"/>
          </a:xfrm>
          <a:prstGeom prst="rect">
            <a:avLst/>
          </a:prstGeom>
          <a:solidFill>
            <a:srgbClr val="FFFFFF"/>
          </a:solidFill>
          <a:ln w="19050">
            <a:solidFill>
              <a:srgbClr val="C55A2B"/>
            </a:solidFill>
            <a:prstDash val="solid"/>
          </a:ln>
        </p:spPr>
        <p:txBody>
          <a:bodyPr/>
          <a:lstStyle/>
          <a:p>
            <a:endParaRPr lang="de-AT" noProof="0" dirty="0"/>
          </a:p>
        </p:txBody>
      </p:sp>
      <p:sp>
        <p:nvSpPr>
          <p:cNvPr id="12" name="Rechteck 11">
            <a:extLst>
              <a:ext uri="{FF2B5EF4-FFF2-40B4-BE49-F238E27FC236}">
                <a16:creationId xmlns:a16="http://schemas.microsoft.com/office/drawing/2014/main" id="{4B462B9B-D979-43DB-A400-ED760BA30209}"/>
              </a:ext>
            </a:extLst>
          </p:cNvPr>
          <p:cNvSpPr>
            <a:spLocks noGrp="1"/>
          </p:cNvSpPr>
          <p:nvPr/>
        </p:nvSpPr>
        <p:spPr>
          <a:xfrm>
            <a:off x="4762500" y="3838575"/>
            <a:ext cx="2695575"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Gateway URL</a:t>
            </a:r>
          </a:p>
        </p:txBody>
      </p:sp>
      <p:sp>
        <p:nvSpPr>
          <p:cNvPr id="13" name="Rechteck 12">
            <a:extLst>
              <a:ext uri="{FF2B5EF4-FFF2-40B4-BE49-F238E27FC236}">
                <a16:creationId xmlns:a16="http://schemas.microsoft.com/office/drawing/2014/main" id="{A871DBE9-E2E8-41AD-9750-BAA982804BEA}"/>
              </a:ext>
            </a:extLst>
          </p:cNvPr>
          <p:cNvSpPr>
            <a:spLocks noGrp="1"/>
          </p:cNvSpPr>
          <p:nvPr/>
        </p:nvSpPr>
        <p:spPr>
          <a:xfrm>
            <a:off x="4762500" y="4191000"/>
            <a:ext cx="2695575" cy="752475"/>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erster Zugangspunkt</a:t>
            </a:r>
          </a:p>
        </p:txBody>
      </p:sp>
      <p:sp>
        <p:nvSpPr>
          <p:cNvPr id="14" name="Rechteck 13">
            <a:extLst>
              <a:ext uri="{FF2B5EF4-FFF2-40B4-BE49-F238E27FC236}">
                <a16:creationId xmlns:a16="http://schemas.microsoft.com/office/drawing/2014/main" id="{ED5A6DC4-9480-4BBB-874E-275085E0D387}"/>
              </a:ext>
            </a:extLst>
          </p:cNvPr>
          <p:cNvSpPr>
            <a:spLocks noGrp="1"/>
          </p:cNvSpPr>
          <p:nvPr/>
        </p:nvSpPr>
        <p:spPr>
          <a:xfrm>
            <a:off x="8343900" y="3724275"/>
            <a:ext cx="3000375" cy="1285875"/>
          </a:xfrm>
          <a:prstGeom prst="rect">
            <a:avLst/>
          </a:prstGeom>
          <a:solidFill>
            <a:srgbClr val="FFFFFF"/>
          </a:solidFill>
          <a:ln w="9525">
            <a:solidFill>
              <a:srgbClr val="D6D4CD"/>
            </a:solidFill>
            <a:prstDash val="solid"/>
          </a:ln>
        </p:spPr>
        <p:txBody>
          <a:bodyPr/>
          <a:lstStyle/>
          <a:p>
            <a:endParaRPr lang="de-AT" noProof="0" dirty="0"/>
          </a:p>
        </p:txBody>
      </p:sp>
      <p:sp>
        <p:nvSpPr>
          <p:cNvPr id="15" name="Rechteck 14">
            <a:extLst>
              <a:ext uri="{FF2B5EF4-FFF2-40B4-BE49-F238E27FC236}">
                <a16:creationId xmlns:a16="http://schemas.microsoft.com/office/drawing/2014/main" id="{5B0631BA-20C2-43B0-BC76-354FBA5D69EA}"/>
              </a:ext>
            </a:extLst>
          </p:cNvPr>
          <p:cNvSpPr>
            <a:spLocks noGrp="1"/>
          </p:cNvSpPr>
          <p:nvPr/>
        </p:nvSpPr>
        <p:spPr>
          <a:xfrm>
            <a:off x="8496300" y="3838575"/>
            <a:ext cx="2695575"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Vier Flags</a:t>
            </a:r>
          </a:p>
        </p:txBody>
      </p:sp>
      <p:sp>
        <p:nvSpPr>
          <p:cNvPr id="16" name="Rechteck 15">
            <a:extLst>
              <a:ext uri="{FF2B5EF4-FFF2-40B4-BE49-F238E27FC236}">
                <a16:creationId xmlns:a16="http://schemas.microsoft.com/office/drawing/2014/main" id="{CC94D494-48DD-482B-BC3C-FDB5CC0119C2}"/>
              </a:ext>
            </a:extLst>
          </p:cNvPr>
          <p:cNvSpPr>
            <a:spLocks noGrp="1"/>
          </p:cNvSpPr>
          <p:nvPr/>
        </p:nvSpPr>
        <p:spPr>
          <a:xfrm>
            <a:off x="8496300" y="4191000"/>
            <a:ext cx="2695575" cy="752475"/>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Marker für Ergebnisse</a:t>
            </a:r>
          </a:p>
        </p:txBody>
      </p:sp>
    </p:spTree>
    <p:extLst>
      <p:ext uri="{BB962C8B-B14F-4D97-AF65-F5344CB8AC3E}">
        <p14:creationId xmlns:p14="http://schemas.microsoft.com/office/powerpoint/2010/main" val="902946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6" name="Rechteck 15">
            <a:extLst>
              <a:ext uri="{FF2B5EF4-FFF2-40B4-BE49-F238E27FC236}">
                <a16:creationId xmlns:a16="http://schemas.microsoft.com/office/drawing/2014/main" id="{9F4FB9E1-6810-454B-9D32-DFD25A15BC15}"/>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76BD6D97-4336-492F-8261-D43899EC6476}"/>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Die Idee des Demo-Systems</a:t>
            </a:r>
          </a:p>
        </p:txBody>
      </p:sp>
      <p:sp>
        <p:nvSpPr>
          <p:cNvPr id="3" name="Rechteck 2">
            <a:extLst>
              <a:ext uri="{FF2B5EF4-FFF2-40B4-BE49-F238E27FC236}">
                <a16:creationId xmlns:a16="http://schemas.microsoft.com/office/drawing/2014/main" id="{A9D5D8D2-D615-4309-B006-C0878BC83DF5}"/>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7F45BDDD-CFA9-411A-AC4F-FAF45F3FD9FD}"/>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1B5CA542-0E43-4A98-886B-3F36971DBE00}"/>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07</a:t>
            </a:r>
          </a:p>
        </p:txBody>
      </p:sp>
      <p:sp>
        <p:nvSpPr>
          <p:cNvPr id="6" name="Rechteck 5">
            <a:extLst>
              <a:ext uri="{FF2B5EF4-FFF2-40B4-BE49-F238E27FC236}">
                <a16:creationId xmlns:a16="http://schemas.microsoft.com/office/drawing/2014/main" id="{18F8CF97-310F-4025-B20A-2743A557DB0B}"/>
              </a:ext>
            </a:extLst>
          </p:cNvPr>
          <p:cNvSpPr>
            <a:spLocks noGrp="1"/>
          </p:cNvSpPr>
          <p:nvPr/>
        </p:nvSpPr>
        <p:spPr>
          <a:xfrm>
            <a:off x="695325" y="1495425"/>
            <a:ext cx="10382250" cy="666750"/>
          </a:xfrm>
          <a:prstGeom prst="rect">
            <a:avLst/>
          </a:prstGeom>
          <a:noFill/>
          <a:ln w="0">
            <a:noFill/>
            <a:prstDash val="solid"/>
          </a:ln>
        </p:spPr>
        <p:txBody>
          <a:bodyPr wrap="square" lIns="0" tIns="0" rIns="0" bIns="0" anchor="ctr">
            <a:normAutofit/>
          </a:bodyPr>
          <a:lstStyle>
            <a:defPPr algn="l">
              <a:defRPr sz="2325" b="1">
                <a:solidFill>
                  <a:srgbClr val="202935"/>
                </a:solidFill>
                <a:latin typeface="Arial"/>
                <a:ea typeface="Arial"/>
                <a:cs typeface="Arial"/>
              </a:defRPr>
            </a:defPPr>
            <a:lvl1pPr algn="l">
              <a:defRPr sz="2325" b="1">
                <a:solidFill>
                  <a:srgbClr val="202935"/>
                </a:solidFill>
                <a:latin typeface="Arial"/>
                <a:ea typeface="Arial"/>
                <a:cs typeface="Arial"/>
              </a:defRPr>
            </a:lvl1pPr>
            <a:lvl2pPr algn="l">
              <a:defRPr sz="2325" b="1">
                <a:solidFill>
                  <a:srgbClr val="202935"/>
                </a:solidFill>
                <a:latin typeface="Arial"/>
                <a:ea typeface="Arial"/>
                <a:cs typeface="Arial"/>
              </a:defRPr>
            </a:lvl2pPr>
            <a:lvl3pPr algn="l">
              <a:defRPr sz="2325" b="1">
                <a:solidFill>
                  <a:srgbClr val="202935"/>
                </a:solidFill>
                <a:latin typeface="Arial"/>
                <a:ea typeface="Arial"/>
                <a:cs typeface="Arial"/>
              </a:defRPr>
            </a:lvl3pPr>
            <a:lvl4pPr algn="l">
              <a:defRPr sz="2325" b="1">
                <a:solidFill>
                  <a:srgbClr val="202935"/>
                </a:solidFill>
                <a:latin typeface="Arial"/>
                <a:ea typeface="Arial"/>
                <a:cs typeface="Arial"/>
              </a:defRPr>
            </a:lvl4pPr>
            <a:lvl5pPr algn="l">
              <a:defRPr sz="2325" b="1">
                <a:solidFill>
                  <a:srgbClr val="202935"/>
                </a:solidFill>
                <a:latin typeface="Arial"/>
                <a:ea typeface="Arial"/>
                <a:cs typeface="Arial"/>
              </a:defRPr>
            </a:lvl5pPr>
            <a:lvl6pPr algn="l">
              <a:defRPr sz="2325" b="1">
                <a:solidFill>
                  <a:srgbClr val="202935"/>
                </a:solidFill>
                <a:latin typeface="Arial"/>
                <a:ea typeface="Arial"/>
                <a:cs typeface="Arial"/>
              </a:defRPr>
            </a:lvl6pPr>
            <a:lvl7pPr algn="l">
              <a:defRPr sz="2325" b="1">
                <a:solidFill>
                  <a:srgbClr val="202935"/>
                </a:solidFill>
                <a:latin typeface="Arial"/>
                <a:ea typeface="Arial"/>
                <a:cs typeface="Arial"/>
              </a:defRPr>
            </a:lvl7pPr>
            <a:lvl8pPr algn="l">
              <a:defRPr sz="2325" b="1">
                <a:solidFill>
                  <a:srgbClr val="202935"/>
                </a:solidFill>
                <a:latin typeface="Arial"/>
                <a:ea typeface="Arial"/>
                <a:cs typeface="Arial"/>
              </a:defRPr>
            </a:lvl8pPr>
            <a:lvl9pPr algn="l">
              <a:defRPr sz="2325" b="1">
                <a:solidFill>
                  <a:srgbClr val="202935"/>
                </a:solidFill>
                <a:latin typeface="Arial"/>
                <a:ea typeface="Arial"/>
                <a:cs typeface="Arial"/>
              </a:defRPr>
            </a:lvl9pPr>
          </a:lstStyle>
          <a:p>
            <a:pPr algn="l">
              <a:defRPr sz="2325" b="1">
                <a:solidFill>
                  <a:srgbClr val="202935"/>
                </a:solidFill>
                <a:latin typeface="Arial"/>
                <a:ea typeface="Arial"/>
                <a:cs typeface="Arial"/>
              </a:defRPr>
            </a:pPr>
            <a:r>
              <a:rPr lang="de-AT" sz="2325" b="1" noProof="0" dirty="0">
                <a:solidFill>
                  <a:srgbClr val="202935"/>
                </a:solidFill>
                <a:latin typeface="Arial"/>
                <a:ea typeface="Arial"/>
                <a:cs typeface="Arial"/>
              </a:rPr>
              <a:t>Ein kontrolliertes System für eine zusammenhängende Untersuchung</a:t>
            </a:r>
          </a:p>
        </p:txBody>
      </p:sp>
      <p:sp>
        <p:nvSpPr>
          <p:cNvPr id="7" name="Gerader Verbinder 6">
            <a:extLst>
              <a:ext uri="{FF2B5EF4-FFF2-40B4-BE49-F238E27FC236}">
                <a16:creationId xmlns:a16="http://schemas.microsoft.com/office/drawing/2014/main" id="{74043AE0-1A83-47E0-A112-926584BC6965}"/>
              </a:ext>
            </a:extLst>
          </p:cNvPr>
          <p:cNvSpPr>
            <a:spLocks noGrp="1"/>
          </p:cNvSpPr>
          <p:nvPr/>
        </p:nvSpPr>
        <p:spPr>
          <a:xfrm>
            <a:off x="704850" y="2419350"/>
            <a:ext cx="10477500" cy="0"/>
          </a:xfrm>
          <a:prstGeom prst="line">
            <a:avLst/>
          </a:prstGeom>
          <a:noFill/>
          <a:ln w="19050">
            <a:solidFill>
              <a:srgbClr val="D6D4CD"/>
            </a:solidFill>
            <a:prstDash val="solid"/>
          </a:ln>
        </p:spPr>
        <p:txBody>
          <a:bodyPr/>
          <a:lstStyle/>
          <a:p>
            <a:endParaRPr lang="de-AT" noProof="0" dirty="0"/>
          </a:p>
        </p:txBody>
      </p:sp>
      <p:sp>
        <p:nvSpPr>
          <p:cNvPr id="8" name="Rechteck 7">
            <a:extLst>
              <a:ext uri="{FF2B5EF4-FFF2-40B4-BE49-F238E27FC236}">
                <a16:creationId xmlns:a16="http://schemas.microsoft.com/office/drawing/2014/main" id="{26749F21-14F4-48EC-A9B0-78FE38FA3D8A}"/>
              </a:ext>
            </a:extLst>
          </p:cNvPr>
          <p:cNvSpPr>
            <a:spLocks noGrp="1"/>
          </p:cNvSpPr>
          <p:nvPr/>
        </p:nvSpPr>
        <p:spPr>
          <a:xfrm>
            <a:off x="762000" y="2838450"/>
            <a:ext cx="3048000" cy="428625"/>
          </a:xfrm>
          <a:prstGeom prst="rect">
            <a:avLst/>
          </a:prstGeom>
          <a:noFill/>
          <a:ln w="0">
            <a:noFill/>
            <a:prstDash val="solid"/>
          </a:ln>
        </p:spPr>
        <p:txBody>
          <a:bodyPr wrap="square" lIns="0" tIns="0" rIns="0" bIns="0" anchor="ctr">
            <a:normAutofit/>
          </a:bodyPr>
          <a:lstStyle>
            <a:defPPr algn="l">
              <a:defRPr sz="2175" b="1">
                <a:solidFill>
                  <a:srgbClr val="C55A2B"/>
                </a:solidFill>
                <a:latin typeface="Arial"/>
                <a:ea typeface="Arial"/>
                <a:cs typeface="Arial"/>
              </a:defRPr>
            </a:defPPr>
            <a:lvl1pPr algn="l">
              <a:defRPr sz="2175" b="1">
                <a:solidFill>
                  <a:srgbClr val="C55A2B"/>
                </a:solidFill>
                <a:latin typeface="Arial"/>
                <a:ea typeface="Arial"/>
                <a:cs typeface="Arial"/>
              </a:defRPr>
            </a:lvl1pPr>
            <a:lvl2pPr algn="l">
              <a:defRPr sz="2175" b="1">
                <a:solidFill>
                  <a:srgbClr val="C55A2B"/>
                </a:solidFill>
                <a:latin typeface="Arial"/>
                <a:ea typeface="Arial"/>
                <a:cs typeface="Arial"/>
              </a:defRPr>
            </a:lvl2pPr>
            <a:lvl3pPr algn="l">
              <a:defRPr sz="2175" b="1">
                <a:solidFill>
                  <a:srgbClr val="C55A2B"/>
                </a:solidFill>
                <a:latin typeface="Arial"/>
                <a:ea typeface="Arial"/>
                <a:cs typeface="Arial"/>
              </a:defRPr>
            </a:lvl3pPr>
            <a:lvl4pPr algn="l">
              <a:defRPr sz="2175" b="1">
                <a:solidFill>
                  <a:srgbClr val="C55A2B"/>
                </a:solidFill>
                <a:latin typeface="Arial"/>
                <a:ea typeface="Arial"/>
                <a:cs typeface="Arial"/>
              </a:defRPr>
            </a:lvl4pPr>
            <a:lvl5pPr algn="l">
              <a:defRPr sz="2175" b="1">
                <a:solidFill>
                  <a:srgbClr val="C55A2B"/>
                </a:solidFill>
                <a:latin typeface="Arial"/>
                <a:ea typeface="Arial"/>
                <a:cs typeface="Arial"/>
              </a:defRPr>
            </a:lvl5pPr>
            <a:lvl6pPr algn="l">
              <a:defRPr sz="2175" b="1">
                <a:solidFill>
                  <a:srgbClr val="C55A2B"/>
                </a:solidFill>
                <a:latin typeface="Arial"/>
                <a:ea typeface="Arial"/>
                <a:cs typeface="Arial"/>
              </a:defRPr>
            </a:lvl6pPr>
            <a:lvl7pPr algn="l">
              <a:defRPr sz="2175" b="1">
                <a:solidFill>
                  <a:srgbClr val="C55A2B"/>
                </a:solidFill>
                <a:latin typeface="Arial"/>
                <a:ea typeface="Arial"/>
                <a:cs typeface="Arial"/>
              </a:defRPr>
            </a:lvl7pPr>
            <a:lvl8pPr algn="l">
              <a:defRPr sz="2175" b="1">
                <a:solidFill>
                  <a:srgbClr val="C55A2B"/>
                </a:solidFill>
                <a:latin typeface="Arial"/>
                <a:ea typeface="Arial"/>
                <a:cs typeface="Arial"/>
              </a:defRPr>
            </a:lvl8pPr>
            <a:lvl9pPr algn="l">
              <a:defRPr sz="2175" b="1">
                <a:solidFill>
                  <a:srgbClr val="C55A2B"/>
                </a:solidFill>
                <a:latin typeface="Arial"/>
                <a:ea typeface="Arial"/>
                <a:cs typeface="Arial"/>
              </a:defRPr>
            </a:lvl9pPr>
          </a:lstStyle>
          <a:p>
            <a:pPr algn="l">
              <a:defRPr sz="2175" b="1">
                <a:solidFill>
                  <a:srgbClr val="C55A2B"/>
                </a:solidFill>
                <a:latin typeface="Arial"/>
                <a:ea typeface="Arial"/>
                <a:cs typeface="Arial"/>
              </a:defRPr>
            </a:pPr>
            <a:r>
              <a:rPr lang="de-AT" sz="2175" b="1" noProof="0" dirty="0">
                <a:solidFill>
                  <a:srgbClr val="C55A2B"/>
                </a:solidFill>
                <a:latin typeface="Arial"/>
                <a:ea typeface="Arial"/>
                <a:cs typeface="Arial"/>
              </a:rPr>
              <a:t>Archiv</a:t>
            </a:r>
          </a:p>
        </p:txBody>
      </p:sp>
      <p:sp>
        <p:nvSpPr>
          <p:cNvPr id="9" name="Rechteck 8">
            <a:extLst>
              <a:ext uri="{FF2B5EF4-FFF2-40B4-BE49-F238E27FC236}">
                <a16:creationId xmlns:a16="http://schemas.microsoft.com/office/drawing/2014/main" id="{76C75534-D683-4700-8074-1356898B8183}"/>
              </a:ext>
            </a:extLst>
          </p:cNvPr>
          <p:cNvSpPr>
            <a:spLocks noGrp="1"/>
          </p:cNvSpPr>
          <p:nvPr/>
        </p:nvSpPr>
        <p:spPr>
          <a:xfrm>
            <a:off x="762000" y="3419475"/>
            <a:ext cx="2857500" cy="1143000"/>
          </a:xfrm>
          <a:prstGeom prst="rect">
            <a:avLst/>
          </a:prstGeom>
          <a:noFill/>
          <a:ln w="0">
            <a:noFill/>
            <a:prstDash val="solid"/>
          </a:ln>
        </p:spPr>
        <p:txBody>
          <a:bodyPr wrap="square" lIns="0" tIns="0" rIns="0" bIns="0" anchor="ctr">
            <a:normAutofit/>
          </a:bodyPr>
          <a:lstStyle>
            <a:defPPr algn="l">
              <a:defRPr sz="1950" b="0">
                <a:solidFill>
                  <a:srgbClr val="202935"/>
                </a:solidFill>
                <a:latin typeface="Arial"/>
                <a:ea typeface="Arial"/>
                <a:cs typeface="Arial"/>
              </a:defRPr>
            </a:defPPr>
            <a:lvl1pPr algn="l">
              <a:defRPr sz="1950" b="0">
                <a:solidFill>
                  <a:srgbClr val="202935"/>
                </a:solidFill>
                <a:latin typeface="Arial"/>
                <a:ea typeface="Arial"/>
                <a:cs typeface="Arial"/>
              </a:defRPr>
            </a:lvl1pPr>
            <a:lvl2pPr algn="l">
              <a:defRPr sz="1950" b="0">
                <a:solidFill>
                  <a:srgbClr val="202935"/>
                </a:solidFill>
                <a:latin typeface="Arial"/>
                <a:ea typeface="Arial"/>
                <a:cs typeface="Arial"/>
              </a:defRPr>
            </a:lvl2pPr>
            <a:lvl3pPr algn="l">
              <a:defRPr sz="1950" b="0">
                <a:solidFill>
                  <a:srgbClr val="202935"/>
                </a:solidFill>
                <a:latin typeface="Arial"/>
                <a:ea typeface="Arial"/>
                <a:cs typeface="Arial"/>
              </a:defRPr>
            </a:lvl3pPr>
            <a:lvl4pPr algn="l">
              <a:defRPr sz="1950" b="0">
                <a:solidFill>
                  <a:srgbClr val="202935"/>
                </a:solidFill>
                <a:latin typeface="Arial"/>
                <a:ea typeface="Arial"/>
                <a:cs typeface="Arial"/>
              </a:defRPr>
            </a:lvl4pPr>
            <a:lvl5pPr algn="l">
              <a:defRPr sz="1950" b="0">
                <a:solidFill>
                  <a:srgbClr val="202935"/>
                </a:solidFill>
                <a:latin typeface="Arial"/>
                <a:ea typeface="Arial"/>
                <a:cs typeface="Arial"/>
              </a:defRPr>
            </a:lvl5pPr>
            <a:lvl6pPr algn="l">
              <a:defRPr sz="1950" b="0">
                <a:solidFill>
                  <a:srgbClr val="202935"/>
                </a:solidFill>
                <a:latin typeface="Arial"/>
                <a:ea typeface="Arial"/>
                <a:cs typeface="Arial"/>
              </a:defRPr>
            </a:lvl6pPr>
            <a:lvl7pPr algn="l">
              <a:defRPr sz="1950" b="0">
                <a:solidFill>
                  <a:srgbClr val="202935"/>
                </a:solidFill>
                <a:latin typeface="Arial"/>
                <a:ea typeface="Arial"/>
                <a:cs typeface="Arial"/>
              </a:defRPr>
            </a:lvl7pPr>
            <a:lvl8pPr algn="l">
              <a:defRPr sz="1950" b="0">
                <a:solidFill>
                  <a:srgbClr val="202935"/>
                </a:solidFill>
                <a:latin typeface="Arial"/>
                <a:ea typeface="Arial"/>
                <a:cs typeface="Arial"/>
              </a:defRPr>
            </a:lvl8pPr>
            <a:lvl9pPr algn="l">
              <a:defRPr sz="1950" b="0">
                <a:solidFill>
                  <a:srgbClr val="202935"/>
                </a:solidFill>
                <a:latin typeface="Arial"/>
                <a:ea typeface="Arial"/>
                <a:cs typeface="Arial"/>
              </a:defRPr>
            </a:lvl9pPr>
          </a:lstStyle>
          <a:p>
            <a:pPr algn="l">
              <a:defRPr sz="1950" b="0">
                <a:solidFill>
                  <a:srgbClr val="202935"/>
                </a:solidFill>
                <a:latin typeface="Arial"/>
                <a:ea typeface="Arial"/>
                <a:cs typeface="Arial"/>
              </a:defRPr>
            </a:pPr>
            <a:r>
              <a:rPr lang="de-AT" sz="1950" b="0" noProof="0" dirty="0">
                <a:solidFill>
                  <a:srgbClr val="202935"/>
                </a:solidFill>
                <a:latin typeface="Arial"/>
                <a:ea typeface="Arial"/>
                <a:cs typeface="Arial"/>
              </a:rPr>
              <a:t>Users, private Notes und </a:t>
            </a:r>
            <a:r>
              <a:rPr lang="de-AT" sz="1950" b="0" noProof="0" dirty="0" err="1">
                <a:solidFill>
                  <a:srgbClr val="202935"/>
                </a:solidFill>
                <a:latin typeface="Arial"/>
                <a:ea typeface="Arial"/>
                <a:cs typeface="Arial"/>
              </a:rPr>
              <a:t>Documents</a:t>
            </a:r>
            <a:endParaRPr lang="de-AT" sz="1950" b="0" noProof="0" dirty="0">
              <a:solidFill>
                <a:srgbClr val="202935"/>
              </a:solidFill>
              <a:latin typeface="Arial"/>
              <a:ea typeface="Arial"/>
              <a:cs typeface="Arial"/>
            </a:endParaRPr>
          </a:p>
        </p:txBody>
      </p:sp>
      <p:sp>
        <p:nvSpPr>
          <p:cNvPr id="10" name="Gerader Verbinder 9">
            <a:extLst>
              <a:ext uri="{FF2B5EF4-FFF2-40B4-BE49-F238E27FC236}">
                <a16:creationId xmlns:a16="http://schemas.microsoft.com/office/drawing/2014/main" id="{CA8972D1-7B6D-4B4F-8560-319836CC7102}"/>
              </a:ext>
            </a:extLst>
          </p:cNvPr>
          <p:cNvSpPr>
            <a:spLocks noGrp="1"/>
          </p:cNvSpPr>
          <p:nvPr/>
        </p:nvSpPr>
        <p:spPr>
          <a:xfrm>
            <a:off x="4095750" y="2705100"/>
            <a:ext cx="0" cy="2333625"/>
          </a:xfrm>
          <a:prstGeom prst="line">
            <a:avLst/>
          </a:prstGeom>
          <a:noFill/>
          <a:ln w="9525">
            <a:solidFill>
              <a:srgbClr val="D6D4CD"/>
            </a:solidFill>
            <a:prstDash val="solid"/>
          </a:ln>
        </p:spPr>
        <p:txBody>
          <a:bodyPr/>
          <a:lstStyle/>
          <a:p>
            <a:endParaRPr lang="de-AT" noProof="0" dirty="0"/>
          </a:p>
        </p:txBody>
      </p:sp>
      <p:sp>
        <p:nvSpPr>
          <p:cNvPr id="11" name="Rechteck 10">
            <a:extLst>
              <a:ext uri="{FF2B5EF4-FFF2-40B4-BE49-F238E27FC236}">
                <a16:creationId xmlns:a16="http://schemas.microsoft.com/office/drawing/2014/main" id="{C3FA4618-3E9E-4740-9023-04B5CB1DA1D8}"/>
              </a:ext>
            </a:extLst>
          </p:cNvPr>
          <p:cNvSpPr>
            <a:spLocks noGrp="1"/>
          </p:cNvSpPr>
          <p:nvPr/>
        </p:nvSpPr>
        <p:spPr>
          <a:xfrm>
            <a:off x="4514850" y="2838450"/>
            <a:ext cx="3048000" cy="428625"/>
          </a:xfrm>
          <a:prstGeom prst="rect">
            <a:avLst/>
          </a:prstGeom>
          <a:noFill/>
          <a:ln w="0">
            <a:noFill/>
            <a:prstDash val="solid"/>
          </a:ln>
        </p:spPr>
        <p:txBody>
          <a:bodyPr wrap="square" lIns="0" tIns="0" rIns="0" bIns="0" anchor="ctr">
            <a:normAutofit/>
          </a:bodyPr>
          <a:lstStyle>
            <a:defPPr algn="l">
              <a:defRPr sz="2175" b="1">
                <a:solidFill>
                  <a:srgbClr val="C55A2B"/>
                </a:solidFill>
                <a:latin typeface="Arial"/>
                <a:ea typeface="Arial"/>
                <a:cs typeface="Arial"/>
              </a:defRPr>
            </a:defPPr>
            <a:lvl1pPr algn="l">
              <a:defRPr sz="2175" b="1">
                <a:solidFill>
                  <a:srgbClr val="C55A2B"/>
                </a:solidFill>
                <a:latin typeface="Arial"/>
                <a:ea typeface="Arial"/>
                <a:cs typeface="Arial"/>
              </a:defRPr>
            </a:lvl1pPr>
            <a:lvl2pPr algn="l">
              <a:defRPr sz="2175" b="1">
                <a:solidFill>
                  <a:srgbClr val="C55A2B"/>
                </a:solidFill>
                <a:latin typeface="Arial"/>
                <a:ea typeface="Arial"/>
                <a:cs typeface="Arial"/>
              </a:defRPr>
            </a:lvl2pPr>
            <a:lvl3pPr algn="l">
              <a:defRPr sz="2175" b="1">
                <a:solidFill>
                  <a:srgbClr val="C55A2B"/>
                </a:solidFill>
                <a:latin typeface="Arial"/>
                <a:ea typeface="Arial"/>
                <a:cs typeface="Arial"/>
              </a:defRPr>
            </a:lvl3pPr>
            <a:lvl4pPr algn="l">
              <a:defRPr sz="2175" b="1">
                <a:solidFill>
                  <a:srgbClr val="C55A2B"/>
                </a:solidFill>
                <a:latin typeface="Arial"/>
                <a:ea typeface="Arial"/>
                <a:cs typeface="Arial"/>
              </a:defRPr>
            </a:lvl4pPr>
            <a:lvl5pPr algn="l">
              <a:defRPr sz="2175" b="1">
                <a:solidFill>
                  <a:srgbClr val="C55A2B"/>
                </a:solidFill>
                <a:latin typeface="Arial"/>
                <a:ea typeface="Arial"/>
                <a:cs typeface="Arial"/>
              </a:defRPr>
            </a:lvl5pPr>
            <a:lvl6pPr algn="l">
              <a:defRPr sz="2175" b="1">
                <a:solidFill>
                  <a:srgbClr val="C55A2B"/>
                </a:solidFill>
                <a:latin typeface="Arial"/>
                <a:ea typeface="Arial"/>
                <a:cs typeface="Arial"/>
              </a:defRPr>
            </a:lvl6pPr>
            <a:lvl7pPr algn="l">
              <a:defRPr sz="2175" b="1">
                <a:solidFill>
                  <a:srgbClr val="C55A2B"/>
                </a:solidFill>
                <a:latin typeface="Arial"/>
                <a:ea typeface="Arial"/>
                <a:cs typeface="Arial"/>
              </a:defRPr>
            </a:lvl7pPr>
            <a:lvl8pPr algn="l">
              <a:defRPr sz="2175" b="1">
                <a:solidFill>
                  <a:srgbClr val="C55A2B"/>
                </a:solidFill>
                <a:latin typeface="Arial"/>
                <a:ea typeface="Arial"/>
                <a:cs typeface="Arial"/>
              </a:defRPr>
            </a:lvl8pPr>
            <a:lvl9pPr algn="l">
              <a:defRPr sz="2175" b="1">
                <a:solidFill>
                  <a:srgbClr val="C55A2B"/>
                </a:solidFill>
                <a:latin typeface="Arial"/>
                <a:ea typeface="Arial"/>
                <a:cs typeface="Arial"/>
              </a:defRPr>
            </a:lvl9pPr>
          </a:lstStyle>
          <a:p>
            <a:pPr algn="l">
              <a:defRPr sz="2175" b="1">
                <a:solidFill>
                  <a:srgbClr val="C55A2B"/>
                </a:solidFill>
                <a:latin typeface="Arial"/>
                <a:ea typeface="Arial"/>
                <a:cs typeface="Arial"/>
              </a:defRPr>
            </a:pPr>
            <a:r>
              <a:rPr lang="de-AT" sz="2175" b="1" noProof="0" dirty="0">
                <a:solidFill>
                  <a:srgbClr val="C55A2B"/>
                </a:solidFill>
                <a:latin typeface="Arial"/>
                <a:ea typeface="Arial"/>
                <a:cs typeface="Arial"/>
              </a:rPr>
              <a:t>Zugang</a:t>
            </a:r>
          </a:p>
        </p:txBody>
      </p:sp>
      <p:sp>
        <p:nvSpPr>
          <p:cNvPr id="12" name="Rechteck 11">
            <a:extLst>
              <a:ext uri="{FF2B5EF4-FFF2-40B4-BE49-F238E27FC236}">
                <a16:creationId xmlns:a16="http://schemas.microsoft.com/office/drawing/2014/main" id="{658B24C6-2DD6-4A43-9033-95806F3153DE}"/>
              </a:ext>
            </a:extLst>
          </p:cNvPr>
          <p:cNvSpPr>
            <a:spLocks noGrp="1"/>
          </p:cNvSpPr>
          <p:nvPr/>
        </p:nvSpPr>
        <p:spPr>
          <a:xfrm>
            <a:off x="4514850" y="3419475"/>
            <a:ext cx="2857500" cy="1143000"/>
          </a:xfrm>
          <a:prstGeom prst="rect">
            <a:avLst/>
          </a:prstGeom>
          <a:noFill/>
          <a:ln w="0">
            <a:noFill/>
            <a:prstDash val="solid"/>
          </a:ln>
        </p:spPr>
        <p:txBody>
          <a:bodyPr wrap="square" lIns="0" tIns="0" rIns="0" bIns="0" anchor="ctr">
            <a:normAutofit/>
          </a:bodyPr>
          <a:lstStyle>
            <a:defPPr algn="l">
              <a:defRPr sz="1950" b="0">
                <a:solidFill>
                  <a:srgbClr val="202935"/>
                </a:solidFill>
                <a:latin typeface="Arial"/>
                <a:ea typeface="Arial"/>
                <a:cs typeface="Arial"/>
              </a:defRPr>
            </a:defPPr>
            <a:lvl1pPr algn="l">
              <a:defRPr sz="1950" b="0">
                <a:solidFill>
                  <a:srgbClr val="202935"/>
                </a:solidFill>
                <a:latin typeface="Arial"/>
                <a:ea typeface="Arial"/>
                <a:cs typeface="Arial"/>
              </a:defRPr>
            </a:lvl1pPr>
            <a:lvl2pPr algn="l">
              <a:defRPr sz="1950" b="0">
                <a:solidFill>
                  <a:srgbClr val="202935"/>
                </a:solidFill>
                <a:latin typeface="Arial"/>
                <a:ea typeface="Arial"/>
                <a:cs typeface="Arial"/>
              </a:defRPr>
            </a:lvl2pPr>
            <a:lvl3pPr algn="l">
              <a:defRPr sz="1950" b="0">
                <a:solidFill>
                  <a:srgbClr val="202935"/>
                </a:solidFill>
                <a:latin typeface="Arial"/>
                <a:ea typeface="Arial"/>
                <a:cs typeface="Arial"/>
              </a:defRPr>
            </a:lvl3pPr>
            <a:lvl4pPr algn="l">
              <a:defRPr sz="1950" b="0">
                <a:solidFill>
                  <a:srgbClr val="202935"/>
                </a:solidFill>
                <a:latin typeface="Arial"/>
                <a:ea typeface="Arial"/>
                <a:cs typeface="Arial"/>
              </a:defRPr>
            </a:lvl4pPr>
            <a:lvl5pPr algn="l">
              <a:defRPr sz="1950" b="0">
                <a:solidFill>
                  <a:srgbClr val="202935"/>
                </a:solidFill>
                <a:latin typeface="Arial"/>
                <a:ea typeface="Arial"/>
                <a:cs typeface="Arial"/>
              </a:defRPr>
            </a:lvl5pPr>
            <a:lvl6pPr algn="l">
              <a:defRPr sz="1950" b="0">
                <a:solidFill>
                  <a:srgbClr val="202935"/>
                </a:solidFill>
                <a:latin typeface="Arial"/>
                <a:ea typeface="Arial"/>
                <a:cs typeface="Arial"/>
              </a:defRPr>
            </a:lvl6pPr>
            <a:lvl7pPr algn="l">
              <a:defRPr sz="1950" b="0">
                <a:solidFill>
                  <a:srgbClr val="202935"/>
                </a:solidFill>
                <a:latin typeface="Arial"/>
                <a:ea typeface="Arial"/>
                <a:cs typeface="Arial"/>
              </a:defRPr>
            </a:lvl7pPr>
            <a:lvl8pPr algn="l">
              <a:defRPr sz="1950" b="0">
                <a:solidFill>
                  <a:srgbClr val="202935"/>
                </a:solidFill>
                <a:latin typeface="Arial"/>
                <a:ea typeface="Arial"/>
                <a:cs typeface="Arial"/>
              </a:defRPr>
            </a:lvl8pPr>
            <a:lvl9pPr algn="l">
              <a:defRPr sz="1950" b="0">
                <a:solidFill>
                  <a:srgbClr val="202935"/>
                </a:solidFill>
                <a:latin typeface="Arial"/>
                <a:ea typeface="Arial"/>
                <a:cs typeface="Arial"/>
              </a:defRPr>
            </a:lvl9pPr>
          </a:lstStyle>
          <a:p>
            <a:pPr algn="l">
              <a:defRPr sz="1950" b="0">
                <a:solidFill>
                  <a:srgbClr val="202935"/>
                </a:solidFill>
                <a:latin typeface="Arial"/>
                <a:ea typeface="Arial"/>
                <a:cs typeface="Arial"/>
              </a:defRPr>
            </a:pPr>
            <a:r>
              <a:rPr lang="de-AT" sz="1950" b="0" noProof="0" dirty="0">
                <a:solidFill>
                  <a:srgbClr val="202935"/>
                </a:solidFill>
                <a:latin typeface="Arial"/>
                <a:ea typeface="Arial"/>
                <a:cs typeface="Arial"/>
              </a:rPr>
              <a:t>Gateway, Basic Auth und JWT</a:t>
            </a:r>
          </a:p>
        </p:txBody>
      </p:sp>
      <p:sp>
        <p:nvSpPr>
          <p:cNvPr id="13" name="Gerader Verbinder 12">
            <a:extLst>
              <a:ext uri="{FF2B5EF4-FFF2-40B4-BE49-F238E27FC236}">
                <a16:creationId xmlns:a16="http://schemas.microsoft.com/office/drawing/2014/main" id="{E58B4385-F11F-4250-9B68-7D5E1CF78A8A}"/>
              </a:ext>
            </a:extLst>
          </p:cNvPr>
          <p:cNvSpPr>
            <a:spLocks noGrp="1"/>
          </p:cNvSpPr>
          <p:nvPr/>
        </p:nvSpPr>
        <p:spPr>
          <a:xfrm>
            <a:off x="7848600" y="2705100"/>
            <a:ext cx="0" cy="2333625"/>
          </a:xfrm>
          <a:prstGeom prst="line">
            <a:avLst/>
          </a:prstGeom>
          <a:noFill/>
          <a:ln w="9525">
            <a:solidFill>
              <a:srgbClr val="D6D4CD"/>
            </a:solidFill>
            <a:prstDash val="solid"/>
          </a:ln>
        </p:spPr>
        <p:txBody>
          <a:bodyPr/>
          <a:lstStyle/>
          <a:p>
            <a:endParaRPr lang="de-AT" noProof="0" dirty="0"/>
          </a:p>
        </p:txBody>
      </p:sp>
      <p:sp>
        <p:nvSpPr>
          <p:cNvPr id="14" name="Rechteck 13">
            <a:extLst>
              <a:ext uri="{FF2B5EF4-FFF2-40B4-BE49-F238E27FC236}">
                <a16:creationId xmlns:a16="http://schemas.microsoft.com/office/drawing/2014/main" id="{8BB8C4DB-EDF7-4906-8EEA-CF0F04FBB58F}"/>
              </a:ext>
            </a:extLst>
          </p:cNvPr>
          <p:cNvSpPr>
            <a:spLocks noGrp="1"/>
          </p:cNvSpPr>
          <p:nvPr/>
        </p:nvSpPr>
        <p:spPr>
          <a:xfrm>
            <a:off x="8258175" y="2838450"/>
            <a:ext cx="3048000" cy="428625"/>
          </a:xfrm>
          <a:prstGeom prst="rect">
            <a:avLst/>
          </a:prstGeom>
          <a:noFill/>
          <a:ln w="0">
            <a:noFill/>
            <a:prstDash val="solid"/>
          </a:ln>
        </p:spPr>
        <p:txBody>
          <a:bodyPr wrap="square" lIns="0" tIns="0" rIns="0" bIns="0" anchor="ctr">
            <a:normAutofit/>
          </a:bodyPr>
          <a:lstStyle>
            <a:defPPr algn="l">
              <a:defRPr sz="2175" b="1">
                <a:solidFill>
                  <a:srgbClr val="C55A2B"/>
                </a:solidFill>
                <a:latin typeface="Arial"/>
                <a:ea typeface="Arial"/>
                <a:cs typeface="Arial"/>
              </a:defRPr>
            </a:defPPr>
            <a:lvl1pPr algn="l">
              <a:defRPr sz="2175" b="1">
                <a:solidFill>
                  <a:srgbClr val="C55A2B"/>
                </a:solidFill>
                <a:latin typeface="Arial"/>
                <a:ea typeface="Arial"/>
                <a:cs typeface="Arial"/>
              </a:defRPr>
            </a:lvl1pPr>
            <a:lvl2pPr algn="l">
              <a:defRPr sz="2175" b="1">
                <a:solidFill>
                  <a:srgbClr val="C55A2B"/>
                </a:solidFill>
                <a:latin typeface="Arial"/>
                <a:ea typeface="Arial"/>
                <a:cs typeface="Arial"/>
              </a:defRPr>
            </a:lvl2pPr>
            <a:lvl3pPr algn="l">
              <a:defRPr sz="2175" b="1">
                <a:solidFill>
                  <a:srgbClr val="C55A2B"/>
                </a:solidFill>
                <a:latin typeface="Arial"/>
                <a:ea typeface="Arial"/>
                <a:cs typeface="Arial"/>
              </a:defRPr>
            </a:lvl3pPr>
            <a:lvl4pPr algn="l">
              <a:defRPr sz="2175" b="1">
                <a:solidFill>
                  <a:srgbClr val="C55A2B"/>
                </a:solidFill>
                <a:latin typeface="Arial"/>
                <a:ea typeface="Arial"/>
                <a:cs typeface="Arial"/>
              </a:defRPr>
            </a:lvl4pPr>
            <a:lvl5pPr algn="l">
              <a:defRPr sz="2175" b="1">
                <a:solidFill>
                  <a:srgbClr val="C55A2B"/>
                </a:solidFill>
                <a:latin typeface="Arial"/>
                <a:ea typeface="Arial"/>
                <a:cs typeface="Arial"/>
              </a:defRPr>
            </a:lvl5pPr>
            <a:lvl6pPr algn="l">
              <a:defRPr sz="2175" b="1">
                <a:solidFill>
                  <a:srgbClr val="C55A2B"/>
                </a:solidFill>
                <a:latin typeface="Arial"/>
                <a:ea typeface="Arial"/>
                <a:cs typeface="Arial"/>
              </a:defRPr>
            </a:lvl6pPr>
            <a:lvl7pPr algn="l">
              <a:defRPr sz="2175" b="1">
                <a:solidFill>
                  <a:srgbClr val="C55A2B"/>
                </a:solidFill>
                <a:latin typeface="Arial"/>
                <a:ea typeface="Arial"/>
                <a:cs typeface="Arial"/>
              </a:defRPr>
            </a:lvl7pPr>
            <a:lvl8pPr algn="l">
              <a:defRPr sz="2175" b="1">
                <a:solidFill>
                  <a:srgbClr val="C55A2B"/>
                </a:solidFill>
                <a:latin typeface="Arial"/>
                <a:ea typeface="Arial"/>
                <a:cs typeface="Arial"/>
              </a:defRPr>
            </a:lvl8pPr>
            <a:lvl9pPr algn="l">
              <a:defRPr sz="2175" b="1">
                <a:solidFill>
                  <a:srgbClr val="C55A2B"/>
                </a:solidFill>
                <a:latin typeface="Arial"/>
                <a:ea typeface="Arial"/>
                <a:cs typeface="Arial"/>
              </a:defRPr>
            </a:lvl9pPr>
          </a:lstStyle>
          <a:p>
            <a:pPr algn="l">
              <a:defRPr sz="2175" b="1">
                <a:solidFill>
                  <a:srgbClr val="C55A2B"/>
                </a:solidFill>
                <a:latin typeface="Arial"/>
                <a:ea typeface="Arial"/>
                <a:cs typeface="Arial"/>
              </a:defRPr>
            </a:pPr>
            <a:r>
              <a:rPr lang="de-AT" sz="2175" b="1" noProof="0" dirty="0">
                <a:solidFill>
                  <a:srgbClr val="C55A2B"/>
                </a:solidFill>
                <a:latin typeface="Arial"/>
                <a:ea typeface="Arial"/>
                <a:cs typeface="Arial"/>
              </a:rPr>
              <a:t>Forschung</a:t>
            </a:r>
          </a:p>
        </p:txBody>
      </p:sp>
      <p:sp>
        <p:nvSpPr>
          <p:cNvPr id="15" name="Rechteck 14">
            <a:extLst>
              <a:ext uri="{FF2B5EF4-FFF2-40B4-BE49-F238E27FC236}">
                <a16:creationId xmlns:a16="http://schemas.microsoft.com/office/drawing/2014/main" id="{A1A8A77A-8F1D-46F6-9497-33FEEE062C36}"/>
              </a:ext>
            </a:extLst>
          </p:cNvPr>
          <p:cNvSpPr>
            <a:spLocks noGrp="1"/>
          </p:cNvSpPr>
          <p:nvPr/>
        </p:nvSpPr>
        <p:spPr>
          <a:xfrm>
            <a:off x="8258175" y="3419475"/>
            <a:ext cx="2857500" cy="1143000"/>
          </a:xfrm>
          <a:prstGeom prst="rect">
            <a:avLst/>
          </a:prstGeom>
          <a:noFill/>
          <a:ln w="0">
            <a:noFill/>
            <a:prstDash val="solid"/>
          </a:ln>
        </p:spPr>
        <p:txBody>
          <a:bodyPr wrap="square" lIns="0" tIns="0" rIns="0" bIns="0" anchor="ctr">
            <a:normAutofit/>
          </a:bodyPr>
          <a:lstStyle>
            <a:defPPr algn="l">
              <a:defRPr sz="1950" b="0">
                <a:solidFill>
                  <a:srgbClr val="202935"/>
                </a:solidFill>
                <a:latin typeface="Arial"/>
                <a:ea typeface="Arial"/>
                <a:cs typeface="Arial"/>
              </a:defRPr>
            </a:defPPr>
            <a:lvl1pPr algn="l">
              <a:defRPr sz="1950" b="0">
                <a:solidFill>
                  <a:srgbClr val="202935"/>
                </a:solidFill>
                <a:latin typeface="Arial"/>
                <a:ea typeface="Arial"/>
                <a:cs typeface="Arial"/>
              </a:defRPr>
            </a:lvl1pPr>
            <a:lvl2pPr algn="l">
              <a:defRPr sz="1950" b="0">
                <a:solidFill>
                  <a:srgbClr val="202935"/>
                </a:solidFill>
                <a:latin typeface="Arial"/>
                <a:ea typeface="Arial"/>
                <a:cs typeface="Arial"/>
              </a:defRPr>
            </a:lvl2pPr>
            <a:lvl3pPr algn="l">
              <a:defRPr sz="1950" b="0">
                <a:solidFill>
                  <a:srgbClr val="202935"/>
                </a:solidFill>
                <a:latin typeface="Arial"/>
                <a:ea typeface="Arial"/>
                <a:cs typeface="Arial"/>
              </a:defRPr>
            </a:lvl3pPr>
            <a:lvl4pPr algn="l">
              <a:defRPr sz="1950" b="0">
                <a:solidFill>
                  <a:srgbClr val="202935"/>
                </a:solidFill>
                <a:latin typeface="Arial"/>
                <a:ea typeface="Arial"/>
                <a:cs typeface="Arial"/>
              </a:defRPr>
            </a:lvl4pPr>
            <a:lvl5pPr algn="l">
              <a:defRPr sz="1950" b="0">
                <a:solidFill>
                  <a:srgbClr val="202935"/>
                </a:solidFill>
                <a:latin typeface="Arial"/>
                <a:ea typeface="Arial"/>
                <a:cs typeface="Arial"/>
              </a:defRPr>
            </a:lvl5pPr>
            <a:lvl6pPr algn="l">
              <a:defRPr sz="1950" b="0">
                <a:solidFill>
                  <a:srgbClr val="202935"/>
                </a:solidFill>
                <a:latin typeface="Arial"/>
                <a:ea typeface="Arial"/>
                <a:cs typeface="Arial"/>
              </a:defRPr>
            </a:lvl6pPr>
            <a:lvl7pPr algn="l">
              <a:defRPr sz="1950" b="0">
                <a:solidFill>
                  <a:srgbClr val="202935"/>
                </a:solidFill>
                <a:latin typeface="Arial"/>
                <a:ea typeface="Arial"/>
                <a:cs typeface="Arial"/>
              </a:defRPr>
            </a:lvl7pPr>
            <a:lvl8pPr algn="l">
              <a:defRPr sz="1950" b="0">
                <a:solidFill>
                  <a:srgbClr val="202935"/>
                </a:solidFill>
                <a:latin typeface="Arial"/>
                <a:ea typeface="Arial"/>
                <a:cs typeface="Arial"/>
              </a:defRPr>
            </a:lvl8pPr>
            <a:lvl9pPr algn="l">
              <a:defRPr sz="1950" b="0">
                <a:solidFill>
                  <a:srgbClr val="202935"/>
                </a:solidFill>
                <a:latin typeface="Arial"/>
                <a:ea typeface="Arial"/>
                <a:cs typeface="Arial"/>
              </a:defRPr>
            </a:lvl9pPr>
          </a:lstStyle>
          <a:p>
            <a:pPr algn="l">
              <a:defRPr sz="1950" b="0">
                <a:solidFill>
                  <a:srgbClr val="202935"/>
                </a:solidFill>
                <a:latin typeface="Arial"/>
                <a:ea typeface="Arial"/>
                <a:cs typeface="Arial"/>
              </a:defRPr>
            </a:pPr>
            <a:r>
              <a:rPr lang="de-AT" sz="1950" b="0" noProof="0" dirty="0">
                <a:solidFill>
                  <a:srgbClr val="202935"/>
                </a:solidFill>
                <a:latin typeface="Arial"/>
                <a:ea typeface="Arial"/>
                <a:cs typeface="Arial"/>
              </a:rPr>
              <a:t>Vier Experimente und ein End-to-End-Test</a:t>
            </a:r>
          </a:p>
        </p:txBody>
      </p:sp>
    </p:spTree>
    <p:extLst>
      <p:ext uri="{BB962C8B-B14F-4D97-AF65-F5344CB8AC3E}">
        <p14:creationId xmlns:p14="http://schemas.microsoft.com/office/powerpoint/2010/main" val="794608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cxnSp>
        <p:nvCxnSpPr>
          <p:cNvPr id="25" name="Gerade Verbindung mit Pfeil 24">
            <a:extLst>
              <a:ext uri="{FF2B5EF4-FFF2-40B4-BE49-F238E27FC236}">
                <a16:creationId xmlns:a16="http://schemas.microsoft.com/office/drawing/2014/main" id="{6CB7A0A3-7E03-497F-9E05-793C4AF562BA}"/>
              </a:ext>
            </a:extLst>
          </p:cNvPr>
          <p:cNvCxnSpPr>
            <a:stCxn id="7" idx="2"/>
            <a:endCxn id="19" idx="1"/>
          </p:cNvCxnSpPr>
          <p:nvPr/>
        </p:nvCxnSpPr>
        <p:spPr>
          <a:xfrm>
            <a:off x="1557338" y="4229100"/>
            <a:ext cx="1824038" cy="747713"/>
          </a:xfrm>
          <a:prstGeom prst="straightConnector1">
            <a:avLst/>
          </a:prstGeom>
          <a:ln w="19050">
            <a:solidFill>
              <a:srgbClr val="C55A2B"/>
            </a:solidFill>
            <a:prstDash val="solid"/>
            <a:tailEnd type="arrow" w="med" len="med"/>
          </a:ln>
        </p:spPr>
      </p:cxnSp>
      <p:cxnSp>
        <p:nvCxnSpPr>
          <p:cNvPr id="24" name="Gerade Verbindung mit Pfeil 23">
            <a:extLst>
              <a:ext uri="{FF2B5EF4-FFF2-40B4-BE49-F238E27FC236}">
                <a16:creationId xmlns:a16="http://schemas.microsoft.com/office/drawing/2014/main" id="{17A92D5F-C499-4946-A24A-3398D84F2361}"/>
              </a:ext>
            </a:extLst>
          </p:cNvPr>
          <p:cNvCxnSpPr>
            <a:stCxn id="13" idx="3"/>
            <a:endCxn id="16" idx="1"/>
          </p:cNvCxnSpPr>
          <p:nvPr/>
        </p:nvCxnSpPr>
        <p:spPr>
          <a:xfrm>
            <a:off x="9163050" y="2862263"/>
            <a:ext cx="666750" cy="0"/>
          </a:xfrm>
          <a:prstGeom prst="straightConnector1">
            <a:avLst/>
          </a:prstGeom>
          <a:ln w="19050">
            <a:solidFill>
              <a:srgbClr val="202935"/>
            </a:solidFill>
            <a:prstDash val="solid"/>
            <a:tailEnd type="arrow" w="med" len="med"/>
          </a:ln>
        </p:spPr>
      </p:cxnSp>
      <p:cxnSp>
        <p:nvCxnSpPr>
          <p:cNvPr id="23" name="Gerade Verbindung mit Pfeil 22">
            <a:extLst>
              <a:ext uri="{FF2B5EF4-FFF2-40B4-BE49-F238E27FC236}">
                <a16:creationId xmlns:a16="http://schemas.microsoft.com/office/drawing/2014/main" id="{969A2540-D81E-4AF9-920C-905DD00C3807}"/>
              </a:ext>
            </a:extLst>
          </p:cNvPr>
          <p:cNvCxnSpPr>
            <a:stCxn id="10" idx="3"/>
            <a:endCxn id="13" idx="1"/>
          </p:cNvCxnSpPr>
          <p:nvPr/>
        </p:nvCxnSpPr>
        <p:spPr>
          <a:xfrm>
            <a:off x="5610225" y="2862263"/>
            <a:ext cx="1209675" cy="0"/>
          </a:xfrm>
          <a:prstGeom prst="straightConnector1">
            <a:avLst/>
          </a:prstGeom>
          <a:ln w="19050">
            <a:solidFill>
              <a:srgbClr val="202935"/>
            </a:solidFill>
            <a:prstDash val="solid"/>
            <a:tailEnd type="arrow" w="med" len="med"/>
          </a:ln>
        </p:spPr>
      </p:cxnSp>
      <p:cxnSp>
        <p:nvCxnSpPr>
          <p:cNvPr id="22" name="Gerade Verbindung mit Pfeil 21">
            <a:extLst>
              <a:ext uri="{FF2B5EF4-FFF2-40B4-BE49-F238E27FC236}">
                <a16:creationId xmlns:a16="http://schemas.microsoft.com/office/drawing/2014/main" id="{1E8269E0-E2C5-4D33-BDD8-D510E7CF510E}"/>
              </a:ext>
            </a:extLst>
          </p:cNvPr>
          <p:cNvCxnSpPr>
            <a:stCxn id="7" idx="3"/>
            <a:endCxn id="10" idx="1"/>
          </p:cNvCxnSpPr>
          <p:nvPr/>
        </p:nvCxnSpPr>
        <p:spPr>
          <a:xfrm flipV="1">
            <a:off x="2543175" y="2862263"/>
            <a:ext cx="838200" cy="766763"/>
          </a:xfrm>
          <a:prstGeom prst="straightConnector1">
            <a:avLst/>
          </a:prstGeom>
          <a:ln w="19050">
            <a:solidFill>
              <a:srgbClr val="202935"/>
            </a:solidFill>
            <a:prstDash val="solid"/>
            <a:tailEnd type="arrow" w="med" len="med"/>
          </a:ln>
        </p:spPr>
      </p:cxnSp>
      <p:sp>
        <p:nvSpPr>
          <p:cNvPr id="28" name="Rechteck 27">
            <a:extLst>
              <a:ext uri="{FF2B5EF4-FFF2-40B4-BE49-F238E27FC236}">
                <a16:creationId xmlns:a16="http://schemas.microsoft.com/office/drawing/2014/main" id="{EC8F204B-9A57-49E7-95BA-AB82FC3C63FB}"/>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F4F4C6D8-7D77-41AE-861D-16ADF7E09735}"/>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Drei Services und eine Datenbank</a:t>
            </a:r>
          </a:p>
        </p:txBody>
      </p:sp>
      <p:sp>
        <p:nvSpPr>
          <p:cNvPr id="3" name="Rechteck 2">
            <a:extLst>
              <a:ext uri="{FF2B5EF4-FFF2-40B4-BE49-F238E27FC236}">
                <a16:creationId xmlns:a16="http://schemas.microsoft.com/office/drawing/2014/main" id="{DE718A9E-E0C0-44F7-B2C7-BFE9AF1A4B34}"/>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B58CBA9A-F13F-453C-9430-74086C44A032}"/>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19612EFB-91A7-4451-82B6-D2D5FD74910E}"/>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08</a:t>
            </a:r>
          </a:p>
        </p:txBody>
      </p:sp>
      <p:sp>
        <p:nvSpPr>
          <p:cNvPr id="6" name="Rechteck 5">
            <a:extLst>
              <a:ext uri="{FF2B5EF4-FFF2-40B4-BE49-F238E27FC236}">
                <a16:creationId xmlns:a16="http://schemas.microsoft.com/office/drawing/2014/main" id="{E82A94A9-916B-4A20-823C-34B0CF4C62FC}"/>
              </a:ext>
            </a:extLst>
          </p:cNvPr>
          <p:cNvSpPr>
            <a:spLocks noGrp="1"/>
          </p:cNvSpPr>
          <p:nvPr/>
        </p:nvSpPr>
        <p:spPr>
          <a:xfrm>
            <a:off x="714375" y="1323975"/>
            <a:ext cx="10001250" cy="371475"/>
          </a:xfrm>
          <a:prstGeom prst="rect">
            <a:avLst/>
          </a:prstGeom>
          <a:noFill/>
          <a:ln w="0">
            <a:noFill/>
            <a:prstDash val="solid"/>
          </a:ln>
        </p:spPr>
        <p:txBody>
          <a:bodyPr wrap="square" lIns="0" tIns="0" rIns="0" bIns="0" anchor="ctr">
            <a:normAutofit/>
          </a:bodyPr>
          <a:lstStyle>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a:pPr algn="l">
              <a:defRPr sz="1800" b="0">
                <a:solidFill>
                  <a:srgbClr val="5D6872"/>
                </a:solidFill>
                <a:latin typeface="Arial"/>
                <a:ea typeface="Arial"/>
                <a:cs typeface="Arial"/>
              </a:defRPr>
            </a:pPr>
            <a:r>
              <a:rPr lang="de-AT" sz="1800" b="0" noProof="0" dirty="0">
                <a:solidFill>
                  <a:srgbClr val="5D6872"/>
                </a:solidFill>
                <a:latin typeface="Arial"/>
                <a:ea typeface="Arial"/>
                <a:cs typeface="Arial"/>
              </a:rPr>
              <a:t>Das Demo-System und seine Zugänge</a:t>
            </a:r>
          </a:p>
        </p:txBody>
      </p:sp>
      <p:sp>
        <p:nvSpPr>
          <p:cNvPr id="7" name="Rechteck 6">
            <a:extLst>
              <a:ext uri="{FF2B5EF4-FFF2-40B4-BE49-F238E27FC236}">
                <a16:creationId xmlns:a16="http://schemas.microsoft.com/office/drawing/2014/main" id="{19D96F93-A762-4134-86F3-2A993DAE25A5}"/>
              </a:ext>
            </a:extLst>
          </p:cNvPr>
          <p:cNvSpPr>
            <a:spLocks noGrp="1"/>
          </p:cNvSpPr>
          <p:nvPr/>
        </p:nvSpPr>
        <p:spPr>
          <a:xfrm>
            <a:off x="571500" y="3028950"/>
            <a:ext cx="1971675" cy="1200150"/>
          </a:xfrm>
          <a:prstGeom prst="rect">
            <a:avLst/>
          </a:prstGeom>
          <a:solidFill>
            <a:srgbClr val="FFFFFF"/>
          </a:solidFill>
          <a:ln w="9525">
            <a:solidFill>
              <a:srgbClr val="D6D4CD"/>
            </a:solidFill>
            <a:prstDash val="solid"/>
          </a:ln>
        </p:spPr>
        <p:txBody>
          <a:bodyPr/>
          <a:lstStyle/>
          <a:p>
            <a:endParaRPr lang="de-AT" noProof="0" dirty="0"/>
          </a:p>
        </p:txBody>
      </p:sp>
      <p:sp>
        <p:nvSpPr>
          <p:cNvPr id="8" name="Rechteck 7">
            <a:extLst>
              <a:ext uri="{FF2B5EF4-FFF2-40B4-BE49-F238E27FC236}">
                <a16:creationId xmlns:a16="http://schemas.microsoft.com/office/drawing/2014/main" id="{A0AB8690-330B-4298-9355-838DE807D967}"/>
              </a:ext>
            </a:extLst>
          </p:cNvPr>
          <p:cNvSpPr>
            <a:spLocks noGrp="1"/>
          </p:cNvSpPr>
          <p:nvPr/>
        </p:nvSpPr>
        <p:spPr>
          <a:xfrm>
            <a:off x="723900" y="3143250"/>
            <a:ext cx="1666875" cy="323850"/>
          </a:xfrm>
          <a:prstGeom prst="rect">
            <a:avLst/>
          </a:prstGeom>
          <a:noFill/>
          <a:ln w="0">
            <a:noFill/>
            <a:prstDash val="solid"/>
          </a:ln>
        </p:spPr>
        <p:txBody>
          <a:bodyPr wrap="square" lIns="0" tIns="0" rIns="0" bIns="0" anchor="ctr">
            <a:normAutofit fontScale="98389"/>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Externe Anfrage</a:t>
            </a:r>
          </a:p>
        </p:txBody>
      </p:sp>
      <p:sp>
        <p:nvSpPr>
          <p:cNvPr id="9" name="Rechteck 8">
            <a:extLst>
              <a:ext uri="{FF2B5EF4-FFF2-40B4-BE49-F238E27FC236}">
                <a16:creationId xmlns:a16="http://schemas.microsoft.com/office/drawing/2014/main" id="{15F65FBF-EED8-481B-9EF1-30A1C12F0C00}"/>
              </a:ext>
            </a:extLst>
          </p:cNvPr>
          <p:cNvSpPr>
            <a:spLocks noGrp="1"/>
          </p:cNvSpPr>
          <p:nvPr/>
        </p:nvSpPr>
        <p:spPr>
          <a:xfrm>
            <a:off x="723900" y="3495675"/>
            <a:ext cx="1666875" cy="666750"/>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HTTP</a:t>
            </a:r>
          </a:p>
        </p:txBody>
      </p:sp>
      <p:sp>
        <p:nvSpPr>
          <p:cNvPr id="10" name="Rechteck 9">
            <a:extLst>
              <a:ext uri="{FF2B5EF4-FFF2-40B4-BE49-F238E27FC236}">
                <a16:creationId xmlns:a16="http://schemas.microsoft.com/office/drawing/2014/main" id="{EEC8B3FC-C8FA-4A38-8B66-451CE85F622F}"/>
              </a:ext>
            </a:extLst>
          </p:cNvPr>
          <p:cNvSpPr>
            <a:spLocks noGrp="1"/>
          </p:cNvSpPr>
          <p:nvPr/>
        </p:nvSpPr>
        <p:spPr>
          <a:xfrm>
            <a:off x="3381375" y="2247900"/>
            <a:ext cx="2228850" cy="1228725"/>
          </a:xfrm>
          <a:prstGeom prst="rect">
            <a:avLst/>
          </a:prstGeom>
          <a:solidFill>
            <a:srgbClr val="FFFFFF"/>
          </a:solidFill>
          <a:ln w="19050">
            <a:solidFill>
              <a:srgbClr val="C55A2B"/>
            </a:solidFill>
            <a:prstDash val="solid"/>
          </a:ln>
        </p:spPr>
        <p:txBody>
          <a:bodyPr/>
          <a:lstStyle/>
          <a:p>
            <a:endParaRPr lang="de-AT" noProof="0" dirty="0"/>
          </a:p>
        </p:txBody>
      </p:sp>
      <p:sp>
        <p:nvSpPr>
          <p:cNvPr id="11" name="Rechteck 10">
            <a:extLst>
              <a:ext uri="{FF2B5EF4-FFF2-40B4-BE49-F238E27FC236}">
                <a16:creationId xmlns:a16="http://schemas.microsoft.com/office/drawing/2014/main" id="{47520010-DCC3-4CDB-B498-AB80F252280B}"/>
              </a:ext>
            </a:extLst>
          </p:cNvPr>
          <p:cNvSpPr>
            <a:spLocks noGrp="1"/>
          </p:cNvSpPr>
          <p:nvPr/>
        </p:nvSpPr>
        <p:spPr>
          <a:xfrm>
            <a:off x="3533775" y="2362200"/>
            <a:ext cx="1924050"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err="1">
                <a:solidFill>
                  <a:srgbClr val="202935"/>
                </a:solidFill>
                <a:latin typeface="Arial"/>
                <a:ea typeface="Arial"/>
                <a:cs typeface="Arial"/>
              </a:rPr>
              <a:t>edge</a:t>
            </a:r>
            <a:r>
              <a:rPr lang="de-AT" sz="1725" b="1" noProof="0" dirty="0">
                <a:solidFill>
                  <a:srgbClr val="202935"/>
                </a:solidFill>
                <a:latin typeface="Arial"/>
                <a:ea typeface="Arial"/>
                <a:cs typeface="Arial"/>
              </a:rPr>
              <a:t>-gateway</a:t>
            </a:r>
          </a:p>
        </p:txBody>
      </p:sp>
      <p:sp>
        <p:nvSpPr>
          <p:cNvPr id="12" name="Rechteck 11">
            <a:extLst>
              <a:ext uri="{FF2B5EF4-FFF2-40B4-BE49-F238E27FC236}">
                <a16:creationId xmlns:a16="http://schemas.microsoft.com/office/drawing/2014/main" id="{5FC8F42D-423C-4864-866D-ADC1AED177D1}"/>
              </a:ext>
            </a:extLst>
          </p:cNvPr>
          <p:cNvSpPr>
            <a:spLocks noGrp="1"/>
          </p:cNvSpPr>
          <p:nvPr/>
        </p:nvSpPr>
        <p:spPr>
          <a:xfrm>
            <a:off x="3533775" y="2714625"/>
            <a:ext cx="1924050" cy="695325"/>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öffentlich · 8080</a:t>
            </a:r>
          </a:p>
        </p:txBody>
      </p:sp>
      <p:sp>
        <p:nvSpPr>
          <p:cNvPr id="13" name="Rechteck 12">
            <a:extLst>
              <a:ext uri="{FF2B5EF4-FFF2-40B4-BE49-F238E27FC236}">
                <a16:creationId xmlns:a16="http://schemas.microsoft.com/office/drawing/2014/main" id="{35E242F9-4481-4C1B-8178-B98498E62153}"/>
              </a:ext>
            </a:extLst>
          </p:cNvPr>
          <p:cNvSpPr>
            <a:spLocks noGrp="1"/>
          </p:cNvSpPr>
          <p:nvPr/>
        </p:nvSpPr>
        <p:spPr>
          <a:xfrm>
            <a:off x="6819900" y="2247900"/>
            <a:ext cx="2343150" cy="1228725"/>
          </a:xfrm>
          <a:prstGeom prst="rect">
            <a:avLst/>
          </a:prstGeom>
          <a:solidFill>
            <a:srgbClr val="FFFFFF"/>
          </a:solidFill>
          <a:ln w="9525">
            <a:solidFill>
              <a:srgbClr val="D6D4CD"/>
            </a:solidFill>
            <a:prstDash val="solid"/>
          </a:ln>
        </p:spPr>
        <p:txBody>
          <a:bodyPr/>
          <a:lstStyle/>
          <a:p>
            <a:endParaRPr lang="de-AT" noProof="0" dirty="0"/>
          </a:p>
        </p:txBody>
      </p:sp>
      <p:sp>
        <p:nvSpPr>
          <p:cNvPr id="14" name="Rechteck 13">
            <a:extLst>
              <a:ext uri="{FF2B5EF4-FFF2-40B4-BE49-F238E27FC236}">
                <a16:creationId xmlns:a16="http://schemas.microsoft.com/office/drawing/2014/main" id="{89C5B832-CD05-4B35-B4D8-FC498D8DF0B9}"/>
              </a:ext>
            </a:extLst>
          </p:cNvPr>
          <p:cNvSpPr>
            <a:spLocks noGrp="1"/>
          </p:cNvSpPr>
          <p:nvPr/>
        </p:nvSpPr>
        <p:spPr>
          <a:xfrm>
            <a:off x="6972300" y="2362200"/>
            <a:ext cx="2038350"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err="1">
                <a:solidFill>
                  <a:srgbClr val="202935"/>
                </a:solidFill>
                <a:latin typeface="Arial"/>
                <a:ea typeface="Arial"/>
                <a:cs typeface="Arial"/>
              </a:rPr>
              <a:t>archive</a:t>
            </a:r>
            <a:r>
              <a:rPr lang="de-AT" sz="1725" b="1" noProof="0" dirty="0">
                <a:solidFill>
                  <a:srgbClr val="202935"/>
                </a:solidFill>
                <a:latin typeface="Arial"/>
                <a:ea typeface="Arial"/>
                <a:cs typeface="Arial"/>
              </a:rPr>
              <a:t>-service</a:t>
            </a:r>
          </a:p>
        </p:txBody>
      </p:sp>
      <p:sp>
        <p:nvSpPr>
          <p:cNvPr id="15" name="Rechteck 14">
            <a:extLst>
              <a:ext uri="{FF2B5EF4-FFF2-40B4-BE49-F238E27FC236}">
                <a16:creationId xmlns:a16="http://schemas.microsoft.com/office/drawing/2014/main" id="{E2425A0F-E78A-49F3-A1CA-A2A7CE565C09}"/>
              </a:ext>
            </a:extLst>
          </p:cNvPr>
          <p:cNvSpPr>
            <a:spLocks noGrp="1"/>
          </p:cNvSpPr>
          <p:nvPr/>
        </p:nvSpPr>
        <p:spPr>
          <a:xfrm>
            <a:off x="6972300" y="2714625"/>
            <a:ext cx="2038350" cy="695325"/>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intern · 8081</a:t>
            </a:r>
          </a:p>
        </p:txBody>
      </p:sp>
      <p:sp>
        <p:nvSpPr>
          <p:cNvPr id="16" name="Rechteck 15">
            <a:extLst>
              <a:ext uri="{FF2B5EF4-FFF2-40B4-BE49-F238E27FC236}">
                <a16:creationId xmlns:a16="http://schemas.microsoft.com/office/drawing/2014/main" id="{9681882D-8CF3-454E-B725-8CDD327C6B58}"/>
              </a:ext>
            </a:extLst>
          </p:cNvPr>
          <p:cNvSpPr>
            <a:spLocks noGrp="1"/>
          </p:cNvSpPr>
          <p:nvPr/>
        </p:nvSpPr>
        <p:spPr>
          <a:xfrm>
            <a:off x="9829800" y="2247900"/>
            <a:ext cx="1752600" cy="1228725"/>
          </a:xfrm>
          <a:prstGeom prst="rect">
            <a:avLst/>
          </a:prstGeom>
          <a:solidFill>
            <a:srgbClr val="FFFFFF"/>
          </a:solidFill>
          <a:ln w="9525">
            <a:solidFill>
              <a:srgbClr val="D6D4CD"/>
            </a:solidFill>
            <a:prstDash val="solid"/>
          </a:ln>
        </p:spPr>
        <p:txBody>
          <a:bodyPr/>
          <a:lstStyle/>
          <a:p>
            <a:endParaRPr lang="de-AT" noProof="0" dirty="0"/>
          </a:p>
        </p:txBody>
      </p:sp>
      <p:sp>
        <p:nvSpPr>
          <p:cNvPr id="17" name="Rechteck 16">
            <a:extLst>
              <a:ext uri="{FF2B5EF4-FFF2-40B4-BE49-F238E27FC236}">
                <a16:creationId xmlns:a16="http://schemas.microsoft.com/office/drawing/2014/main" id="{D059F50E-712C-4190-9008-3DA3E11E9E30}"/>
              </a:ext>
            </a:extLst>
          </p:cNvPr>
          <p:cNvSpPr>
            <a:spLocks noGrp="1"/>
          </p:cNvSpPr>
          <p:nvPr/>
        </p:nvSpPr>
        <p:spPr>
          <a:xfrm>
            <a:off x="9982200" y="2362200"/>
            <a:ext cx="1447800"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err="1">
                <a:solidFill>
                  <a:srgbClr val="202935"/>
                </a:solidFill>
                <a:latin typeface="Arial"/>
                <a:ea typeface="Arial"/>
                <a:cs typeface="Arial"/>
              </a:rPr>
              <a:t>MariaDB</a:t>
            </a:r>
            <a:endParaRPr lang="de-AT" sz="1725" b="1" noProof="0" dirty="0">
              <a:solidFill>
                <a:srgbClr val="202935"/>
              </a:solidFill>
              <a:latin typeface="Arial"/>
              <a:ea typeface="Arial"/>
              <a:cs typeface="Arial"/>
            </a:endParaRPr>
          </a:p>
        </p:txBody>
      </p:sp>
      <p:sp>
        <p:nvSpPr>
          <p:cNvPr id="18" name="Rechteck 17">
            <a:extLst>
              <a:ext uri="{FF2B5EF4-FFF2-40B4-BE49-F238E27FC236}">
                <a16:creationId xmlns:a16="http://schemas.microsoft.com/office/drawing/2014/main" id="{0E51CD56-A421-43C7-A66C-EA7C8953A773}"/>
              </a:ext>
            </a:extLst>
          </p:cNvPr>
          <p:cNvSpPr>
            <a:spLocks noGrp="1"/>
          </p:cNvSpPr>
          <p:nvPr/>
        </p:nvSpPr>
        <p:spPr>
          <a:xfrm>
            <a:off x="9982200" y="2714625"/>
            <a:ext cx="1447800" cy="695325"/>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intern</a:t>
            </a:r>
          </a:p>
        </p:txBody>
      </p:sp>
      <p:sp>
        <p:nvSpPr>
          <p:cNvPr id="19" name="Rechteck 18">
            <a:extLst>
              <a:ext uri="{FF2B5EF4-FFF2-40B4-BE49-F238E27FC236}">
                <a16:creationId xmlns:a16="http://schemas.microsoft.com/office/drawing/2014/main" id="{839A6DE1-A068-4F18-898C-2A0162BA0E81}"/>
              </a:ext>
            </a:extLst>
          </p:cNvPr>
          <p:cNvSpPr>
            <a:spLocks noGrp="1"/>
          </p:cNvSpPr>
          <p:nvPr/>
        </p:nvSpPr>
        <p:spPr>
          <a:xfrm>
            <a:off x="3381375" y="4362450"/>
            <a:ext cx="2228850" cy="1228725"/>
          </a:xfrm>
          <a:prstGeom prst="rect">
            <a:avLst/>
          </a:prstGeom>
          <a:solidFill>
            <a:srgbClr val="FFFFFF"/>
          </a:solidFill>
          <a:ln w="19050">
            <a:solidFill>
              <a:srgbClr val="C55A2B"/>
            </a:solidFill>
            <a:prstDash val="solid"/>
          </a:ln>
        </p:spPr>
        <p:txBody>
          <a:bodyPr/>
          <a:lstStyle/>
          <a:p>
            <a:endParaRPr lang="de-AT" noProof="0" dirty="0"/>
          </a:p>
        </p:txBody>
      </p:sp>
      <p:sp>
        <p:nvSpPr>
          <p:cNvPr id="20" name="Rechteck 19">
            <a:extLst>
              <a:ext uri="{FF2B5EF4-FFF2-40B4-BE49-F238E27FC236}">
                <a16:creationId xmlns:a16="http://schemas.microsoft.com/office/drawing/2014/main" id="{1A82AA04-FF06-4447-A722-2AE624FC0A70}"/>
              </a:ext>
            </a:extLst>
          </p:cNvPr>
          <p:cNvSpPr>
            <a:spLocks noGrp="1"/>
          </p:cNvSpPr>
          <p:nvPr/>
        </p:nvSpPr>
        <p:spPr>
          <a:xfrm>
            <a:off x="3533775" y="4476750"/>
            <a:ext cx="1924050"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err="1">
                <a:solidFill>
                  <a:srgbClr val="202935"/>
                </a:solidFill>
                <a:latin typeface="Arial"/>
                <a:ea typeface="Arial"/>
                <a:cs typeface="Arial"/>
              </a:rPr>
              <a:t>command-control</a:t>
            </a:r>
            <a:endParaRPr lang="de-AT" sz="1725" b="1" noProof="0" dirty="0">
              <a:solidFill>
                <a:srgbClr val="202935"/>
              </a:solidFill>
              <a:latin typeface="Arial"/>
              <a:ea typeface="Arial"/>
              <a:cs typeface="Arial"/>
            </a:endParaRPr>
          </a:p>
        </p:txBody>
      </p:sp>
      <p:sp>
        <p:nvSpPr>
          <p:cNvPr id="21" name="Rechteck 20">
            <a:extLst>
              <a:ext uri="{FF2B5EF4-FFF2-40B4-BE49-F238E27FC236}">
                <a16:creationId xmlns:a16="http://schemas.microsoft.com/office/drawing/2014/main" id="{EF88AD87-1377-4CFE-8CB5-B29BFB253B83}"/>
              </a:ext>
            </a:extLst>
          </p:cNvPr>
          <p:cNvSpPr>
            <a:spLocks noGrp="1"/>
          </p:cNvSpPr>
          <p:nvPr/>
        </p:nvSpPr>
        <p:spPr>
          <a:xfrm>
            <a:off x="3533775" y="4829175"/>
            <a:ext cx="1924050" cy="695325"/>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öffentlich · 8082</a:t>
            </a:r>
          </a:p>
        </p:txBody>
      </p:sp>
      <p:sp>
        <p:nvSpPr>
          <p:cNvPr id="26" name="Rechteck 25">
            <a:extLst>
              <a:ext uri="{FF2B5EF4-FFF2-40B4-BE49-F238E27FC236}">
                <a16:creationId xmlns:a16="http://schemas.microsoft.com/office/drawing/2014/main" id="{EB372528-4602-47A3-A77A-F25684D170FD}"/>
              </a:ext>
            </a:extLst>
          </p:cNvPr>
          <p:cNvSpPr>
            <a:spLocks noGrp="1"/>
          </p:cNvSpPr>
          <p:nvPr/>
        </p:nvSpPr>
        <p:spPr>
          <a:xfrm>
            <a:off x="5781675" y="2352675"/>
            <a:ext cx="1000125" cy="295275"/>
          </a:xfrm>
          <a:prstGeom prst="rect">
            <a:avLst/>
          </a:prstGeom>
          <a:noFill/>
          <a:ln w="0">
            <a:noFill/>
            <a:prstDash val="solid"/>
          </a:ln>
        </p:spPr>
        <p:txBody>
          <a:bodyPr wrap="square" lIns="0" tIns="0" rIns="0" bIns="0" anchor="ctr">
            <a:normAutofit/>
          </a:bodyPr>
          <a:lstStyle>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a:pPr algn="l">
              <a:defRPr sz="1425" b="0">
                <a:solidFill>
                  <a:srgbClr val="5D6872"/>
                </a:solidFill>
                <a:latin typeface="Arial"/>
                <a:ea typeface="Arial"/>
                <a:cs typeface="Arial"/>
              </a:defRPr>
            </a:pPr>
            <a:r>
              <a:rPr lang="de-AT" sz="1425" b="0" noProof="0" dirty="0">
                <a:solidFill>
                  <a:srgbClr val="5D6872"/>
                </a:solidFill>
                <a:latin typeface="Arial"/>
                <a:ea typeface="Arial"/>
                <a:cs typeface="Arial"/>
              </a:rPr>
              <a:t>Proxy</a:t>
            </a:r>
          </a:p>
        </p:txBody>
      </p:sp>
      <p:sp>
        <p:nvSpPr>
          <p:cNvPr id="27" name="Rechteck 26">
            <a:extLst>
              <a:ext uri="{FF2B5EF4-FFF2-40B4-BE49-F238E27FC236}">
                <a16:creationId xmlns:a16="http://schemas.microsoft.com/office/drawing/2014/main" id="{E24CDD82-0BE5-4D61-8184-EC965DCCEDB8}"/>
              </a:ext>
            </a:extLst>
          </p:cNvPr>
          <p:cNvSpPr>
            <a:spLocks noGrp="1"/>
          </p:cNvSpPr>
          <p:nvPr/>
        </p:nvSpPr>
        <p:spPr>
          <a:xfrm>
            <a:off x="5762625" y="4686300"/>
            <a:ext cx="4972050" cy="542925"/>
          </a:xfrm>
          <a:prstGeom prst="rect">
            <a:avLst/>
          </a:prstGeom>
          <a:noFill/>
          <a:ln w="0">
            <a:noFill/>
            <a:prstDash val="solid"/>
          </a:ln>
        </p:spPr>
        <p:txBody>
          <a:bodyPr wrap="square" lIns="0" tIns="0" rIns="0" bIns="0" anchor="ctr">
            <a:normAutofit/>
          </a:bodyPr>
          <a:lstStyle>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a:pPr algn="l">
              <a:defRPr sz="1425" b="0">
                <a:solidFill>
                  <a:srgbClr val="5D6872"/>
                </a:solidFill>
                <a:latin typeface="Arial"/>
                <a:ea typeface="Arial"/>
                <a:cs typeface="Arial"/>
              </a:defRPr>
            </a:pPr>
            <a:r>
              <a:rPr lang="de-AT" sz="1425" b="0" noProof="0" dirty="0">
                <a:solidFill>
                  <a:srgbClr val="5D6872"/>
                </a:solidFill>
                <a:latin typeface="Arial"/>
                <a:ea typeface="Arial"/>
                <a:cs typeface="Arial"/>
              </a:rPr>
              <a:t>/</a:t>
            </a:r>
            <a:r>
              <a:rPr lang="de-AT" sz="1425" b="0" noProof="0" dirty="0" err="1">
                <a:solidFill>
                  <a:srgbClr val="5D6872"/>
                </a:solidFill>
                <a:latin typeface="Arial"/>
                <a:ea typeface="Arial"/>
                <a:cs typeface="Arial"/>
              </a:rPr>
              <a:t>login</a:t>
            </a:r>
            <a:r>
              <a:rPr lang="de-AT" sz="1425" b="0" noProof="0" dirty="0">
                <a:solidFill>
                  <a:srgbClr val="5D6872"/>
                </a:solidFill>
                <a:latin typeface="Arial"/>
                <a:ea typeface="Arial"/>
                <a:cs typeface="Arial"/>
              </a:rPr>
              <a:t> · /</a:t>
            </a:r>
            <a:r>
              <a:rPr lang="de-AT" sz="1425" b="0" noProof="0" dirty="0" err="1">
                <a:solidFill>
                  <a:srgbClr val="5D6872"/>
                </a:solidFill>
                <a:latin typeface="Arial"/>
                <a:ea typeface="Arial"/>
                <a:cs typeface="Arial"/>
              </a:rPr>
              <a:t>verify-otp</a:t>
            </a:r>
            <a:r>
              <a:rPr lang="de-AT" sz="1425" b="0" noProof="0" dirty="0">
                <a:solidFill>
                  <a:srgbClr val="5D6872"/>
                </a:solidFill>
                <a:latin typeface="Arial"/>
                <a:ea typeface="Arial"/>
                <a:cs typeface="Arial"/>
              </a:rPr>
              <a:t> · /</a:t>
            </a:r>
            <a:r>
              <a:rPr lang="de-AT" sz="1425" b="0" noProof="0" dirty="0" err="1">
                <a:solidFill>
                  <a:srgbClr val="5D6872"/>
                </a:solidFill>
                <a:latin typeface="Arial"/>
                <a:ea typeface="Arial"/>
                <a:cs typeface="Arial"/>
              </a:rPr>
              <a:t>warheads</a:t>
            </a:r>
            <a:endParaRPr lang="de-AT" sz="1425" b="0" noProof="0" dirty="0">
              <a:solidFill>
                <a:srgbClr val="5D6872"/>
              </a:solidFill>
              <a:latin typeface="Arial"/>
              <a:ea typeface="Arial"/>
              <a:cs typeface="Arial"/>
            </a:endParaRPr>
          </a:p>
        </p:txBody>
      </p:sp>
      <p:sp>
        <p:nvSpPr>
          <p:cNvPr id="30" name="Rechteck 29">
            <a:extLst>
              <a:ext uri="{FF2B5EF4-FFF2-40B4-BE49-F238E27FC236}">
                <a16:creationId xmlns:a16="http://schemas.microsoft.com/office/drawing/2014/main" id="{D599ABEC-1635-BC4F-5593-9EE52F58A300}"/>
              </a:ext>
            </a:extLst>
          </p:cNvPr>
          <p:cNvSpPr>
            <a:spLocks noGrp="1"/>
          </p:cNvSpPr>
          <p:nvPr/>
        </p:nvSpPr>
        <p:spPr>
          <a:xfrm>
            <a:off x="5743575" y="3405187"/>
            <a:ext cx="4972050" cy="542925"/>
          </a:xfrm>
          <a:prstGeom prst="rect">
            <a:avLst/>
          </a:prstGeom>
          <a:noFill/>
          <a:ln w="0">
            <a:noFill/>
            <a:prstDash val="solid"/>
          </a:ln>
        </p:spPr>
        <p:txBody>
          <a:bodyPr wrap="square" lIns="0" tIns="0" rIns="0" bIns="0" anchor="ctr">
            <a:normAutofit/>
          </a:bodyPr>
          <a:lstStyle>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a:pPr algn="l">
              <a:defRPr sz="1425" b="0">
                <a:solidFill>
                  <a:srgbClr val="5D6872"/>
                </a:solidFill>
                <a:latin typeface="Arial"/>
                <a:ea typeface="Arial"/>
                <a:cs typeface="Arial"/>
              </a:defRPr>
            </a:pPr>
            <a:r>
              <a:rPr lang="de-AT" sz="1425" b="0" noProof="0" dirty="0">
                <a:solidFill>
                  <a:srgbClr val="5D6872"/>
                </a:solidFill>
                <a:latin typeface="Arial"/>
                <a:ea typeface="Arial"/>
                <a:cs typeface="Arial"/>
              </a:rPr>
              <a:t>/</a:t>
            </a:r>
            <a:r>
              <a:rPr lang="de-AT" noProof="0" dirty="0" err="1"/>
              <a:t>users</a:t>
            </a:r>
            <a:r>
              <a:rPr lang="de-AT" sz="1425" b="0" noProof="0" dirty="0">
                <a:solidFill>
                  <a:srgbClr val="5D6872"/>
                </a:solidFill>
                <a:latin typeface="Arial"/>
                <a:ea typeface="Arial"/>
                <a:cs typeface="Arial"/>
              </a:rPr>
              <a:t> · /</a:t>
            </a:r>
            <a:r>
              <a:rPr lang="de-AT" sz="1425" b="0" noProof="0" dirty="0" err="1">
                <a:solidFill>
                  <a:srgbClr val="5D6872"/>
                </a:solidFill>
                <a:latin typeface="Arial"/>
                <a:ea typeface="Arial"/>
                <a:cs typeface="Arial"/>
              </a:rPr>
              <a:t>notes</a:t>
            </a:r>
            <a:r>
              <a:rPr lang="de-AT" sz="1425" b="0" noProof="0" dirty="0">
                <a:solidFill>
                  <a:srgbClr val="5D6872"/>
                </a:solidFill>
                <a:latin typeface="Arial"/>
                <a:ea typeface="Arial"/>
                <a:cs typeface="Arial"/>
              </a:rPr>
              <a:t> · /</a:t>
            </a:r>
            <a:r>
              <a:rPr lang="de-AT" sz="1425" b="0" noProof="0" dirty="0" err="1">
                <a:solidFill>
                  <a:srgbClr val="5D6872"/>
                </a:solidFill>
                <a:latin typeface="Arial"/>
                <a:ea typeface="Arial"/>
                <a:cs typeface="Arial"/>
              </a:rPr>
              <a:t>documents</a:t>
            </a:r>
            <a:r>
              <a:rPr lang="de-AT" sz="1425" b="0" noProof="0" dirty="0">
                <a:solidFill>
                  <a:srgbClr val="5D6872"/>
                </a:solidFill>
                <a:latin typeface="Arial"/>
                <a:ea typeface="Arial"/>
                <a:cs typeface="Arial"/>
              </a:rPr>
              <a:t>/</a:t>
            </a:r>
            <a:r>
              <a:rPr lang="de-AT" sz="1425" b="0" noProof="0" dirty="0" err="1">
                <a:solidFill>
                  <a:srgbClr val="5D6872"/>
                </a:solidFill>
                <a:latin typeface="Arial"/>
                <a:ea typeface="Arial"/>
                <a:cs typeface="Arial"/>
              </a:rPr>
              <a:t>search</a:t>
            </a:r>
            <a:endParaRPr lang="de-AT" sz="1425" b="0" noProof="0" dirty="0">
              <a:solidFill>
                <a:srgbClr val="5D6872"/>
              </a:solidFill>
              <a:latin typeface="Arial"/>
              <a:ea typeface="Arial"/>
              <a:cs typeface="Arial"/>
            </a:endParaRPr>
          </a:p>
        </p:txBody>
      </p:sp>
    </p:spTree>
    <p:extLst>
      <p:ext uri="{BB962C8B-B14F-4D97-AF65-F5344CB8AC3E}">
        <p14:creationId xmlns:p14="http://schemas.microsoft.com/office/powerpoint/2010/main" val="123968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2" name="Rechteck 21">
            <a:extLst>
              <a:ext uri="{FF2B5EF4-FFF2-40B4-BE49-F238E27FC236}">
                <a16:creationId xmlns:a16="http://schemas.microsoft.com/office/drawing/2014/main" id="{0B8FBCF4-A8E4-4775-AE39-63A51E1B188F}"/>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CB282B69-8885-43C9-9CB7-93AB89248910}"/>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Der normale Ablauf</a:t>
            </a:r>
          </a:p>
        </p:txBody>
      </p:sp>
      <p:sp>
        <p:nvSpPr>
          <p:cNvPr id="3" name="Rechteck 2">
            <a:extLst>
              <a:ext uri="{FF2B5EF4-FFF2-40B4-BE49-F238E27FC236}">
                <a16:creationId xmlns:a16="http://schemas.microsoft.com/office/drawing/2014/main" id="{9554AABF-EB8E-447A-AC12-CD74F1A2C43B}"/>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7C741664-BCE1-4B8F-B371-D4F9F7075B4D}"/>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D59FEAFB-6336-4EAA-90CC-47E5B6C63BC9}"/>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09</a:t>
            </a:r>
          </a:p>
        </p:txBody>
      </p:sp>
      <p:sp>
        <p:nvSpPr>
          <p:cNvPr id="6" name="Gerader Verbinder 5">
            <a:extLst>
              <a:ext uri="{FF2B5EF4-FFF2-40B4-BE49-F238E27FC236}">
                <a16:creationId xmlns:a16="http://schemas.microsoft.com/office/drawing/2014/main" id="{F4A0B243-F755-4F61-B468-6F0F4ED2F857}"/>
              </a:ext>
            </a:extLst>
          </p:cNvPr>
          <p:cNvSpPr>
            <a:spLocks noGrp="1"/>
          </p:cNvSpPr>
          <p:nvPr/>
        </p:nvSpPr>
        <p:spPr>
          <a:xfrm>
            <a:off x="733425" y="1466850"/>
            <a:ext cx="10534650" cy="0"/>
          </a:xfrm>
          <a:prstGeom prst="line">
            <a:avLst/>
          </a:prstGeom>
          <a:noFill/>
          <a:ln w="9525">
            <a:solidFill>
              <a:srgbClr val="D6D4CD"/>
            </a:solidFill>
            <a:prstDash val="solid"/>
          </a:ln>
        </p:spPr>
        <p:txBody>
          <a:bodyPr/>
          <a:lstStyle/>
          <a:p>
            <a:endParaRPr lang="de-AT" noProof="0" dirty="0"/>
          </a:p>
        </p:txBody>
      </p:sp>
      <p:sp>
        <p:nvSpPr>
          <p:cNvPr id="7" name="Rechteck 6">
            <a:extLst>
              <a:ext uri="{FF2B5EF4-FFF2-40B4-BE49-F238E27FC236}">
                <a16:creationId xmlns:a16="http://schemas.microsoft.com/office/drawing/2014/main" id="{BB52853C-ACC5-4C4C-9470-EC2F40D5B5E3}"/>
              </a:ext>
            </a:extLst>
          </p:cNvPr>
          <p:cNvSpPr>
            <a:spLocks noGrp="1"/>
          </p:cNvSpPr>
          <p:nvPr/>
        </p:nvSpPr>
        <p:spPr>
          <a:xfrm>
            <a:off x="781050" y="1619250"/>
            <a:ext cx="476250" cy="552450"/>
          </a:xfrm>
          <a:prstGeom prst="rect">
            <a:avLst/>
          </a:prstGeom>
          <a:noFill/>
          <a:ln w="0">
            <a:noFill/>
            <a:prstDash val="solid"/>
          </a:ln>
        </p:spPr>
        <p:txBody>
          <a:bodyPr wrap="square" lIns="0" tIns="0" rIns="0" bIns="0" anchor="ctr">
            <a:normAutofit/>
          </a:bodyPr>
          <a:lstStyle>
            <a:defPPr algn="l">
              <a:defRPr sz="2100" b="1">
                <a:solidFill>
                  <a:srgbClr val="C55A2B"/>
                </a:solidFill>
                <a:latin typeface="Arial"/>
                <a:ea typeface="Arial"/>
                <a:cs typeface="Arial"/>
              </a:defRPr>
            </a:defPPr>
            <a:lvl1pPr algn="l">
              <a:defRPr sz="2100" b="1">
                <a:solidFill>
                  <a:srgbClr val="C55A2B"/>
                </a:solidFill>
                <a:latin typeface="Arial"/>
                <a:ea typeface="Arial"/>
                <a:cs typeface="Arial"/>
              </a:defRPr>
            </a:lvl1pPr>
            <a:lvl2pPr algn="l">
              <a:defRPr sz="2100" b="1">
                <a:solidFill>
                  <a:srgbClr val="C55A2B"/>
                </a:solidFill>
                <a:latin typeface="Arial"/>
                <a:ea typeface="Arial"/>
                <a:cs typeface="Arial"/>
              </a:defRPr>
            </a:lvl2pPr>
            <a:lvl3pPr algn="l">
              <a:defRPr sz="2100" b="1">
                <a:solidFill>
                  <a:srgbClr val="C55A2B"/>
                </a:solidFill>
                <a:latin typeface="Arial"/>
                <a:ea typeface="Arial"/>
                <a:cs typeface="Arial"/>
              </a:defRPr>
            </a:lvl3pPr>
            <a:lvl4pPr algn="l">
              <a:defRPr sz="2100" b="1">
                <a:solidFill>
                  <a:srgbClr val="C55A2B"/>
                </a:solidFill>
                <a:latin typeface="Arial"/>
                <a:ea typeface="Arial"/>
                <a:cs typeface="Arial"/>
              </a:defRPr>
            </a:lvl4pPr>
            <a:lvl5pPr algn="l">
              <a:defRPr sz="2100" b="1">
                <a:solidFill>
                  <a:srgbClr val="C55A2B"/>
                </a:solidFill>
                <a:latin typeface="Arial"/>
                <a:ea typeface="Arial"/>
                <a:cs typeface="Arial"/>
              </a:defRPr>
            </a:lvl5pPr>
            <a:lvl6pPr algn="l">
              <a:defRPr sz="2100" b="1">
                <a:solidFill>
                  <a:srgbClr val="C55A2B"/>
                </a:solidFill>
                <a:latin typeface="Arial"/>
                <a:ea typeface="Arial"/>
                <a:cs typeface="Arial"/>
              </a:defRPr>
            </a:lvl6pPr>
            <a:lvl7pPr algn="l">
              <a:defRPr sz="2100" b="1">
                <a:solidFill>
                  <a:srgbClr val="C55A2B"/>
                </a:solidFill>
                <a:latin typeface="Arial"/>
                <a:ea typeface="Arial"/>
                <a:cs typeface="Arial"/>
              </a:defRPr>
            </a:lvl7pPr>
            <a:lvl8pPr algn="l">
              <a:defRPr sz="2100" b="1">
                <a:solidFill>
                  <a:srgbClr val="C55A2B"/>
                </a:solidFill>
                <a:latin typeface="Arial"/>
                <a:ea typeface="Arial"/>
                <a:cs typeface="Arial"/>
              </a:defRPr>
            </a:lvl8pPr>
            <a:lvl9pPr algn="l">
              <a:defRPr sz="2100" b="1">
                <a:solidFill>
                  <a:srgbClr val="C55A2B"/>
                </a:solidFill>
                <a:latin typeface="Arial"/>
                <a:ea typeface="Arial"/>
                <a:cs typeface="Arial"/>
              </a:defRPr>
            </a:lvl9pPr>
          </a:lstStyle>
          <a:p>
            <a:pPr algn="l">
              <a:defRPr sz="2100" b="1">
                <a:solidFill>
                  <a:srgbClr val="C55A2B"/>
                </a:solidFill>
                <a:latin typeface="Arial"/>
                <a:ea typeface="Arial"/>
                <a:cs typeface="Arial"/>
              </a:defRPr>
            </a:pPr>
            <a:r>
              <a:rPr lang="de-AT" sz="2100" b="1" noProof="0" dirty="0">
                <a:solidFill>
                  <a:srgbClr val="C55A2B"/>
                </a:solidFill>
                <a:latin typeface="Arial"/>
                <a:ea typeface="Arial"/>
                <a:cs typeface="Arial"/>
              </a:rPr>
              <a:t>01</a:t>
            </a:r>
          </a:p>
        </p:txBody>
      </p:sp>
      <p:sp>
        <p:nvSpPr>
          <p:cNvPr id="8" name="Rechteck 7">
            <a:extLst>
              <a:ext uri="{FF2B5EF4-FFF2-40B4-BE49-F238E27FC236}">
                <a16:creationId xmlns:a16="http://schemas.microsoft.com/office/drawing/2014/main" id="{CF501E12-4497-4B2F-B599-3A9095773E05}"/>
              </a:ext>
            </a:extLst>
          </p:cNvPr>
          <p:cNvSpPr>
            <a:spLocks noGrp="1"/>
          </p:cNvSpPr>
          <p:nvPr/>
        </p:nvSpPr>
        <p:spPr>
          <a:xfrm>
            <a:off x="1390650" y="1619250"/>
            <a:ext cx="4095750" cy="552450"/>
          </a:xfrm>
          <a:prstGeom prst="rect">
            <a:avLst/>
          </a:prstGeom>
          <a:noFill/>
          <a:ln w="0">
            <a:noFill/>
            <a:prstDash val="solid"/>
          </a:ln>
        </p:spPr>
        <p:txBody>
          <a:bodyPr wrap="square" lIns="0" tIns="0" rIns="0" bIns="0" anchor="ctr">
            <a:normAutofit/>
          </a:bodyPr>
          <a:lstStyle>
            <a:defPPr algn="l">
              <a:defRPr sz="2025" b="1">
                <a:solidFill>
                  <a:srgbClr val="202935"/>
                </a:solidFill>
                <a:latin typeface="Arial"/>
                <a:ea typeface="Arial"/>
                <a:cs typeface="Arial"/>
              </a:defRPr>
            </a:defPPr>
            <a:lvl1pPr algn="l">
              <a:defRPr sz="2025" b="1">
                <a:solidFill>
                  <a:srgbClr val="202935"/>
                </a:solidFill>
                <a:latin typeface="Arial"/>
                <a:ea typeface="Arial"/>
                <a:cs typeface="Arial"/>
              </a:defRPr>
            </a:lvl1pPr>
            <a:lvl2pPr algn="l">
              <a:defRPr sz="2025" b="1">
                <a:solidFill>
                  <a:srgbClr val="202935"/>
                </a:solidFill>
                <a:latin typeface="Arial"/>
                <a:ea typeface="Arial"/>
                <a:cs typeface="Arial"/>
              </a:defRPr>
            </a:lvl2pPr>
            <a:lvl3pPr algn="l">
              <a:defRPr sz="2025" b="1">
                <a:solidFill>
                  <a:srgbClr val="202935"/>
                </a:solidFill>
                <a:latin typeface="Arial"/>
                <a:ea typeface="Arial"/>
                <a:cs typeface="Arial"/>
              </a:defRPr>
            </a:lvl3pPr>
            <a:lvl4pPr algn="l">
              <a:defRPr sz="2025" b="1">
                <a:solidFill>
                  <a:srgbClr val="202935"/>
                </a:solidFill>
                <a:latin typeface="Arial"/>
                <a:ea typeface="Arial"/>
                <a:cs typeface="Arial"/>
              </a:defRPr>
            </a:lvl4pPr>
            <a:lvl5pPr algn="l">
              <a:defRPr sz="2025" b="1">
                <a:solidFill>
                  <a:srgbClr val="202935"/>
                </a:solidFill>
                <a:latin typeface="Arial"/>
                <a:ea typeface="Arial"/>
                <a:cs typeface="Arial"/>
              </a:defRPr>
            </a:lvl5pPr>
            <a:lvl6pPr algn="l">
              <a:defRPr sz="2025" b="1">
                <a:solidFill>
                  <a:srgbClr val="202935"/>
                </a:solidFill>
                <a:latin typeface="Arial"/>
                <a:ea typeface="Arial"/>
                <a:cs typeface="Arial"/>
              </a:defRPr>
            </a:lvl6pPr>
            <a:lvl7pPr algn="l">
              <a:defRPr sz="2025" b="1">
                <a:solidFill>
                  <a:srgbClr val="202935"/>
                </a:solidFill>
                <a:latin typeface="Arial"/>
                <a:ea typeface="Arial"/>
                <a:cs typeface="Arial"/>
              </a:defRPr>
            </a:lvl7pPr>
            <a:lvl8pPr algn="l">
              <a:defRPr sz="2025" b="1">
                <a:solidFill>
                  <a:srgbClr val="202935"/>
                </a:solidFill>
                <a:latin typeface="Arial"/>
                <a:ea typeface="Arial"/>
                <a:cs typeface="Arial"/>
              </a:defRPr>
            </a:lvl8pPr>
            <a:lvl9pPr algn="l">
              <a:defRPr sz="2025" b="1">
                <a:solidFill>
                  <a:srgbClr val="202935"/>
                </a:solidFill>
                <a:latin typeface="Arial"/>
                <a:ea typeface="Arial"/>
                <a:cs typeface="Arial"/>
              </a:defRPr>
            </a:lvl9pPr>
          </a:lstStyle>
          <a:p>
            <a:pPr algn="l">
              <a:defRPr sz="2025" b="1">
                <a:solidFill>
                  <a:srgbClr val="202935"/>
                </a:solidFill>
                <a:latin typeface="Arial"/>
                <a:ea typeface="Arial"/>
                <a:cs typeface="Arial"/>
              </a:defRPr>
            </a:pPr>
            <a:r>
              <a:rPr lang="de-AT" sz="2025" b="1" noProof="0" dirty="0">
                <a:solidFill>
                  <a:srgbClr val="202935"/>
                </a:solidFill>
                <a:latin typeface="Arial"/>
                <a:ea typeface="Arial"/>
                <a:cs typeface="Arial"/>
              </a:rPr>
              <a:t>GET /</a:t>
            </a:r>
            <a:r>
              <a:rPr lang="de-AT" sz="2025" b="1" noProof="0" dirty="0" err="1">
                <a:solidFill>
                  <a:srgbClr val="202935"/>
                </a:solidFill>
                <a:latin typeface="Arial"/>
                <a:ea typeface="Arial"/>
                <a:cs typeface="Arial"/>
              </a:rPr>
              <a:t>users</a:t>
            </a:r>
            <a:endParaRPr lang="de-AT" sz="2025" b="1" noProof="0" dirty="0">
              <a:solidFill>
                <a:srgbClr val="202935"/>
              </a:solidFill>
              <a:latin typeface="Arial"/>
              <a:ea typeface="Arial"/>
              <a:cs typeface="Arial"/>
            </a:endParaRPr>
          </a:p>
        </p:txBody>
      </p:sp>
      <p:sp>
        <p:nvSpPr>
          <p:cNvPr id="9" name="Rechteck 8">
            <a:extLst>
              <a:ext uri="{FF2B5EF4-FFF2-40B4-BE49-F238E27FC236}">
                <a16:creationId xmlns:a16="http://schemas.microsoft.com/office/drawing/2014/main" id="{588AD89C-8E59-4A69-8488-3232B9AF95B7}"/>
              </a:ext>
            </a:extLst>
          </p:cNvPr>
          <p:cNvSpPr>
            <a:spLocks noGrp="1"/>
          </p:cNvSpPr>
          <p:nvPr/>
        </p:nvSpPr>
        <p:spPr>
          <a:xfrm>
            <a:off x="5924550" y="1628775"/>
            <a:ext cx="5048250" cy="552450"/>
          </a:xfrm>
          <a:prstGeom prst="rect">
            <a:avLst/>
          </a:prstGeom>
          <a:noFill/>
          <a:ln w="0">
            <a:noFill/>
            <a:prstDash val="solid"/>
          </a:ln>
        </p:spPr>
        <p:txBody>
          <a:bodyPr wrap="square" lIns="0" tIns="0" rIns="0" bIns="0" anchor="ctr">
            <a:normAutofit/>
          </a:bodyPr>
          <a:lstStyle>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a:pPr algn="l">
              <a:defRPr sz="1800" b="0">
                <a:solidFill>
                  <a:srgbClr val="5D6872"/>
                </a:solidFill>
                <a:latin typeface="Arial"/>
                <a:ea typeface="Arial"/>
                <a:cs typeface="Arial"/>
              </a:defRPr>
            </a:pPr>
            <a:r>
              <a:rPr lang="de-AT" sz="1800" b="0" noProof="0" dirty="0">
                <a:solidFill>
                  <a:srgbClr val="5D6872"/>
                </a:solidFill>
                <a:latin typeface="Arial"/>
                <a:ea typeface="Arial"/>
                <a:cs typeface="Arial"/>
              </a:rPr>
              <a:t>öffentliche Liste ohne Hashes</a:t>
            </a:r>
          </a:p>
        </p:txBody>
      </p:sp>
      <p:sp>
        <p:nvSpPr>
          <p:cNvPr id="10" name="Gerader Verbinder 9">
            <a:extLst>
              <a:ext uri="{FF2B5EF4-FFF2-40B4-BE49-F238E27FC236}">
                <a16:creationId xmlns:a16="http://schemas.microsoft.com/office/drawing/2014/main" id="{A2A6C92D-86B3-400A-88E8-53D94A72DE27}"/>
              </a:ext>
            </a:extLst>
          </p:cNvPr>
          <p:cNvSpPr>
            <a:spLocks noGrp="1"/>
          </p:cNvSpPr>
          <p:nvPr/>
        </p:nvSpPr>
        <p:spPr>
          <a:xfrm>
            <a:off x="733425" y="2495550"/>
            <a:ext cx="10534650" cy="0"/>
          </a:xfrm>
          <a:prstGeom prst="line">
            <a:avLst/>
          </a:prstGeom>
          <a:noFill/>
          <a:ln w="9525">
            <a:solidFill>
              <a:srgbClr val="D6D4CD"/>
            </a:solidFill>
            <a:prstDash val="solid"/>
          </a:ln>
        </p:spPr>
        <p:txBody>
          <a:bodyPr/>
          <a:lstStyle/>
          <a:p>
            <a:endParaRPr lang="de-AT" noProof="0" dirty="0"/>
          </a:p>
        </p:txBody>
      </p:sp>
      <p:sp>
        <p:nvSpPr>
          <p:cNvPr id="11" name="Rechteck 10">
            <a:extLst>
              <a:ext uri="{FF2B5EF4-FFF2-40B4-BE49-F238E27FC236}">
                <a16:creationId xmlns:a16="http://schemas.microsoft.com/office/drawing/2014/main" id="{F05695DD-0A58-4AD1-AB13-438FDB1E7398}"/>
              </a:ext>
            </a:extLst>
          </p:cNvPr>
          <p:cNvSpPr>
            <a:spLocks noGrp="1"/>
          </p:cNvSpPr>
          <p:nvPr/>
        </p:nvSpPr>
        <p:spPr>
          <a:xfrm>
            <a:off x="781050" y="2647950"/>
            <a:ext cx="476250" cy="552450"/>
          </a:xfrm>
          <a:prstGeom prst="rect">
            <a:avLst/>
          </a:prstGeom>
          <a:noFill/>
          <a:ln w="0">
            <a:noFill/>
            <a:prstDash val="solid"/>
          </a:ln>
        </p:spPr>
        <p:txBody>
          <a:bodyPr wrap="square" lIns="0" tIns="0" rIns="0" bIns="0" anchor="ctr">
            <a:normAutofit/>
          </a:bodyPr>
          <a:lstStyle>
            <a:defPPr algn="l">
              <a:defRPr sz="2100" b="1">
                <a:solidFill>
                  <a:srgbClr val="C55A2B"/>
                </a:solidFill>
                <a:latin typeface="Arial"/>
                <a:ea typeface="Arial"/>
                <a:cs typeface="Arial"/>
              </a:defRPr>
            </a:defPPr>
            <a:lvl1pPr algn="l">
              <a:defRPr sz="2100" b="1">
                <a:solidFill>
                  <a:srgbClr val="C55A2B"/>
                </a:solidFill>
                <a:latin typeface="Arial"/>
                <a:ea typeface="Arial"/>
                <a:cs typeface="Arial"/>
              </a:defRPr>
            </a:lvl1pPr>
            <a:lvl2pPr algn="l">
              <a:defRPr sz="2100" b="1">
                <a:solidFill>
                  <a:srgbClr val="C55A2B"/>
                </a:solidFill>
                <a:latin typeface="Arial"/>
                <a:ea typeface="Arial"/>
                <a:cs typeface="Arial"/>
              </a:defRPr>
            </a:lvl2pPr>
            <a:lvl3pPr algn="l">
              <a:defRPr sz="2100" b="1">
                <a:solidFill>
                  <a:srgbClr val="C55A2B"/>
                </a:solidFill>
                <a:latin typeface="Arial"/>
                <a:ea typeface="Arial"/>
                <a:cs typeface="Arial"/>
              </a:defRPr>
            </a:lvl3pPr>
            <a:lvl4pPr algn="l">
              <a:defRPr sz="2100" b="1">
                <a:solidFill>
                  <a:srgbClr val="C55A2B"/>
                </a:solidFill>
                <a:latin typeface="Arial"/>
                <a:ea typeface="Arial"/>
                <a:cs typeface="Arial"/>
              </a:defRPr>
            </a:lvl4pPr>
            <a:lvl5pPr algn="l">
              <a:defRPr sz="2100" b="1">
                <a:solidFill>
                  <a:srgbClr val="C55A2B"/>
                </a:solidFill>
                <a:latin typeface="Arial"/>
                <a:ea typeface="Arial"/>
                <a:cs typeface="Arial"/>
              </a:defRPr>
            </a:lvl5pPr>
            <a:lvl6pPr algn="l">
              <a:defRPr sz="2100" b="1">
                <a:solidFill>
                  <a:srgbClr val="C55A2B"/>
                </a:solidFill>
                <a:latin typeface="Arial"/>
                <a:ea typeface="Arial"/>
                <a:cs typeface="Arial"/>
              </a:defRPr>
            </a:lvl6pPr>
            <a:lvl7pPr algn="l">
              <a:defRPr sz="2100" b="1">
                <a:solidFill>
                  <a:srgbClr val="C55A2B"/>
                </a:solidFill>
                <a:latin typeface="Arial"/>
                <a:ea typeface="Arial"/>
                <a:cs typeface="Arial"/>
              </a:defRPr>
            </a:lvl7pPr>
            <a:lvl8pPr algn="l">
              <a:defRPr sz="2100" b="1">
                <a:solidFill>
                  <a:srgbClr val="C55A2B"/>
                </a:solidFill>
                <a:latin typeface="Arial"/>
                <a:ea typeface="Arial"/>
                <a:cs typeface="Arial"/>
              </a:defRPr>
            </a:lvl8pPr>
            <a:lvl9pPr algn="l">
              <a:defRPr sz="2100" b="1">
                <a:solidFill>
                  <a:srgbClr val="C55A2B"/>
                </a:solidFill>
                <a:latin typeface="Arial"/>
                <a:ea typeface="Arial"/>
                <a:cs typeface="Arial"/>
              </a:defRPr>
            </a:lvl9pPr>
          </a:lstStyle>
          <a:p>
            <a:pPr algn="l">
              <a:defRPr sz="2100" b="1">
                <a:solidFill>
                  <a:srgbClr val="C55A2B"/>
                </a:solidFill>
                <a:latin typeface="Arial"/>
                <a:ea typeface="Arial"/>
                <a:cs typeface="Arial"/>
              </a:defRPr>
            </a:pPr>
            <a:r>
              <a:rPr lang="de-AT" sz="2100" b="1" noProof="0" dirty="0">
                <a:solidFill>
                  <a:srgbClr val="C55A2B"/>
                </a:solidFill>
                <a:latin typeface="Arial"/>
                <a:ea typeface="Arial"/>
                <a:cs typeface="Arial"/>
              </a:rPr>
              <a:t>02</a:t>
            </a:r>
          </a:p>
        </p:txBody>
      </p:sp>
      <p:sp>
        <p:nvSpPr>
          <p:cNvPr id="12" name="Rechteck 11">
            <a:extLst>
              <a:ext uri="{FF2B5EF4-FFF2-40B4-BE49-F238E27FC236}">
                <a16:creationId xmlns:a16="http://schemas.microsoft.com/office/drawing/2014/main" id="{A63B8B1F-59FB-4A05-A85C-2AE9D31A62C5}"/>
              </a:ext>
            </a:extLst>
          </p:cNvPr>
          <p:cNvSpPr>
            <a:spLocks noGrp="1"/>
          </p:cNvSpPr>
          <p:nvPr/>
        </p:nvSpPr>
        <p:spPr>
          <a:xfrm>
            <a:off x="1390650" y="2647950"/>
            <a:ext cx="4095750" cy="552450"/>
          </a:xfrm>
          <a:prstGeom prst="rect">
            <a:avLst/>
          </a:prstGeom>
          <a:noFill/>
          <a:ln w="0">
            <a:noFill/>
            <a:prstDash val="solid"/>
          </a:ln>
        </p:spPr>
        <p:txBody>
          <a:bodyPr wrap="square" lIns="0" tIns="0" rIns="0" bIns="0" anchor="ctr">
            <a:normAutofit/>
          </a:bodyPr>
          <a:lstStyle>
            <a:defPPr algn="l">
              <a:defRPr sz="2025" b="1">
                <a:solidFill>
                  <a:srgbClr val="202935"/>
                </a:solidFill>
                <a:latin typeface="Arial"/>
                <a:ea typeface="Arial"/>
                <a:cs typeface="Arial"/>
              </a:defRPr>
            </a:defPPr>
            <a:lvl1pPr algn="l">
              <a:defRPr sz="2025" b="1">
                <a:solidFill>
                  <a:srgbClr val="202935"/>
                </a:solidFill>
                <a:latin typeface="Arial"/>
                <a:ea typeface="Arial"/>
                <a:cs typeface="Arial"/>
              </a:defRPr>
            </a:lvl1pPr>
            <a:lvl2pPr algn="l">
              <a:defRPr sz="2025" b="1">
                <a:solidFill>
                  <a:srgbClr val="202935"/>
                </a:solidFill>
                <a:latin typeface="Arial"/>
                <a:ea typeface="Arial"/>
                <a:cs typeface="Arial"/>
              </a:defRPr>
            </a:lvl2pPr>
            <a:lvl3pPr algn="l">
              <a:defRPr sz="2025" b="1">
                <a:solidFill>
                  <a:srgbClr val="202935"/>
                </a:solidFill>
                <a:latin typeface="Arial"/>
                <a:ea typeface="Arial"/>
                <a:cs typeface="Arial"/>
              </a:defRPr>
            </a:lvl3pPr>
            <a:lvl4pPr algn="l">
              <a:defRPr sz="2025" b="1">
                <a:solidFill>
                  <a:srgbClr val="202935"/>
                </a:solidFill>
                <a:latin typeface="Arial"/>
                <a:ea typeface="Arial"/>
                <a:cs typeface="Arial"/>
              </a:defRPr>
            </a:lvl4pPr>
            <a:lvl5pPr algn="l">
              <a:defRPr sz="2025" b="1">
                <a:solidFill>
                  <a:srgbClr val="202935"/>
                </a:solidFill>
                <a:latin typeface="Arial"/>
                <a:ea typeface="Arial"/>
                <a:cs typeface="Arial"/>
              </a:defRPr>
            </a:lvl5pPr>
            <a:lvl6pPr algn="l">
              <a:defRPr sz="2025" b="1">
                <a:solidFill>
                  <a:srgbClr val="202935"/>
                </a:solidFill>
                <a:latin typeface="Arial"/>
                <a:ea typeface="Arial"/>
                <a:cs typeface="Arial"/>
              </a:defRPr>
            </a:lvl6pPr>
            <a:lvl7pPr algn="l">
              <a:defRPr sz="2025" b="1">
                <a:solidFill>
                  <a:srgbClr val="202935"/>
                </a:solidFill>
                <a:latin typeface="Arial"/>
                <a:ea typeface="Arial"/>
                <a:cs typeface="Arial"/>
              </a:defRPr>
            </a:lvl7pPr>
            <a:lvl8pPr algn="l">
              <a:defRPr sz="2025" b="1">
                <a:solidFill>
                  <a:srgbClr val="202935"/>
                </a:solidFill>
                <a:latin typeface="Arial"/>
                <a:ea typeface="Arial"/>
                <a:cs typeface="Arial"/>
              </a:defRPr>
            </a:lvl8pPr>
            <a:lvl9pPr algn="l">
              <a:defRPr sz="2025" b="1">
                <a:solidFill>
                  <a:srgbClr val="202935"/>
                </a:solidFill>
                <a:latin typeface="Arial"/>
                <a:ea typeface="Arial"/>
                <a:cs typeface="Arial"/>
              </a:defRPr>
            </a:lvl9pPr>
          </a:lstStyle>
          <a:p>
            <a:pPr algn="l">
              <a:defRPr sz="2025" b="1">
                <a:solidFill>
                  <a:srgbClr val="202935"/>
                </a:solidFill>
                <a:latin typeface="Arial"/>
                <a:ea typeface="Arial"/>
                <a:cs typeface="Arial"/>
              </a:defRPr>
            </a:pPr>
            <a:r>
              <a:rPr lang="de-AT" sz="2025" b="1" noProof="0" dirty="0">
                <a:solidFill>
                  <a:srgbClr val="202935"/>
                </a:solidFill>
                <a:latin typeface="Arial"/>
                <a:ea typeface="Arial"/>
                <a:cs typeface="Arial"/>
              </a:rPr>
              <a:t>GET /</a:t>
            </a:r>
            <a:r>
              <a:rPr lang="de-AT" sz="2025" b="1" noProof="0" dirty="0" err="1">
                <a:solidFill>
                  <a:srgbClr val="202935"/>
                </a:solidFill>
                <a:latin typeface="Arial"/>
                <a:ea typeface="Arial"/>
                <a:cs typeface="Arial"/>
              </a:rPr>
              <a:t>notes</a:t>
            </a:r>
            <a:endParaRPr lang="de-AT" sz="2025" b="1" noProof="0" dirty="0">
              <a:solidFill>
                <a:srgbClr val="202935"/>
              </a:solidFill>
              <a:latin typeface="Arial"/>
              <a:ea typeface="Arial"/>
              <a:cs typeface="Arial"/>
            </a:endParaRPr>
          </a:p>
        </p:txBody>
      </p:sp>
      <p:sp>
        <p:nvSpPr>
          <p:cNvPr id="13" name="Rechteck 12">
            <a:extLst>
              <a:ext uri="{FF2B5EF4-FFF2-40B4-BE49-F238E27FC236}">
                <a16:creationId xmlns:a16="http://schemas.microsoft.com/office/drawing/2014/main" id="{C344447D-CF51-4242-8AB6-34D555833608}"/>
              </a:ext>
            </a:extLst>
          </p:cNvPr>
          <p:cNvSpPr>
            <a:spLocks noGrp="1"/>
          </p:cNvSpPr>
          <p:nvPr/>
        </p:nvSpPr>
        <p:spPr>
          <a:xfrm>
            <a:off x="5924550" y="2657475"/>
            <a:ext cx="5048250" cy="552450"/>
          </a:xfrm>
          <a:prstGeom prst="rect">
            <a:avLst/>
          </a:prstGeom>
          <a:noFill/>
          <a:ln w="0">
            <a:noFill/>
            <a:prstDash val="solid"/>
          </a:ln>
        </p:spPr>
        <p:txBody>
          <a:bodyPr wrap="square" lIns="0" tIns="0" rIns="0" bIns="0" anchor="ctr">
            <a:normAutofit/>
          </a:bodyPr>
          <a:lstStyle>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a:pPr algn="l">
              <a:defRPr sz="1800" b="0">
                <a:solidFill>
                  <a:srgbClr val="5D6872"/>
                </a:solidFill>
                <a:latin typeface="Arial"/>
                <a:ea typeface="Arial"/>
                <a:cs typeface="Arial"/>
              </a:defRPr>
            </a:pPr>
            <a:r>
              <a:rPr lang="de-AT" sz="1800" b="0" noProof="0" dirty="0">
                <a:solidFill>
                  <a:srgbClr val="5D6872"/>
                </a:solidFill>
                <a:latin typeface="Arial"/>
                <a:ea typeface="Arial"/>
                <a:cs typeface="Arial"/>
              </a:rPr>
              <a:t>Basic Auth · eigene Notizen</a:t>
            </a:r>
          </a:p>
        </p:txBody>
      </p:sp>
      <p:sp>
        <p:nvSpPr>
          <p:cNvPr id="14" name="Gerader Verbinder 13">
            <a:extLst>
              <a:ext uri="{FF2B5EF4-FFF2-40B4-BE49-F238E27FC236}">
                <a16:creationId xmlns:a16="http://schemas.microsoft.com/office/drawing/2014/main" id="{F33259C0-8FC7-43CA-9835-8A44514065BC}"/>
              </a:ext>
            </a:extLst>
          </p:cNvPr>
          <p:cNvSpPr>
            <a:spLocks noGrp="1"/>
          </p:cNvSpPr>
          <p:nvPr/>
        </p:nvSpPr>
        <p:spPr>
          <a:xfrm>
            <a:off x="733425" y="3524250"/>
            <a:ext cx="10534650" cy="0"/>
          </a:xfrm>
          <a:prstGeom prst="line">
            <a:avLst/>
          </a:prstGeom>
          <a:noFill/>
          <a:ln w="9525">
            <a:solidFill>
              <a:srgbClr val="D6D4CD"/>
            </a:solidFill>
            <a:prstDash val="solid"/>
          </a:ln>
        </p:spPr>
        <p:txBody>
          <a:bodyPr/>
          <a:lstStyle/>
          <a:p>
            <a:endParaRPr lang="de-AT" noProof="0" dirty="0"/>
          </a:p>
        </p:txBody>
      </p:sp>
      <p:sp>
        <p:nvSpPr>
          <p:cNvPr id="15" name="Rechteck 14">
            <a:extLst>
              <a:ext uri="{FF2B5EF4-FFF2-40B4-BE49-F238E27FC236}">
                <a16:creationId xmlns:a16="http://schemas.microsoft.com/office/drawing/2014/main" id="{869649A6-C8CF-4055-A18D-009713A9B004}"/>
              </a:ext>
            </a:extLst>
          </p:cNvPr>
          <p:cNvSpPr>
            <a:spLocks noGrp="1"/>
          </p:cNvSpPr>
          <p:nvPr/>
        </p:nvSpPr>
        <p:spPr>
          <a:xfrm>
            <a:off x="781050" y="3676650"/>
            <a:ext cx="476250" cy="552450"/>
          </a:xfrm>
          <a:prstGeom prst="rect">
            <a:avLst/>
          </a:prstGeom>
          <a:noFill/>
          <a:ln w="0">
            <a:noFill/>
            <a:prstDash val="solid"/>
          </a:ln>
        </p:spPr>
        <p:txBody>
          <a:bodyPr wrap="square" lIns="0" tIns="0" rIns="0" bIns="0" anchor="ctr">
            <a:normAutofit/>
          </a:bodyPr>
          <a:lstStyle>
            <a:defPPr algn="l">
              <a:defRPr sz="2100" b="1">
                <a:solidFill>
                  <a:srgbClr val="C55A2B"/>
                </a:solidFill>
                <a:latin typeface="Arial"/>
                <a:ea typeface="Arial"/>
                <a:cs typeface="Arial"/>
              </a:defRPr>
            </a:defPPr>
            <a:lvl1pPr algn="l">
              <a:defRPr sz="2100" b="1">
                <a:solidFill>
                  <a:srgbClr val="C55A2B"/>
                </a:solidFill>
                <a:latin typeface="Arial"/>
                <a:ea typeface="Arial"/>
                <a:cs typeface="Arial"/>
              </a:defRPr>
            </a:lvl1pPr>
            <a:lvl2pPr algn="l">
              <a:defRPr sz="2100" b="1">
                <a:solidFill>
                  <a:srgbClr val="C55A2B"/>
                </a:solidFill>
                <a:latin typeface="Arial"/>
                <a:ea typeface="Arial"/>
                <a:cs typeface="Arial"/>
              </a:defRPr>
            </a:lvl2pPr>
            <a:lvl3pPr algn="l">
              <a:defRPr sz="2100" b="1">
                <a:solidFill>
                  <a:srgbClr val="C55A2B"/>
                </a:solidFill>
                <a:latin typeface="Arial"/>
                <a:ea typeface="Arial"/>
                <a:cs typeface="Arial"/>
              </a:defRPr>
            </a:lvl3pPr>
            <a:lvl4pPr algn="l">
              <a:defRPr sz="2100" b="1">
                <a:solidFill>
                  <a:srgbClr val="C55A2B"/>
                </a:solidFill>
                <a:latin typeface="Arial"/>
                <a:ea typeface="Arial"/>
                <a:cs typeface="Arial"/>
              </a:defRPr>
            </a:lvl4pPr>
            <a:lvl5pPr algn="l">
              <a:defRPr sz="2100" b="1">
                <a:solidFill>
                  <a:srgbClr val="C55A2B"/>
                </a:solidFill>
                <a:latin typeface="Arial"/>
                <a:ea typeface="Arial"/>
                <a:cs typeface="Arial"/>
              </a:defRPr>
            </a:lvl5pPr>
            <a:lvl6pPr algn="l">
              <a:defRPr sz="2100" b="1">
                <a:solidFill>
                  <a:srgbClr val="C55A2B"/>
                </a:solidFill>
                <a:latin typeface="Arial"/>
                <a:ea typeface="Arial"/>
                <a:cs typeface="Arial"/>
              </a:defRPr>
            </a:lvl6pPr>
            <a:lvl7pPr algn="l">
              <a:defRPr sz="2100" b="1">
                <a:solidFill>
                  <a:srgbClr val="C55A2B"/>
                </a:solidFill>
                <a:latin typeface="Arial"/>
                <a:ea typeface="Arial"/>
                <a:cs typeface="Arial"/>
              </a:defRPr>
            </a:lvl7pPr>
            <a:lvl8pPr algn="l">
              <a:defRPr sz="2100" b="1">
                <a:solidFill>
                  <a:srgbClr val="C55A2B"/>
                </a:solidFill>
                <a:latin typeface="Arial"/>
                <a:ea typeface="Arial"/>
                <a:cs typeface="Arial"/>
              </a:defRPr>
            </a:lvl8pPr>
            <a:lvl9pPr algn="l">
              <a:defRPr sz="2100" b="1">
                <a:solidFill>
                  <a:srgbClr val="C55A2B"/>
                </a:solidFill>
                <a:latin typeface="Arial"/>
                <a:ea typeface="Arial"/>
                <a:cs typeface="Arial"/>
              </a:defRPr>
            </a:lvl9pPr>
          </a:lstStyle>
          <a:p>
            <a:pPr algn="l">
              <a:defRPr sz="2100" b="1">
                <a:solidFill>
                  <a:srgbClr val="C55A2B"/>
                </a:solidFill>
                <a:latin typeface="Arial"/>
                <a:ea typeface="Arial"/>
                <a:cs typeface="Arial"/>
              </a:defRPr>
            </a:pPr>
            <a:r>
              <a:rPr lang="de-AT" sz="2100" b="1" noProof="0" dirty="0">
                <a:solidFill>
                  <a:srgbClr val="C55A2B"/>
                </a:solidFill>
                <a:latin typeface="Arial"/>
                <a:ea typeface="Arial"/>
                <a:cs typeface="Arial"/>
              </a:rPr>
              <a:t>03</a:t>
            </a:r>
          </a:p>
        </p:txBody>
      </p:sp>
      <p:sp>
        <p:nvSpPr>
          <p:cNvPr id="16" name="Rechteck 15">
            <a:extLst>
              <a:ext uri="{FF2B5EF4-FFF2-40B4-BE49-F238E27FC236}">
                <a16:creationId xmlns:a16="http://schemas.microsoft.com/office/drawing/2014/main" id="{9F6EB13E-34A6-41AA-BF64-3012670EC91B}"/>
              </a:ext>
            </a:extLst>
          </p:cNvPr>
          <p:cNvSpPr>
            <a:spLocks noGrp="1"/>
          </p:cNvSpPr>
          <p:nvPr/>
        </p:nvSpPr>
        <p:spPr>
          <a:xfrm>
            <a:off x="1390650" y="3676650"/>
            <a:ext cx="4095750" cy="552450"/>
          </a:xfrm>
          <a:prstGeom prst="rect">
            <a:avLst/>
          </a:prstGeom>
          <a:noFill/>
          <a:ln w="0">
            <a:noFill/>
            <a:prstDash val="solid"/>
          </a:ln>
        </p:spPr>
        <p:txBody>
          <a:bodyPr wrap="square" lIns="0" tIns="0" rIns="0" bIns="0" anchor="ctr">
            <a:normAutofit/>
          </a:bodyPr>
          <a:lstStyle>
            <a:defPPr algn="l">
              <a:defRPr sz="2025" b="1">
                <a:solidFill>
                  <a:srgbClr val="202935"/>
                </a:solidFill>
                <a:latin typeface="Arial"/>
                <a:ea typeface="Arial"/>
                <a:cs typeface="Arial"/>
              </a:defRPr>
            </a:defPPr>
            <a:lvl1pPr algn="l">
              <a:defRPr sz="2025" b="1">
                <a:solidFill>
                  <a:srgbClr val="202935"/>
                </a:solidFill>
                <a:latin typeface="Arial"/>
                <a:ea typeface="Arial"/>
                <a:cs typeface="Arial"/>
              </a:defRPr>
            </a:lvl1pPr>
            <a:lvl2pPr algn="l">
              <a:defRPr sz="2025" b="1">
                <a:solidFill>
                  <a:srgbClr val="202935"/>
                </a:solidFill>
                <a:latin typeface="Arial"/>
                <a:ea typeface="Arial"/>
                <a:cs typeface="Arial"/>
              </a:defRPr>
            </a:lvl2pPr>
            <a:lvl3pPr algn="l">
              <a:defRPr sz="2025" b="1">
                <a:solidFill>
                  <a:srgbClr val="202935"/>
                </a:solidFill>
                <a:latin typeface="Arial"/>
                <a:ea typeface="Arial"/>
                <a:cs typeface="Arial"/>
              </a:defRPr>
            </a:lvl3pPr>
            <a:lvl4pPr algn="l">
              <a:defRPr sz="2025" b="1">
                <a:solidFill>
                  <a:srgbClr val="202935"/>
                </a:solidFill>
                <a:latin typeface="Arial"/>
                <a:ea typeface="Arial"/>
                <a:cs typeface="Arial"/>
              </a:defRPr>
            </a:lvl4pPr>
            <a:lvl5pPr algn="l">
              <a:defRPr sz="2025" b="1">
                <a:solidFill>
                  <a:srgbClr val="202935"/>
                </a:solidFill>
                <a:latin typeface="Arial"/>
                <a:ea typeface="Arial"/>
                <a:cs typeface="Arial"/>
              </a:defRPr>
            </a:lvl5pPr>
            <a:lvl6pPr algn="l">
              <a:defRPr sz="2025" b="1">
                <a:solidFill>
                  <a:srgbClr val="202935"/>
                </a:solidFill>
                <a:latin typeface="Arial"/>
                <a:ea typeface="Arial"/>
                <a:cs typeface="Arial"/>
              </a:defRPr>
            </a:lvl6pPr>
            <a:lvl7pPr algn="l">
              <a:defRPr sz="2025" b="1">
                <a:solidFill>
                  <a:srgbClr val="202935"/>
                </a:solidFill>
                <a:latin typeface="Arial"/>
                <a:ea typeface="Arial"/>
                <a:cs typeface="Arial"/>
              </a:defRPr>
            </a:lvl7pPr>
            <a:lvl8pPr algn="l">
              <a:defRPr sz="2025" b="1">
                <a:solidFill>
                  <a:srgbClr val="202935"/>
                </a:solidFill>
                <a:latin typeface="Arial"/>
                <a:ea typeface="Arial"/>
                <a:cs typeface="Arial"/>
              </a:defRPr>
            </a:lvl8pPr>
            <a:lvl9pPr algn="l">
              <a:defRPr sz="2025" b="1">
                <a:solidFill>
                  <a:srgbClr val="202935"/>
                </a:solidFill>
                <a:latin typeface="Arial"/>
                <a:ea typeface="Arial"/>
                <a:cs typeface="Arial"/>
              </a:defRPr>
            </a:lvl9pPr>
          </a:lstStyle>
          <a:p>
            <a:pPr algn="l">
              <a:defRPr sz="2025" b="1">
                <a:solidFill>
                  <a:srgbClr val="202935"/>
                </a:solidFill>
                <a:latin typeface="Arial"/>
                <a:ea typeface="Arial"/>
                <a:cs typeface="Arial"/>
              </a:defRPr>
            </a:pPr>
            <a:r>
              <a:rPr lang="de-AT" sz="2025" b="1" noProof="0" dirty="0">
                <a:solidFill>
                  <a:srgbClr val="202935"/>
                </a:solidFill>
                <a:latin typeface="Arial"/>
                <a:ea typeface="Arial"/>
                <a:cs typeface="Arial"/>
              </a:rPr>
              <a:t>POST /</a:t>
            </a:r>
            <a:r>
              <a:rPr lang="de-AT" sz="2025" b="1" noProof="0" dirty="0" err="1">
                <a:solidFill>
                  <a:srgbClr val="202935"/>
                </a:solidFill>
                <a:latin typeface="Arial"/>
                <a:ea typeface="Arial"/>
                <a:cs typeface="Arial"/>
              </a:rPr>
              <a:t>documents</a:t>
            </a:r>
            <a:r>
              <a:rPr lang="de-AT" sz="2025" b="1" noProof="0" dirty="0">
                <a:solidFill>
                  <a:srgbClr val="202935"/>
                </a:solidFill>
                <a:latin typeface="Arial"/>
                <a:ea typeface="Arial"/>
                <a:cs typeface="Arial"/>
              </a:rPr>
              <a:t>/</a:t>
            </a:r>
            <a:r>
              <a:rPr lang="de-AT" sz="2025" b="1" noProof="0" dirty="0" err="1">
                <a:solidFill>
                  <a:srgbClr val="202935"/>
                </a:solidFill>
                <a:latin typeface="Arial"/>
                <a:ea typeface="Arial"/>
                <a:cs typeface="Arial"/>
              </a:rPr>
              <a:t>search</a:t>
            </a:r>
            <a:endParaRPr lang="de-AT" sz="2025" b="1" noProof="0" dirty="0">
              <a:solidFill>
                <a:srgbClr val="202935"/>
              </a:solidFill>
              <a:latin typeface="Arial"/>
              <a:ea typeface="Arial"/>
              <a:cs typeface="Arial"/>
            </a:endParaRPr>
          </a:p>
        </p:txBody>
      </p:sp>
      <p:sp>
        <p:nvSpPr>
          <p:cNvPr id="17" name="Rechteck 16">
            <a:extLst>
              <a:ext uri="{FF2B5EF4-FFF2-40B4-BE49-F238E27FC236}">
                <a16:creationId xmlns:a16="http://schemas.microsoft.com/office/drawing/2014/main" id="{613A710B-41AF-4CC0-B2BD-6C41D652B7A8}"/>
              </a:ext>
            </a:extLst>
          </p:cNvPr>
          <p:cNvSpPr>
            <a:spLocks noGrp="1"/>
          </p:cNvSpPr>
          <p:nvPr/>
        </p:nvSpPr>
        <p:spPr>
          <a:xfrm>
            <a:off x="5924550" y="3686175"/>
            <a:ext cx="5048250" cy="552450"/>
          </a:xfrm>
          <a:prstGeom prst="rect">
            <a:avLst/>
          </a:prstGeom>
          <a:noFill/>
          <a:ln w="0">
            <a:noFill/>
            <a:prstDash val="solid"/>
          </a:ln>
        </p:spPr>
        <p:txBody>
          <a:bodyPr wrap="square" lIns="0" tIns="0" rIns="0" bIns="0" anchor="ctr">
            <a:normAutofit/>
          </a:bodyPr>
          <a:lstStyle>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a:pPr algn="l">
              <a:defRPr sz="1800" b="0">
                <a:solidFill>
                  <a:srgbClr val="5D6872"/>
                </a:solidFill>
                <a:latin typeface="Arial"/>
                <a:ea typeface="Arial"/>
                <a:cs typeface="Arial"/>
              </a:defRPr>
            </a:pPr>
            <a:r>
              <a:rPr lang="de-AT" sz="1800" b="0" noProof="0" dirty="0">
                <a:solidFill>
                  <a:srgbClr val="5D6872"/>
                </a:solidFill>
                <a:latin typeface="Arial"/>
                <a:ea typeface="Arial"/>
                <a:cs typeface="Arial"/>
              </a:rPr>
              <a:t>Basic Auth · Filter nach </a:t>
            </a:r>
            <a:r>
              <a:rPr lang="de-AT" sz="1800" b="0" noProof="0" dirty="0" err="1">
                <a:solidFill>
                  <a:srgbClr val="5D6872"/>
                </a:solidFill>
                <a:latin typeface="Arial"/>
                <a:ea typeface="Arial"/>
                <a:cs typeface="Arial"/>
              </a:rPr>
              <a:t>department</a:t>
            </a:r>
            <a:endParaRPr lang="de-AT" sz="1800" b="0" noProof="0" dirty="0">
              <a:solidFill>
                <a:srgbClr val="5D6872"/>
              </a:solidFill>
              <a:latin typeface="Arial"/>
              <a:ea typeface="Arial"/>
              <a:cs typeface="Arial"/>
            </a:endParaRPr>
          </a:p>
        </p:txBody>
      </p:sp>
      <p:sp>
        <p:nvSpPr>
          <p:cNvPr id="18" name="Gerader Verbinder 17">
            <a:extLst>
              <a:ext uri="{FF2B5EF4-FFF2-40B4-BE49-F238E27FC236}">
                <a16:creationId xmlns:a16="http://schemas.microsoft.com/office/drawing/2014/main" id="{EA39E1F3-FDDB-4712-8F4D-211B3E65953E}"/>
              </a:ext>
            </a:extLst>
          </p:cNvPr>
          <p:cNvSpPr>
            <a:spLocks noGrp="1"/>
          </p:cNvSpPr>
          <p:nvPr/>
        </p:nvSpPr>
        <p:spPr>
          <a:xfrm>
            <a:off x="733425" y="4552950"/>
            <a:ext cx="10534650" cy="0"/>
          </a:xfrm>
          <a:prstGeom prst="line">
            <a:avLst/>
          </a:prstGeom>
          <a:noFill/>
          <a:ln w="9525">
            <a:solidFill>
              <a:srgbClr val="D6D4CD"/>
            </a:solidFill>
            <a:prstDash val="solid"/>
          </a:ln>
        </p:spPr>
        <p:txBody>
          <a:bodyPr/>
          <a:lstStyle/>
          <a:p>
            <a:endParaRPr lang="de-AT" noProof="0" dirty="0"/>
          </a:p>
        </p:txBody>
      </p:sp>
      <p:sp>
        <p:nvSpPr>
          <p:cNvPr id="19" name="Rechteck 18">
            <a:extLst>
              <a:ext uri="{FF2B5EF4-FFF2-40B4-BE49-F238E27FC236}">
                <a16:creationId xmlns:a16="http://schemas.microsoft.com/office/drawing/2014/main" id="{6942DD45-3D88-467F-8649-B7C958EE9EB4}"/>
              </a:ext>
            </a:extLst>
          </p:cNvPr>
          <p:cNvSpPr>
            <a:spLocks noGrp="1"/>
          </p:cNvSpPr>
          <p:nvPr/>
        </p:nvSpPr>
        <p:spPr>
          <a:xfrm>
            <a:off x="781050" y="4705350"/>
            <a:ext cx="476250" cy="552450"/>
          </a:xfrm>
          <a:prstGeom prst="rect">
            <a:avLst/>
          </a:prstGeom>
          <a:noFill/>
          <a:ln w="0">
            <a:noFill/>
            <a:prstDash val="solid"/>
          </a:ln>
        </p:spPr>
        <p:txBody>
          <a:bodyPr wrap="square" lIns="0" tIns="0" rIns="0" bIns="0" anchor="ctr">
            <a:normAutofit/>
          </a:bodyPr>
          <a:lstStyle>
            <a:defPPr algn="l">
              <a:defRPr sz="2100" b="1">
                <a:solidFill>
                  <a:srgbClr val="C55A2B"/>
                </a:solidFill>
                <a:latin typeface="Arial"/>
                <a:ea typeface="Arial"/>
                <a:cs typeface="Arial"/>
              </a:defRPr>
            </a:defPPr>
            <a:lvl1pPr algn="l">
              <a:defRPr sz="2100" b="1">
                <a:solidFill>
                  <a:srgbClr val="C55A2B"/>
                </a:solidFill>
                <a:latin typeface="Arial"/>
                <a:ea typeface="Arial"/>
                <a:cs typeface="Arial"/>
              </a:defRPr>
            </a:lvl1pPr>
            <a:lvl2pPr algn="l">
              <a:defRPr sz="2100" b="1">
                <a:solidFill>
                  <a:srgbClr val="C55A2B"/>
                </a:solidFill>
                <a:latin typeface="Arial"/>
                <a:ea typeface="Arial"/>
                <a:cs typeface="Arial"/>
              </a:defRPr>
            </a:lvl2pPr>
            <a:lvl3pPr algn="l">
              <a:defRPr sz="2100" b="1">
                <a:solidFill>
                  <a:srgbClr val="C55A2B"/>
                </a:solidFill>
                <a:latin typeface="Arial"/>
                <a:ea typeface="Arial"/>
                <a:cs typeface="Arial"/>
              </a:defRPr>
            </a:lvl3pPr>
            <a:lvl4pPr algn="l">
              <a:defRPr sz="2100" b="1">
                <a:solidFill>
                  <a:srgbClr val="C55A2B"/>
                </a:solidFill>
                <a:latin typeface="Arial"/>
                <a:ea typeface="Arial"/>
                <a:cs typeface="Arial"/>
              </a:defRPr>
            </a:lvl4pPr>
            <a:lvl5pPr algn="l">
              <a:defRPr sz="2100" b="1">
                <a:solidFill>
                  <a:srgbClr val="C55A2B"/>
                </a:solidFill>
                <a:latin typeface="Arial"/>
                <a:ea typeface="Arial"/>
                <a:cs typeface="Arial"/>
              </a:defRPr>
            </a:lvl5pPr>
            <a:lvl6pPr algn="l">
              <a:defRPr sz="2100" b="1">
                <a:solidFill>
                  <a:srgbClr val="C55A2B"/>
                </a:solidFill>
                <a:latin typeface="Arial"/>
                <a:ea typeface="Arial"/>
                <a:cs typeface="Arial"/>
              </a:defRPr>
            </a:lvl6pPr>
            <a:lvl7pPr algn="l">
              <a:defRPr sz="2100" b="1">
                <a:solidFill>
                  <a:srgbClr val="C55A2B"/>
                </a:solidFill>
                <a:latin typeface="Arial"/>
                <a:ea typeface="Arial"/>
                <a:cs typeface="Arial"/>
              </a:defRPr>
            </a:lvl7pPr>
            <a:lvl8pPr algn="l">
              <a:defRPr sz="2100" b="1">
                <a:solidFill>
                  <a:srgbClr val="C55A2B"/>
                </a:solidFill>
                <a:latin typeface="Arial"/>
                <a:ea typeface="Arial"/>
                <a:cs typeface="Arial"/>
              </a:defRPr>
            </a:lvl8pPr>
            <a:lvl9pPr algn="l">
              <a:defRPr sz="2100" b="1">
                <a:solidFill>
                  <a:srgbClr val="C55A2B"/>
                </a:solidFill>
                <a:latin typeface="Arial"/>
                <a:ea typeface="Arial"/>
                <a:cs typeface="Arial"/>
              </a:defRPr>
            </a:lvl9pPr>
          </a:lstStyle>
          <a:p>
            <a:pPr algn="l">
              <a:defRPr sz="2100" b="1">
                <a:solidFill>
                  <a:srgbClr val="C55A2B"/>
                </a:solidFill>
                <a:latin typeface="Arial"/>
                <a:ea typeface="Arial"/>
                <a:cs typeface="Arial"/>
              </a:defRPr>
            </a:pPr>
            <a:r>
              <a:rPr lang="de-AT" sz="2100" b="1" noProof="0" dirty="0">
                <a:solidFill>
                  <a:srgbClr val="C55A2B"/>
                </a:solidFill>
                <a:latin typeface="Arial"/>
                <a:ea typeface="Arial"/>
                <a:cs typeface="Arial"/>
              </a:rPr>
              <a:t>04</a:t>
            </a:r>
          </a:p>
        </p:txBody>
      </p:sp>
      <p:sp>
        <p:nvSpPr>
          <p:cNvPr id="20" name="Rechteck 19">
            <a:extLst>
              <a:ext uri="{FF2B5EF4-FFF2-40B4-BE49-F238E27FC236}">
                <a16:creationId xmlns:a16="http://schemas.microsoft.com/office/drawing/2014/main" id="{D757D0F5-1987-4E36-B9D4-5C11D48F844B}"/>
              </a:ext>
            </a:extLst>
          </p:cNvPr>
          <p:cNvSpPr>
            <a:spLocks noGrp="1"/>
          </p:cNvSpPr>
          <p:nvPr/>
        </p:nvSpPr>
        <p:spPr>
          <a:xfrm>
            <a:off x="1390650" y="4705350"/>
            <a:ext cx="4095750" cy="552450"/>
          </a:xfrm>
          <a:prstGeom prst="rect">
            <a:avLst/>
          </a:prstGeom>
          <a:noFill/>
          <a:ln w="0">
            <a:noFill/>
            <a:prstDash val="solid"/>
          </a:ln>
        </p:spPr>
        <p:txBody>
          <a:bodyPr wrap="square" lIns="0" tIns="0" rIns="0" bIns="0" anchor="ctr">
            <a:normAutofit/>
          </a:bodyPr>
          <a:lstStyle>
            <a:defPPr algn="l">
              <a:defRPr sz="2025" b="1">
                <a:solidFill>
                  <a:srgbClr val="202935"/>
                </a:solidFill>
                <a:latin typeface="Arial"/>
                <a:ea typeface="Arial"/>
                <a:cs typeface="Arial"/>
              </a:defRPr>
            </a:defPPr>
            <a:lvl1pPr algn="l">
              <a:defRPr sz="2025" b="1">
                <a:solidFill>
                  <a:srgbClr val="202935"/>
                </a:solidFill>
                <a:latin typeface="Arial"/>
                <a:ea typeface="Arial"/>
                <a:cs typeface="Arial"/>
              </a:defRPr>
            </a:lvl1pPr>
            <a:lvl2pPr algn="l">
              <a:defRPr sz="2025" b="1">
                <a:solidFill>
                  <a:srgbClr val="202935"/>
                </a:solidFill>
                <a:latin typeface="Arial"/>
                <a:ea typeface="Arial"/>
                <a:cs typeface="Arial"/>
              </a:defRPr>
            </a:lvl2pPr>
            <a:lvl3pPr algn="l">
              <a:defRPr sz="2025" b="1">
                <a:solidFill>
                  <a:srgbClr val="202935"/>
                </a:solidFill>
                <a:latin typeface="Arial"/>
                <a:ea typeface="Arial"/>
                <a:cs typeface="Arial"/>
              </a:defRPr>
            </a:lvl3pPr>
            <a:lvl4pPr algn="l">
              <a:defRPr sz="2025" b="1">
                <a:solidFill>
                  <a:srgbClr val="202935"/>
                </a:solidFill>
                <a:latin typeface="Arial"/>
                <a:ea typeface="Arial"/>
                <a:cs typeface="Arial"/>
              </a:defRPr>
            </a:lvl4pPr>
            <a:lvl5pPr algn="l">
              <a:defRPr sz="2025" b="1">
                <a:solidFill>
                  <a:srgbClr val="202935"/>
                </a:solidFill>
                <a:latin typeface="Arial"/>
                <a:ea typeface="Arial"/>
                <a:cs typeface="Arial"/>
              </a:defRPr>
            </a:lvl5pPr>
            <a:lvl6pPr algn="l">
              <a:defRPr sz="2025" b="1">
                <a:solidFill>
                  <a:srgbClr val="202935"/>
                </a:solidFill>
                <a:latin typeface="Arial"/>
                <a:ea typeface="Arial"/>
                <a:cs typeface="Arial"/>
              </a:defRPr>
            </a:lvl6pPr>
            <a:lvl7pPr algn="l">
              <a:defRPr sz="2025" b="1">
                <a:solidFill>
                  <a:srgbClr val="202935"/>
                </a:solidFill>
                <a:latin typeface="Arial"/>
                <a:ea typeface="Arial"/>
                <a:cs typeface="Arial"/>
              </a:defRPr>
            </a:lvl7pPr>
            <a:lvl8pPr algn="l">
              <a:defRPr sz="2025" b="1">
                <a:solidFill>
                  <a:srgbClr val="202935"/>
                </a:solidFill>
                <a:latin typeface="Arial"/>
                <a:ea typeface="Arial"/>
                <a:cs typeface="Arial"/>
              </a:defRPr>
            </a:lvl8pPr>
            <a:lvl9pPr algn="l">
              <a:defRPr sz="2025" b="1">
                <a:solidFill>
                  <a:srgbClr val="202935"/>
                </a:solidFill>
                <a:latin typeface="Arial"/>
                <a:ea typeface="Arial"/>
                <a:cs typeface="Arial"/>
              </a:defRPr>
            </a:lvl9pPr>
          </a:lstStyle>
          <a:p>
            <a:pPr algn="l">
              <a:defRPr sz="2025" b="1">
                <a:solidFill>
                  <a:srgbClr val="202935"/>
                </a:solidFill>
                <a:latin typeface="Arial"/>
                <a:ea typeface="Arial"/>
                <a:cs typeface="Arial"/>
              </a:defRPr>
            </a:pPr>
            <a:r>
              <a:rPr lang="de-AT" sz="2025" b="1" noProof="0" dirty="0">
                <a:solidFill>
                  <a:srgbClr val="202935"/>
                </a:solidFill>
                <a:latin typeface="Arial"/>
                <a:ea typeface="Arial"/>
                <a:cs typeface="Arial"/>
              </a:rPr>
              <a:t>GET /</a:t>
            </a:r>
            <a:r>
              <a:rPr lang="de-AT" sz="2025" b="1" noProof="0" dirty="0" err="1">
                <a:solidFill>
                  <a:srgbClr val="202935"/>
                </a:solidFill>
                <a:latin typeface="Arial"/>
                <a:ea typeface="Arial"/>
                <a:cs typeface="Arial"/>
              </a:rPr>
              <a:t>warheads</a:t>
            </a:r>
            <a:endParaRPr lang="de-AT" sz="2025" b="1" noProof="0" dirty="0">
              <a:solidFill>
                <a:srgbClr val="202935"/>
              </a:solidFill>
              <a:latin typeface="Arial"/>
              <a:ea typeface="Arial"/>
              <a:cs typeface="Arial"/>
            </a:endParaRPr>
          </a:p>
        </p:txBody>
      </p:sp>
      <p:sp>
        <p:nvSpPr>
          <p:cNvPr id="21" name="Rechteck 20">
            <a:extLst>
              <a:ext uri="{FF2B5EF4-FFF2-40B4-BE49-F238E27FC236}">
                <a16:creationId xmlns:a16="http://schemas.microsoft.com/office/drawing/2014/main" id="{3C996750-4FBE-457A-B7D0-C4BEEC53DFF5}"/>
              </a:ext>
            </a:extLst>
          </p:cNvPr>
          <p:cNvSpPr>
            <a:spLocks noGrp="1"/>
          </p:cNvSpPr>
          <p:nvPr/>
        </p:nvSpPr>
        <p:spPr>
          <a:xfrm>
            <a:off x="5924550" y="4714875"/>
            <a:ext cx="5048250" cy="552450"/>
          </a:xfrm>
          <a:prstGeom prst="rect">
            <a:avLst/>
          </a:prstGeom>
          <a:noFill/>
          <a:ln w="0">
            <a:noFill/>
            <a:prstDash val="solid"/>
          </a:ln>
        </p:spPr>
        <p:txBody>
          <a:bodyPr wrap="square" lIns="0" tIns="0" rIns="0" bIns="0" anchor="ctr">
            <a:normAutofit/>
          </a:bodyPr>
          <a:lstStyle>
            <a:defPPr algn="l">
              <a:defRPr sz="1800" b="0">
                <a:solidFill>
                  <a:srgbClr val="5D6872"/>
                </a:solidFill>
                <a:latin typeface="Arial"/>
                <a:ea typeface="Arial"/>
                <a:cs typeface="Arial"/>
              </a:defRPr>
            </a:defPPr>
            <a:lvl1pPr algn="l">
              <a:defRPr sz="1800" b="0">
                <a:solidFill>
                  <a:srgbClr val="5D6872"/>
                </a:solidFill>
                <a:latin typeface="Arial"/>
                <a:ea typeface="Arial"/>
                <a:cs typeface="Arial"/>
              </a:defRPr>
            </a:lvl1pPr>
            <a:lvl2pPr algn="l">
              <a:defRPr sz="1800" b="0">
                <a:solidFill>
                  <a:srgbClr val="5D6872"/>
                </a:solidFill>
                <a:latin typeface="Arial"/>
                <a:ea typeface="Arial"/>
                <a:cs typeface="Arial"/>
              </a:defRPr>
            </a:lvl2pPr>
            <a:lvl3pPr algn="l">
              <a:defRPr sz="1800" b="0">
                <a:solidFill>
                  <a:srgbClr val="5D6872"/>
                </a:solidFill>
                <a:latin typeface="Arial"/>
                <a:ea typeface="Arial"/>
                <a:cs typeface="Arial"/>
              </a:defRPr>
            </a:lvl3pPr>
            <a:lvl4pPr algn="l">
              <a:defRPr sz="1800" b="0">
                <a:solidFill>
                  <a:srgbClr val="5D6872"/>
                </a:solidFill>
                <a:latin typeface="Arial"/>
                <a:ea typeface="Arial"/>
                <a:cs typeface="Arial"/>
              </a:defRPr>
            </a:lvl4pPr>
            <a:lvl5pPr algn="l">
              <a:defRPr sz="1800" b="0">
                <a:solidFill>
                  <a:srgbClr val="5D6872"/>
                </a:solidFill>
                <a:latin typeface="Arial"/>
                <a:ea typeface="Arial"/>
                <a:cs typeface="Arial"/>
              </a:defRPr>
            </a:lvl5pPr>
            <a:lvl6pPr algn="l">
              <a:defRPr sz="1800" b="0">
                <a:solidFill>
                  <a:srgbClr val="5D6872"/>
                </a:solidFill>
                <a:latin typeface="Arial"/>
                <a:ea typeface="Arial"/>
                <a:cs typeface="Arial"/>
              </a:defRPr>
            </a:lvl6pPr>
            <a:lvl7pPr algn="l">
              <a:defRPr sz="1800" b="0">
                <a:solidFill>
                  <a:srgbClr val="5D6872"/>
                </a:solidFill>
                <a:latin typeface="Arial"/>
                <a:ea typeface="Arial"/>
                <a:cs typeface="Arial"/>
              </a:defRPr>
            </a:lvl7pPr>
            <a:lvl8pPr algn="l">
              <a:defRPr sz="1800" b="0">
                <a:solidFill>
                  <a:srgbClr val="5D6872"/>
                </a:solidFill>
                <a:latin typeface="Arial"/>
                <a:ea typeface="Arial"/>
                <a:cs typeface="Arial"/>
              </a:defRPr>
            </a:lvl8pPr>
            <a:lvl9pPr algn="l">
              <a:defRPr sz="1800" b="0">
                <a:solidFill>
                  <a:srgbClr val="5D6872"/>
                </a:solidFill>
                <a:latin typeface="Arial"/>
                <a:ea typeface="Arial"/>
                <a:cs typeface="Arial"/>
              </a:defRPr>
            </a:lvl9pPr>
          </a:lstStyle>
          <a:p>
            <a:pPr algn="l">
              <a:defRPr sz="1800" b="0">
                <a:solidFill>
                  <a:srgbClr val="5D6872"/>
                </a:solidFill>
                <a:latin typeface="Arial"/>
                <a:ea typeface="Arial"/>
                <a:cs typeface="Arial"/>
              </a:defRPr>
            </a:pPr>
            <a:r>
              <a:rPr lang="de-AT" sz="1800" b="0" noProof="0" dirty="0">
                <a:solidFill>
                  <a:srgbClr val="5D6872"/>
                </a:solidFill>
                <a:latin typeface="Arial"/>
                <a:ea typeface="Arial"/>
                <a:cs typeface="Arial"/>
              </a:rPr>
              <a:t>JWT erforderlich</a:t>
            </a:r>
          </a:p>
        </p:txBody>
      </p:sp>
    </p:spTree>
    <p:extLst>
      <p:ext uri="{BB962C8B-B14F-4D97-AF65-F5344CB8AC3E}">
        <p14:creationId xmlns:p14="http://schemas.microsoft.com/office/powerpoint/2010/main" val="193446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cxnSp>
        <p:nvCxnSpPr>
          <p:cNvPr id="17" name="Gerade Verbindung mit Pfeil 16">
            <a:extLst>
              <a:ext uri="{FF2B5EF4-FFF2-40B4-BE49-F238E27FC236}">
                <a16:creationId xmlns:a16="http://schemas.microsoft.com/office/drawing/2014/main" id="{A8C7B5DF-0811-4B0C-9150-9FFCA353D552}"/>
              </a:ext>
            </a:extLst>
          </p:cNvPr>
          <p:cNvCxnSpPr>
            <a:stCxn id="11" idx="3"/>
            <a:endCxn id="13" idx="1"/>
          </p:cNvCxnSpPr>
          <p:nvPr/>
        </p:nvCxnSpPr>
        <p:spPr>
          <a:xfrm>
            <a:off x="8772525" y="3767138"/>
            <a:ext cx="523875" cy="0"/>
          </a:xfrm>
          <a:prstGeom prst="straightConnector1">
            <a:avLst/>
          </a:prstGeom>
          <a:ln w="19050">
            <a:solidFill>
              <a:srgbClr val="202935"/>
            </a:solidFill>
            <a:prstDash val="solid"/>
            <a:tailEnd type="arrow" w="med" len="med"/>
          </a:ln>
        </p:spPr>
      </p:cxnSp>
      <p:cxnSp>
        <p:nvCxnSpPr>
          <p:cNvPr id="16" name="Gerade Verbindung mit Pfeil 15">
            <a:extLst>
              <a:ext uri="{FF2B5EF4-FFF2-40B4-BE49-F238E27FC236}">
                <a16:creationId xmlns:a16="http://schemas.microsoft.com/office/drawing/2014/main" id="{8035C3AA-64FE-4CFE-8585-50A1125E21C4}"/>
              </a:ext>
            </a:extLst>
          </p:cNvPr>
          <p:cNvCxnSpPr>
            <a:stCxn id="9" idx="3"/>
            <a:endCxn id="11" idx="1"/>
          </p:cNvCxnSpPr>
          <p:nvPr/>
        </p:nvCxnSpPr>
        <p:spPr>
          <a:xfrm>
            <a:off x="5924550" y="3767138"/>
            <a:ext cx="523875" cy="0"/>
          </a:xfrm>
          <a:prstGeom prst="straightConnector1">
            <a:avLst/>
          </a:prstGeom>
          <a:ln w="19050">
            <a:solidFill>
              <a:srgbClr val="202935"/>
            </a:solidFill>
            <a:prstDash val="solid"/>
            <a:tailEnd type="arrow" w="med" len="med"/>
          </a:ln>
        </p:spPr>
      </p:cxnSp>
      <p:cxnSp>
        <p:nvCxnSpPr>
          <p:cNvPr id="15" name="Gerade Verbindung mit Pfeil 14">
            <a:extLst>
              <a:ext uri="{FF2B5EF4-FFF2-40B4-BE49-F238E27FC236}">
                <a16:creationId xmlns:a16="http://schemas.microsoft.com/office/drawing/2014/main" id="{292C6A73-421F-4AEE-85CE-CD4D5637755F}"/>
              </a:ext>
            </a:extLst>
          </p:cNvPr>
          <p:cNvCxnSpPr>
            <a:stCxn id="7" idx="3"/>
            <a:endCxn id="9" idx="1"/>
          </p:cNvCxnSpPr>
          <p:nvPr/>
        </p:nvCxnSpPr>
        <p:spPr>
          <a:xfrm>
            <a:off x="3076575" y="3767138"/>
            <a:ext cx="523875" cy="0"/>
          </a:xfrm>
          <a:prstGeom prst="straightConnector1">
            <a:avLst/>
          </a:prstGeom>
          <a:ln w="19050">
            <a:solidFill>
              <a:srgbClr val="202935"/>
            </a:solidFill>
            <a:prstDash val="solid"/>
            <a:tailEnd type="arrow" w="med" len="med"/>
          </a:ln>
        </p:spPr>
      </p:cxnSp>
      <p:sp>
        <p:nvSpPr>
          <p:cNvPr id="18" name="Rechteck 17">
            <a:extLst>
              <a:ext uri="{FF2B5EF4-FFF2-40B4-BE49-F238E27FC236}">
                <a16:creationId xmlns:a16="http://schemas.microsoft.com/office/drawing/2014/main" id="{99AE8BE1-DF2C-4206-BDB7-664EC7949558}"/>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296BCDC1-60A8-4EA3-996D-7E61C340F77C}"/>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Meine Forschungsfrage</a:t>
            </a:r>
          </a:p>
        </p:txBody>
      </p:sp>
      <p:sp>
        <p:nvSpPr>
          <p:cNvPr id="3" name="Rechteck 2">
            <a:extLst>
              <a:ext uri="{FF2B5EF4-FFF2-40B4-BE49-F238E27FC236}">
                <a16:creationId xmlns:a16="http://schemas.microsoft.com/office/drawing/2014/main" id="{5B4DC3DD-CA35-442F-AB48-9F50BF397663}"/>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D5130C29-D629-45A0-92FE-C53EC5146760}"/>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BA9D49E2-A9B7-40CE-9D95-A5FDB53D4EA5}"/>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10</a:t>
            </a:r>
          </a:p>
        </p:txBody>
      </p:sp>
      <p:sp>
        <p:nvSpPr>
          <p:cNvPr id="6" name="Rechteck 5">
            <a:extLst>
              <a:ext uri="{FF2B5EF4-FFF2-40B4-BE49-F238E27FC236}">
                <a16:creationId xmlns:a16="http://schemas.microsoft.com/office/drawing/2014/main" id="{B1BBCF0D-2F50-44A9-B780-113539789687}"/>
              </a:ext>
            </a:extLst>
          </p:cNvPr>
          <p:cNvSpPr>
            <a:spLocks noGrp="1"/>
          </p:cNvSpPr>
          <p:nvPr/>
        </p:nvSpPr>
        <p:spPr>
          <a:xfrm>
            <a:off x="742950" y="1476375"/>
            <a:ext cx="10191750" cy="666750"/>
          </a:xfrm>
          <a:prstGeom prst="rect">
            <a:avLst/>
          </a:prstGeom>
          <a:noFill/>
          <a:ln w="0">
            <a:noFill/>
            <a:prstDash val="solid"/>
          </a:ln>
        </p:spPr>
        <p:txBody>
          <a:bodyPr wrap="square" lIns="0" tIns="0" rIns="0" bIns="0" anchor="ctr">
            <a:normAutofit/>
          </a:bodyPr>
          <a:lstStyle>
            <a:defPPr algn="l">
              <a:defRPr sz="2550" b="1">
                <a:solidFill>
                  <a:srgbClr val="202935"/>
                </a:solidFill>
                <a:latin typeface="Arial"/>
                <a:ea typeface="Arial"/>
                <a:cs typeface="Arial"/>
              </a:defRPr>
            </a:defPPr>
            <a:lvl1pPr algn="l">
              <a:defRPr sz="2550" b="1">
                <a:solidFill>
                  <a:srgbClr val="202935"/>
                </a:solidFill>
                <a:latin typeface="Arial"/>
                <a:ea typeface="Arial"/>
                <a:cs typeface="Arial"/>
              </a:defRPr>
            </a:lvl1pPr>
            <a:lvl2pPr algn="l">
              <a:defRPr sz="2550" b="1">
                <a:solidFill>
                  <a:srgbClr val="202935"/>
                </a:solidFill>
                <a:latin typeface="Arial"/>
                <a:ea typeface="Arial"/>
                <a:cs typeface="Arial"/>
              </a:defRPr>
            </a:lvl2pPr>
            <a:lvl3pPr algn="l">
              <a:defRPr sz="2550" b="1">
                <a:solidFill>
                  <a:srgbClr val="202935"/>
                </a:solidFill>
                <a:latin typeface="Arial"/>
                <a:ea typeface="Arial"/>
                <a:cs typeface="Arial"/>
              </a:defRPr>
            </a:lvl3pPr>
            <a:lvl4pPr algn="l">
              <a:defRPr sz="2550" b="1">
                <a:solidFill>
                  <a:srgbClr val="202935"/>
                </a:solidFill>
                <a:latin typeface="Arial"/>
                <a:ea typeface="Arial"/>
                <a:cs typeface="Arial"/>
              </a:defRPr>
            </a:lvl4pPr>
            <a:lvl5pPr algn="l">
              <a:defRPr sz="2550" b="1">
                <a:solidFill>
                  <a:srgbClr val="202935"/>
                </a:solidFill>
                <a:latin typeface="Arial"/>
                <a:ea typeface="Arial"/>
                <a:cs typeface="Arial"/>
              </a:defRPr>
            </a:lvl5pPr>
            <a:lvl6pPr algn="l">
              <a:defRPr sz="2550" b="1">
                <a:solidFill>
                  <a:srgbClr val="202935"/>
                </a:solidFill>
                <a:latin typeface="Arial"/>
                <a:ea typeface="Arial"/>
                <a:cs typeface="Arial"/>
              </a:defRPr>
            </a:lvl6pPr>
            <a:lvl7pPr algn="l">
              <a:defRPr sz="2550" b="1">
                <a:solidFill>
                  <a:srgbClr val="202935"/>
                </a:solidFill>
                <a:latin typeface="Arial"/>
                <a:ea typeface="Arial"/>
                <a:cs typeface="Arial"/>
              </a:defRPr>
            </a:lvl7pPr>
            <a:lvl8pPr algn="l">
              <a:defRPr sz="2550" b="1">
                <a:solidFill>
                  <a:srgbClr val="202935"/>
                </a:solidFill>
                <a:latin typeface="Arial"/>
                <a:ea typeface="Arial"/>
                <a:cs typeface="Arial"/>
              </a:defRPr>
            </a:lvl8pPr>
            <a:lvl9pPr algn="l">
              <a:defRPr sz="2550" b="1">
                <a:solidFill>
                  <a:srgbClr val="202935"/>
                </a:solidFill>
                <a:latin typeface="Arial"/>
                <a:ea typeface="Arial"/>
                <a:cs typeface="Arial"/>
              </a:defRPr>
            </a:lvl9pPr>
          </a:lstStyle>
          <a:p>
            <a:pPr algn="l">
              <a:defRPr sz="2550" b="1">
                <a:solidFill>
                  <a:srgbClr val="202935"/>
                </a:solidFill>
                <a:latin typeface="Arial"/>
                <a:ea typeface="Arial"/>
                <a:cs typeface="Arial"/>
              </a:defRPr>
            </a:pPr>
            <a:r>
              <a:rPr lang="de-AT" sz="2550" b="1" noProof="0" dirty="0">
                <a:solidFill>
                  <a:srgbClr val="202935"/>
                </a:solidFill>
                <a:latin typeface="Arial"/>
                <a:ea typeface="Arial"/>
                <a:cs typeface="Arial"/>
              </a:rPr>
              <a:t>Wie weit kommt man mit mehreren kleinen Schwächen?</a:t>
            </a:r>
          </a:p>
        </p:txBody>
      </p:sp>
      <p:sp>
        <p:nvSpPr>
          <p:cNvPr id="7" name="Rechteck 6">
            <a:extLst>
              <a:ext uri="{FF2B5EF4-FFF2-40B4-BE49-F238E27FC236}">
                <a16:creationId xmlns:a16="http://schemas.microsoft.com/office/drawing/2014/main" id="{882735FD-34B6-4E3A-BB0E-35ECDE5D029D}"/>
              </a:ext>
            </a:extLst>
          </p:cNvPr>
          <p:cNvSpPr>
            <a:spLocks noGrp="1"/>
          </p:cNvSpPr>
          <p:nvPr/>
        </p:nvSpPr>
        <p:spPr>
          <a:xfrm>
            <a:off x="752475" y="3228975"/>
            <a:ext cx="2324100" cy="1076325"/>
          </a:xfrm>
          <a:prstGeom prst="rect">
            <a:avLst/>
          </a:prstGeom>
          <a:solidFill>
            <a:srgbClr val="FFFFFF"/>
          </a:solidFill>
          <a:ln w="9525">
            <a:solidFill>
              <a:srgbClr val="D6D4CD"/>
            </a:solidFill>
            <a:prstDash val="solid"/>
          </a:ln>
        </p:spPr>
        <p:txBody>
          <a:bodyPr/>
          <a:lstStyle/>
          <a:p>
            <a:endParaRPr lang="de-AT" noProof="0" dirty="0"/>
          </a:p>
        </p:txBody>
      </p:sp>
      <p:sp>
        <p:nvSpPr>
          <p:cNvPr id="8" name="Rechteck 7">
            <a:extLst>
              <a:ext uri="{FF2B5EF4-FFF2-40B4-BE49-F238E27FC236}">
                <a16:creationId xmlns:a16="http://schemas.microsoft.com/office/drawing/2014/main" id="{7591ED7E-C9CE-48EA-8CC5-9D82AF7CE6DE}"/>
              </a:ext>
            </a:extLst>
          </p:cNvPr>
          <p:cNvSpPr>
            <a:spLocks noGrp="1"/>
          </p:cNvSpPr>
          <p:nvPr/>
        </p:nvSpPr>
        <p:spPr>
          <a:xfrm>
            <a:off x="904875" y="3343275"/>
            <a:ext cx="2019300"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Startzugang</a:t>
            </a:r>
          </a:p>
        </p:txBody>
      </p:sp>
      <p:sp>
        <p:nvSpPr>
          <p:cNvPr id="9" name="Rechteck 8">
            <a:extLst>
              <a:ext uri="{FF2B5EF4-FFF2-40B4-BE49-F238E27FC236}">
                <a16:creationId xmlns:a16="http://schemas.microsoft.com/office/drawing/2014/main" id="{0538C287-A4DF-4071-BC03-78AAC668215E}"/>
              </a:ext>
            </a:extLst>
          </p:cNvPr>
          <p:cNvSpPr>
            <a:spLocks noGrp="1"/>
          </p:cNvSpPr>
          <p:nvPr/>
        </p:nvSpPr>
        <p:spPr>
          <a:xfrm>
            <a:off x="3600450" y="3228975"/>
            <a:ext cx="2324100" cy="1076325"/>
          </a:xfrm>
          <a:prstGeom prst="rect">
            <a:avLst/>
          </a:prstGeom>
          <a:solidFill>
            <a:srgbClr val="FFFFFF"/>
          </a:solidFill>
          <a:ln w="19050">
            <a:solidFill>
              <a:srgbClr val="C55A2B"/>
            </a:solidFill>
            <a:prstDash val="solid"/>
          </a:ln>
        </p:spPr>
        <p:txBody>
          <a:bodyPr/>
          <a:lstStyle/>
          <a:p>
            <a:endParaRPr lang="de-AT" noProof="0" dirty="0"/>
          </a:p>
        </p:txBody>
      </p:sp>
      <p:sp>
        <p:nvSpPr>
          <p:cNvPr id="10" name="Rechteck 9">
            <a:extLst>
              <a:ext uri="{FF2B5EF4-FFF2-40B4-BE49-F238E27FC236}">
                <a16:creationId xmlns:a16="http://schemas.microsoft.com/office/drawing/2014/main" id="{315B2802-FAE6-4A3F-A1BF-D14E3F415B8A}"/>
              </a:ext>
            </a:extLst>
          </p:cNvPr>
          <p:cNvSpPr>
            <a:spLocks noGrp="1"/>
          </p:cNvSpPr>
          <p:nvPr/>
        </p:nvSpPr>
        <p:spPr>
          <a:xfrm>
            <a:off x="3752850" y="3343275"/>
            <a:ext cx="2019300"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Geänderter Input</a:t>
            </a:r>
          </a:p>
        </p:txBody>
      </p:sp>
      <p:sp>
        <p:nvSpPr>
          <p:cNvPr id="11" name="Rechteck 10">
            <a:extLst>
              <a:ext uri="{FF2B5EF4-FFF2-40B4-BE49-F238E27FC236}">
                <a16:creationId xmlns:a16="http://schemas.microsoft.com/office/drawing/2014/main" id="{0A99C494-0319-4FAD-B1DE-CB216908714E}"/>
              </a:ext>
            </a:extLst>
          </p:cNvPr>
          <p:cNvSpPr>
            <a:spLocks noGrp="1"/>
          </p:cNvSpPr>
          <p:nvPr/>
        </p:nvSpPr>
        <p:spPr>
          <a:xfrm>
            <a:off x="6448425" y="3228975"/>
            <a:ext cx="2324100" cy="1076325"/>
          </a:xfrm>
          <a:prstGeom prst="rect">
            <a:avLst/>
          </a:prstGeom>
          <a:solidFill>
            <a:srgbClr val="FFFFFF"/>
          </a:solidFill>
          <a:ln w="9525">
            <a:solidFill>
              <a:srgbClr val="D6D4CD"/>
            </a:solidFill>
            <a:prstDash val="solid"/>
          </a:ln>
        </p:spPr>
        <p:txBody>
          <a:bodyPr/>
          <a:lstStyle/>
          <a:p>
            <a:endParaRPr lang="de-AT" noProof="0" dirty="0"/>
          </a:p>
        </p:txBody>
      </p:sp>
      <p:sp>
        <p:nvSpPr>
          <p:cNvPr id="12" name="Rechteck 11">
            <a:extLst>
              <a:ext uri="{FF2B5EF4-FFF2-40B4-BE49-F238E27FC236}">
                <a16:creationId xmlns:a16="http://schemas.microsoft.com/office/drawing/2014/main" id="{A66F4AFB-17C2-4534-8FBC-1337D1F34F04}"/>
              </a:ext>
            </a:extLst>
          </p:cNvPr>
          <p:cNvSpPr>
            <a:spLocks noGrp="1"/>
          </p:cNvSpPr>
          <p:nvPr/>
        </p:nvSpPr>
        <p:spPr>
          <a:xfrm>
            <a:off x="6600825" y="3343275"/>
            <a:ext cx="2019300"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Beobachtung</a:t>
            </a:r>
          </a:p>
        </p:txBody>
      </p:sp>
      <p:sp>
        <p:nvSpPr>
          <p:cNvPr id="13" name="Rechteck 12">
            <a:extLst>
              <a:ext uri="{FF2B5EF4-FFF2-40B4-BE49-F238E27FC236}">
                <a16:creationId xmlns:a16="http://schemas.microsoft.com/office/drawing/2014/main" id="{F829E5A4-0F9C-4F84-A6B0-C9A889819AC4}"/>
              </a:ext>
            </a:extLst>
          </p:cNvPr>
          <p:cNvSpPr>
            <a:spLocks noGrp="1"/>
          </p:cNvSpPr>
          <p:nvPr/>
        </p:nvSpPr>
        <p:spPr>
          <a:xfrm>
            <a:off x="9296400" y="3228975"/>
            <a:ext cx="2324100" cy="1076325"/>
          </a:xfrm>
          <a:prstGeom prst="rect">
            <a:avLst/>
          </a:prstGeom>
          <a:solidFill>
            <a:srgbClr val="FFFFFF"/>
          </a:solidFill>
          <a:ln w="9525">
            <a:solidFill>
              <a:srgbClr val="D6D4CD"/>
            </a:solidFill>
            <a:prstDash val="solid"/>
          </a:ln>
        </p:spPr>
        <p:txBody>
          <a:bodyPr/>
          <a:lstStyle/>
          <a:p>
            <a:endParaRPr lang="de-AT" noProof="0" dirty="0"/>
          </a:p>
        </p:txBody>
      </p:sp>
      <p:sp>
        <p:nvSpPr>
          <p:cNvPr id="14" name="Rechteck 13">
            <a:extLst>
              <a:ext uri="{FF2B5EF4-FFF2-40B4-BE49-F238E27FC236}">
                <a16:creationId xmlns:a16="http://schemas.microsoft.com/office/drawing/2014/main" id="{42B3C30C-40FC-4C14-9CDA-00CD60EF6376}"/>
              </a:ext>
            </a:extLst>
          </p:cNvPr>
          <p:cNvSpPr>
            <a:spLocks noGrp="1"/>
          </p:cNvSpPr>
          <p:nvPr/>
        </p:nvSpPr>
        <p:spPr>
          <a:xfrm>
            <a:off x="9448800" y="3343275"/>
            <a:ext cx="2019300"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Nächster Schritt</a:t>
            </a:r>
          </a:p>
        </p:txBody>
      </p:sp>
    </p:spTree>
    <p:extLst>
      <p:ext uri="{BB962C8B-B14F-4D97-AF65-F5344CB8AC3E}">
        <p14:creationId xmlns:p14="http://schemas.microsoft.com/office/powerpoint/2010/main" val="235771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4" name="Rechteck 13">
            <a:extLst>
              <a:ext uri="{FF2B5EF4-FFF2-40B4-BE49-F238E27FC236}">
                <a16:creationId xmlns:a16="http://schemas.microsoft.com/office/drawing/2014/main" id="{2A4A49F6-2707-4726-AB5F-0AA3907ECF27}"/>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A4B50872-8AF4-4BD3-ABCF-DD1E9A5383A2}"/>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Experiment 1: Gateway und </a:t>
            </a:r>
            <a:r>
              <a:rPr lang="de-AT" sz="3150" b="1" noProof="0" dirty="0" err="1">
                <a:solidFill>
                  <a:srgbClr val="202935"/>
                </a:solidFill>
                <a:latin typeface="Arial"/>
                <a:ea typeface="Arial"/>
                <a:cs typeface="Arial"/>
              </a:rPr>
              <a:t>SpEL</a:t>
            </a:r>
            <a:endParaRPr lang="de-AT" sz="3150" b="1" noProof="0" dirty="0">
              <a:solidFill>
                <a:srgbClr val="202935"/>
              </a:solidFill>
              <a:latin typeface="Arial"/>
              <a:ea typeface="Arial"/>
              <a:cs typeface="Arial"/>
            </a:endParaRPr>
          </a:p>
        </p:txBody>
      </p:sp>
      <p:sp>
        <p:nvSpPr>
          <p:cNvPr id="3" name="Rechteck 2">
            <a:extLst>
              <a:ext uri="{FF2B5EF4-FFF2-40B4-BE49-F238E27FC236}">
                <a16:creationId xmlns:a16="http://schemas.microsoft.com/office/drawing/2014/main" id="{1969F9DF-76F4-41AD-B5BE-4E5634E5E161}"/>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2A4CB0F5-D59F-4241-9673-D5EFAEAE600F}"/>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CD42A6E0-0BFA-4F6E-B5A4-3070300CD2DA}"/>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11</a:t>
            </a:r>
          </a:p>
        </p:txBody>
      </p:sp>
      <p:sp>
        <p:nvSpPr>
          <p:cNvPr id="6" name="Rechteck 5">
            <a:extLst>
              <a:ext uri="{FF2B5EF4-FFF2-40B4-BE49-F238E27FC236}">
                <a16:creationId xmlns:a16="http://schemas.microsoft.com/office/drawing/2014/main" id="{045C5E97-BD3E-44E2-9CD1-B8971AB4BC89}"/>
              </a:ext>
            </a:extLst>
          </p:cNvPr>
          <p:cNvSpPr>
            <a:spLocks noGrp="1"/>
          </p:cNvSpPr>
          <p:nvPr/>
        </p:nvSpPr>
        <p:spPr>
          <a:xfrm>
            <a:off x="742950" y="1466850"/>
            <a:ext cx="3905250" cy="257175"/>
          </a:xfrm>
          <a:prstGeom prst="rect">
            <a:avLst/>
          </a:prstGeom>
          <a:noFill/>
          <a:ln w="0">
            <a:noFill/>
            <a:prstDash val="solid"/>
          </a:ln>
        </p:spPr>
        <p:txBody>
          <a:bodyPr wrap="square" lIns="0" tIns="0" rIns="0" bIns="0" anchor="ctr">
            <a:normAutofit/>
          </a:bodyPr>
          <a:lstStyle>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a:pPr algn="l">
              <a:defRPr sz="1125" b="1">
                <a:solidFill>
                  <a:srgbClr val="C55A2B"/>
                </a:solidFill>
                <a:latin typeface="Arial"/>
                <a:ea typeface="Arial"/>
                <a:cs typeface="Arial"/>
              </a:defRPr>
            </a:pPr>
            <a:r>
              <a:rPr lang="de-AT" sz="1125" b="1" noProof="0" dirty="0">
                <a:solidFill>
                  <a:srgbClr val="C55A2B"/>
                </a:solidFill>
                <a:latin typeface="Arial"/>
                <a:ea typeface="Arial"/>
                <a:cs typeface="Arial"/>
              </a:rPr>
              <a:t>AUSGANGSPUNKT</a:t>
            </a:r>
          </a:p>
        </p:txBody>
      </p:sp>
      <p:sp>
        <p:nvSpPr>
          <p:cNvPr id="7" name="Rechteck 6">
            <a:extLst>
              <a:ext uri="{FF2B5EF4-FFF2-40B4-BE49-F238E27FC236}">
                <a16:creationId xmlns:a16="http://schemas.microsoft.com/office/drawing/2014/main" id="{09CB3255-68FE-4332-8D2E-55816C6BDE93}"/>
              </a:ext>
            </a:extLst>
          </p:cNvPr>
          <p:cNvSpPr>
            <a:spLocks noGrp="1"/>
          </p:cNvSpPr>
          <p:nvPr/>
        </p:nvSpPr>
        <p:spPr>
          <a:xfrm>
            <a:off x="742950" y="1828800"/>
            <a:ext cx="4362450" cy="990600"/>
          </a:xfrm>
          <a:prstGeom prst="rect">
            <a:avLst/>
          </a:prstGeom>
          <a:noFill/>
          <a:ln w="0">
            <a:noFill/>
            <a:prstDash val="solid"/>
          </a:ln>
        </p:spPr>
        <p:txBody>
          <a:bodyPr wrap="square" lIns="0" tIns="0" rIns="0" bIns="0" anchor="ctr">
            <a:normAutofit/>
          </a:bodyPr>
          <a:lstStyle>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a:pPr algn="l">
              <a:defRPr sz="2100" b="1">
                <a:solidFill>
                  <a:srgbClr val="202935"/>
                </a:solidFill>
                <a:latin typeface="Arial"/>
                <a:ea typeface="Arial"/>
                <a:cs typeface="Arial"/>
              </a:defRPr>
            </a:pPr>
            <a:r>
              <a:rPr lang="de-AT" sz="2100" b="1" noProof="0" dirty="0">
                <a:solidFill>
                  <a:srgbClr val="202935"/>
                </a:solidFill>
                <a:latin typeface="Arial"/>
                <a:ea typeface="Arial"/>
                <a:cs typeface="Arial"/>
              </a:rPr>
              <a:t>Gateway </a:t>
            </a:r>
            <a:r>
              <a:rPr lang="de-AT" sz="2100" b="1" noProof="0" dirty="0" err="1">
                <a:solidFill>
                  <a:srgbClr val="202935"/>
                </a:solidFill>
                <a:latin typeface="Arial"/>
                <a:ea typeface="Arial"/>
                <a:cs typeface="Arial"/>
              </a:rPr>
              <a:t>Actuator</a:t>
            </a:r>
            <a:r>
              <a:rPr lang="de-AT" sz="2100" b="1" noProof="0" dirty="0">
                <a:solidFill>
                  <a:srgbClr val="202935"/>
                </a:solidFill>
                <a:latin typeface="Arial"/>
                <a:ea typeface="Arial"/>
                <a:cs typeface="Arial"/>
              </a:rPr>
              <a:t> ist öffentlich erreichbar.</a:t>
            </a:r>
          </a:p>
        </p:txBody>
      </p:sp>
      <p:sp>
        <p:nvSpPr>
          <p:cNvPr id="8" name="Rechteck 7">
            <a:extLst>
              <a:ext uri="{FF2B5EF4-FFF2-40B4-BE49-F238E27FC236}">
                <a16:creationId xmlns:a16="http://schemas.microsoft.com/office/drawing/2014/main" id="{262F96BA-4498-482A-A827-18FD417D3337}"/>
              </a:ext>
            </a:extLst>
          </p:cNvPr>
          <p:cNvSpPr>
            <a:spLocks noGrp="1"/>
          </p:cNvSpPr>
          <p:nvPr/>
        </p:nvSpPr>
        <p:spPr>
          <a:xfrm>
            <a:off x="6400800" y="1466850"/>
            <a:ext cx="4476750" cy="257175"/>
          </a:xfrm>
          <a:prstGeom prst="rect">
            <a:avLst/>
          </a:prstGeom>
          <a:noFill/>
          <a:ln w="0">
            <a:noFill/>
            <a:prstDash val="solid"/>
          </a:ln>
        </p:spPr>
        <p:txBody>
          <a:bodyPr wrap="square" lIns="0" tIns="0" rIns="0" bIns="0" anchor="ctr">
            <a:normAutofit/>
          </a:bodyPr>
          <a:lstStyle>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a:pPr algn="l">
              <a:defRPr sz="1125" b="1">
                <a:solidFill>
                  <a:srgbClr val="C55A2B"/>
                </a:solidFill>
                <a:latin typeface="Arial"/>
                <a:ea typeface="Arial"/>
                <a:cs typeface="Arial"/>
              </a:defRPr>
            </a:pPr>
            <a:r>
              <a:rPr lang="de-AT" sz="1125" b="1" noProof="0" dirty="0">
                <a:solidFill>
                  <a:srgbClr val="C55A2B"/>
                </a:solidFill>
                <a:latin typeface="Arial"/>
                <a:ea typeface="Arial"/>
                <a:cs typeface="Arial"/>
              </a:rPr>
              <a:t>GEÄNDERTER INPUT</a:t>
            </a:r>
          </a:p>
        </p:txBody>
      </p:sp>
      <p:sp>
        <p:nvSpPr>
          <p:cNvPr id="9" name="Rechteck 8">
            <a:extLst>
              <a:ext uri="{FF2B5EF4-FFF2-40B4-BE49-F238E27FC236}">
                <a16:creationId xmlns:a16="http://schemas.microsoft.com/office/drawing/2014/main" id="{FE519C69-822B-45F5-9F2F-3595DA0B73F2}"/>
              </a:ext>
            </a:extLst>
          </p:cNvPr>
          <p:cNvSpPr>
            <a:spLocks noGrp="1"/>
          </p:cNvSpPr>
          <p:nvPr/>
        </p:nvSpPr>
        <p:spPr>
          <a:xfrm>
            <a:off x="6400800" y="1828799"/>
            <a:ext cx="4629150" cy="1428745"/>
          </a:xfrm>
          <a:prstGeom prst="rect">
            <a:avLst/>
          </a:prstGeom>
          <a:noFill/>
          <a:ln w="0">
            <a:noFill/>
            <a:prstDash val="solid"/>
          </a:ln>
        </p:spPr>
        <p:txBody>
          <a:bodyPr wrap="square" lIns="0" tIns="0" rIns="0" bIns="0" anchor="ctr">
            <a:normAutofit/>
          </a:bodyPr>
          <a:lstStyle>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a:pPr>
              <a:defRPr sz="2100" b="1">
                <a:solidFill>
                  <a:srgbClr val="202935"/>
                </a:solidFill>
                <a:latin typeface="Arial"/>
                <a:ea typeface="Arial"/>
                <a:cs typeface="Arial"/>
              </a:defRPr>
            </a:pPr>
            <a:r>
              <a:rPr lang="de-AT" sz="2100" b="1" noProof="0" dirty="0">
                <a:solidFill>
                  <a:srgbClr val="202935"/>
                </a:solidFill>
                <a:latin typeface="Arial"/>
                <a:ea typeface="Arial"/>
                <a:cs typeface="Arial"/>
              </a:rPr>
              <a:t>Route </a:t>
            </a:r>
            <a:r>
              <a:rPr lang="de-AT" sz="2100" b="1" noProof="0" dirty="0" err="1">
                <a:solidFill>
                  <a:srgbClr val="202935"/>
                </a:solidFill>
                <a:latin typeface="Arial"/>
                <a:ea typeface="Arial"/>
                <a:cs typeface="Arial"/>
              </a:rPr>
              <a:t>Configuration</a:t>
            </a:r>
            <a:r>
              <a:rPr lang="de-AT" sz="2100" b="1" noProof="0" dirty="0">
                <a:solidFill>
                  <a:srgbClr val="202935"/>
                </a:solidFill>
                <a:latin typeface="Arial"/>
                <a:ea typeface="Arial"/>
                <a:cs typeface="Arial"/>
              </a:rPr>
              <a:t> enthält einen </a:t>
            </a:r>
            <a:r>
              <a:rPr lang="de-AT" sz="2100" b="1" noProof="0" dirty="0" err="1">
                <a:solidFill>
                  <a:srgbClr val="202935"/>
                </a:solidFill>
                <a:latin typeface="Arial"/>
                <a:ea typeface="Arial"/>
                <a:cs typeface="Arial"/>
              </a:rPr>
              <a:t>SpEL</a:t>
            </a:r>
            <a:r>
              <a:rPr lang="de-AT" sz="2100" b="1" noProof="0" dirty="0">
                <a:solidFill>
                  <a:srgbClr val="202935"/>
                </a:solidFill>
                <a:latin typeface="Arial"/>
                <a:ea typeface="Arial"/>
                <a:cs typeface="Arial"/>
              </a:rPr>
              <a:t>-Ausdruck.</a:t>
            </a:r>
            <a:br>
              <a:rPr lang="ru-RU" sz="2100" b="1" noProof="0" dirty="0">
                <a:solidFill>
                  <a:srgbClr val="202935"/>
                </a:solidFill>
                <a:latin typeface="Arial"/>
                <a:ea typeface="Arial"/>
                <a:cs typeface="Arial"/>
              </a:rPr>
            </a:br>
            <a:br>
              <a:rPr lang="ru-RU" sz="2100" b="1" noProof="0" dirty="0">
                <a:solidFill>
                  <a:srgbClr val="202935"/>
                </a:solidFill>
                <a:latin typeface="Arial"/>
                <a:ea typeface="Arial"/>
                <a:cs typeface="Arial"/>
              </a:rPr>
            </a:br>
            <a:r>
              <a:rPr lang="de-AT" b="0" dirty="0"/>
              <a:t>#{...}</a:t>
            </a:r>
            <a:r>
              <a:rPr lang="ru-RU" b="0" dirty="0"/>
              <a:t> </a:t>
            </a:r>
            <a:r>
              <a:rPr lang="en-US" b="0" dirty="0" err="1"/>
              <a:t>ist</a:t>
            </a:r>
            <a:r>
              <a:rPr lang="en-US" b="0" dirty="0"/>
              <a:t> </a:t>
            </a:r>
            <a:r>
              <a:rPr lang="en-US" b="0" dirty="0" err="1"/>
              <a:t>interpretiert</a:t>
            </a:r>
            <a:r>
              <a:rPr lang="en-US" b="0" dirty="0"/>
              <a:t> </a:t>
            </a:r>
            <a:r>
              <a:rPr lang="en-US" b="0" dirty="0" err="1"/>
              <a:t>als</a:t>
            </a:r>
            <a:r>
              <a:rPr lang="en-US" b="0" dirty="0"/>
              <a:t> </a:t>
            </a:r>
            <a:r>
              <a:rPr lang="en-US" b="0" dirty="0" err="1"/>
              <a:t>SpEL</a:t>
            </a:r>
            <a:endParaRPr lang="de-AT" sz="2100" b="1" noProof="0" dirty="0">
              <a:solidFill>
                <a:srgbClr val="202935"/>
              </a:solidFill>
              <a:latin typeface="Arial"/>
              <a:ea typeface="Arial"/>
              <a:cs typeface="Arial"/>
            </a:endParaRPr>
          </a:p>
        </p:txBody>
      </p:sp>
      <p:sp>
        <p:nvSpPr>
          <p:cNvPr id="10" name="Gerader Verbinder 9">
            <a:extLst>
              <a:ext uri="{FF2B5EF4-FFF2-40B4-BE49-F238E27FC236}">
                <a16:creationId xmlns:a16="http://schemas.microsoft.com/office/drawing/2014/main" id="{B6A66048-2066-4C76-9B65-D0BAE5415E23}"/>
              </a:ext>
            </a:extLst>
          </p:cNvPr>
          <p:cNvSpPr>
            <a:spLocks noGrp="1"/>
          </p:cNvSpPr>
          <p:nvPr/>
        </p:nvSpPr>
        <p:spPr>
          <a:xfrm>
            <a:off x="723900" y="3333750"/>
            <a:ext cx="10287000" cy="0"/>
          </a:xfrm>
          <a:prstGeom prst="line">
            <a:avLst/>
          </a:prstGeom>
          <a:noFill/>
          <a:ln w="19050">
            <a:solidFill>
              <a:srgbClr val="D6D4CD"/>
            </a:solidFill>
            <a:prstDash val="solid"/>
          </a:ln>
        </p:spPr>
        <p:txBody>
          <a:bodyPr/>
          <a:lstStyle/>
          <a:p>
            <a:endParaRPr lang="de-AT" noProof="0" dirty="0"/>
          </a:p>
        </p:txBody>
      </p:sp>
      <p:sp>
        <p:nvSpPr>
          <p:cNvPr id="11" name="Rechteck 10">
            <a:extLst>
              <a:ext uri="{FF2B5EF4-FFF2-40B4-BE49-F238E27FC236}">
                <a16:creationId xmlns:a16="http://schemas.microsoft.com/office/drawing/2014/main" id="{669A7F24-420A-4DBD-B680-A7BC8853870C}"/>
              </a:ext>
            </a:extLst>
          </p:cNvPr>
          <p:cNvSpPr>
            <a:spLocks noGrp="1"/>
          </p:cNvSpPr>
          <p:nvPr/>
        </p:nvSpPr>
        <p:spPr>
          <a:xfrm>
            <a:off x="742950" y="3733800"/>
            <a:ext cx="10382250" cy="952500"/>
          </a:xfrm>
          <a:prstGeom prst="rect">
            <a:avLst/>
          </a:prstGeom>
          <a:noFill/>
          <a:ln w="0">
            <a:noFill/>
            <a:prstDash val="solid"/>
          </a:ln>
        </p:spPr>
        <p:txBody>
          <a:bodyPr wrap="square" lIns="0" tIns="0" rIns="0" bIns="0" anchor="ctr">
            <a:normAutofit/>
          </a:bodyPr>
          <a:lstStyle>
            <a:defPPr algn="l">
              <a:defRPr sz="2250" b="1">
                <a:solidFill>
                  <a:srgbClr val="C55A2B"/>
                </a:solidFill>
                <a:latin typeface="Arial"/>
                <a:ea typeface="Arial"/>
                <a:cs typeface="Arial"/>
              </a:defRPr>
            </a:defPPr>
            <a:lvl1pPr algn="l">
              <a:defRPr sz="2250" b="1">
                <a:solidFill>
                  <a:srgbClr val="C55A2B"/>
                </a:solidFill>
                <a:latin typeface="Arial"/>
                <a:ea typeface="Arial"/>
                <a:cs typeface="Arial"/>
              </a:defRPr>
            </a:lvl1pPr>
            <a:lvl2pPr algn="l">
              <a:defRPr sz="2250" b="1">
                <a:solidFill>
                  <a:srgbClr val="C55A2B"/>
                </a:solidFill>
                <a:latin typeface="Arial"/>
                <a:ea typeface="Arial"/>
                <a:cs typeface="Arial"/>
              </a:defRPr>
            </a:lvl2pPr>
            <a:lvl3pPr algn="l">
              <a:defRPr sz="2250" b="1">
                <a:solidFill>
                  <a:srgbClr val="C55A2B"/>
                </a:solidFill>
                <a:latin typeface="Arial"/>
                <a:ea typeface="Arial"/>
                <a:cs typeface="Arial"/>
              </a:defRPr>
            </a:lvl3pPr>
            <a:lvl4pPr algn="l">
              <a:defRPr sz="2250" b="1">
                <a:solidFill>
                  <a:srgbClr val="C55A2B"/>
                </a:solidFill>
                <a:latin typeface="Arial"/>
                <a:ea typeface="Arial"/>
                <a:cs typeface="Arial"/>
              </a:defRPr>
            </a:lvl4pPr>
            <a:lvl5pPr algn="l">
              <a:defRPr sz="2250" b="1">
                <a:solidFill>
                  <a:srgbClr val="C55A2B"/>
                </a:solidFill>
                <a:latin typeface="Arial"/>
                <a:ea typeface="Arial"/>
                <a:cs typeface="Arial"/>
              </a:defRPr>
            </a:lvl5pPr>
            <a:lvl6pPr algn="l">
              <a:defRPr sz="2250" b="1">
                <a:solidFill>
                  <a:srgbClr val="C55A2B"/>
                </a:solidFill>
                <a:latin typeface="Arial"/>
                <a:ea typeface="Arial"/>
                <a:cs typeface="Arial"/>
              </a:defRPr>
            </a:lvl6pPr>
            <a:lvl7pPr algn="l">
              <a:defRPr sz="2250" b="1">
                <a:solidFill>
                  <a:srgbClr val="C55A2B"/>
                </a:solidFill>
                <a:latin typeface="Arial"/>
                <a:ea typeface="Arial"/>
                <a:cs typeface="Arial"/>
              </a:defRPr>
            </a:lvl7pPr>
            <a:lvl8pPr algn="l">
              <a:defRPr sz="2250" b="1">
                <a:solidFill>
                  <a:srgbClr val="C55A2B"/>
                </a:solidFill>
                <a:latin typeface="Arial"/>
                <a:ea typeface="Arial"/>
                <a:cs typeface="Arial"/>
              </a:defRPr>
            </a:lvl8pPr>
            <a:lvl9pPr algn="l">
              <a:defRPr sz="2250" b="1">
                <a:solidFill>
                  <a:srgbClr val="C55A2B"/>
                </a:solidFill>
                <a:latin typeface="Arial"/>
                <a:ea typeface="Arial"/>
                <a:cs typeface="Arial"/>
              </a:defRPr>
            </a:lvl9pPr>
          </a:lstStyle>
          <a:p>
            <a:pPr algn="l">
              <a:defRPr sz="2250" b="1">
                <a:solidFill>
                  <a:srgbClr val="C55A2B"/>
                </a:solidFill>
                <a:latin typeface="Arial"/>
                <a:ea typeface="Arial"/>
                <a:cs typeface="Arial"/>
              </a:defRPr>
            </a:pPr>
            <a:r>
              <a:rPr lang="de-AT" sz="2250" b="1" noProof="0" dirty="0">
                <a:solidFill>
                  <a:srgbClr val="C55A2B"/>
                </a:solidFill>
                <a:latin typeface="Arial"/>
                <a:ea typeface="Arial"/>
                <a:cs typeface="Arial"/>
              </a:rPr>
              <a:t>Ergebnis: Ein </a:t>
            </a:r>
            <a:r>
              <a:rPr lang="de-AT" sz="2250" b="1" noProof="0" dirty="0" err="1">
                <a:solidFill>
                  <a:srgbClr val="C55A2B"/>
                </a:solidFill>
                <a:latin typeface="Arial"/>
                <a:ea typeface="Arial"/>
                <a:cs typeface="Arial"/>
              </a:rPr>
              <a:t>Runtime</a:t>
            </a:r>
            <a:r>
              <a:rPr lang="de-AT" sz="2250" b="1" noProof="0" dirty="0">
                <a:solidFill>
                  <a:srgbClr val="C55A2B"/>
                </a:solidFill>
                <a:latin typeface="Arial"/>
                <a:ea typeface="Arial"/>
                <a:cs typeface="Arial"/>
              </a:rPr>
              <a:t> Setting wird beim Erstellen der Route verändert.</a:t>
            </a:r>
          </a:p>
        </p:txBody>
      </p:sp>
      <p:sp>
        <p:nvSpPr>
          <p:cNvPr id="12" name="Rechteck 11">
            <a:extLst>
              <a:ext uri="{FF2B5EF4-FFF2-40B4-BE49-F238E27FC236}">
                <a16:creationId xmlns:a16="http://schemas.microsoft.com/office/drawing/2014/main" id="{DB6FD236-31C5-4998-9644-290C2841A393}"/>
              </a:ext>
            </a:extLst>
          </p:cNvPr>
          <p:cNvSpPr>
            <a:spLocks noGrp="1"/>
          </p:cNvSpPr>
          <p:nvPr/>
        </p:nvSpPr>
        <p:spPr>
          <a:xfrm>
            <a:off x="742950" y="5257800"/>
            <a:ext cx="9715500" cy="552450"/>
          </a:xfrm>
          <a:prstGeom prst="rect">
            <a:avLst/>
          </a:prstGeom>
          <a:noFill/>
          <a:ln w="0">
            <a:noFill/>
            <a:prstDash val="solid"/>
          </a:ln>
        </p:spPr>
        <p:txBody>
          <a:bodyPr wrap="square" lIns="0" tIns="0" rIns="0" bIns="0" anchor="ctr">
            <a:normAutofit/>
          </a:bodyPr>
          <a:lstStyle>
            <a:defPPr algn="l">
              <a:defRPr sz="1575" b="1">
                <a:solidFill>
                  <a:srgbClr val="5D6872"/>
                </a:solidFill>
                <a:latin typeface="Arial"/>
                <a:ea typeface="Arial"/>
                <a:cs typeface="Arial"/>
              </a:defRPr>
            </a:defPPr>
            <a:lvl1pPr algn="l">
              <a:defRPr sz="1575" b="1">
                <a:solidFill>
                  <a:srgbClr val="5D6872"/>
                </a:solidFill>
                <a:latin typeface="Arial"/>
                <a:ea typeface="Arial"/>
                <a:cs typeface="Arial"/>
              </a:defRPr>
            </a:lvl1pPr>
            <a:lvl2pPr algn="l">
              <a:defRPr sz="1575" b="1">
                <a:solidFill>
                  <a:srgbClr val="5D6872"/>
                </a:solidFill>
                <a:latin typeface="Arial"/>
                <a:ea typeface="Arial"/>
                <a:cs typeface="Arial"/>
              </a:defRPr>
            </a:lvl2pPr>
            <a:lvl3pPr algn="l">
              <a:defRPr sz="1575" b="1">
                <a:solidFill>
                  <a:srgbClr val="5D6872"/>
                </a:solidFill>
                <a:latin typeface="Arial"/>
                <a:ea typeface="Arial"/>
                <a:cs typeface="Arial"/>
              </a:defRPr>
            </a:lvl3pPr>
            <a:lvl4pPr algn="l">
              <a:defRPr sz="1575" b="1">
                <a:solidFill>
                  <a:srgbClr val="5D6872"/>
                </a:solidFill>
                <a:latin typeface="Arial"/>
                <a:ea typeface="Arial"/>
                <a:cs typeface="Arial"/>
              </a:defRPr>
            </a:lvl4pPr>
            <a:lvl5pPr algn="l">
              <a:defRPr sz="1575" b="1">
                <a:solidFill>
                  <a:srgbClr val="5D6872"/>
                </a:solidFill>
                <a:latin typeface="Arial"/>
                <a:ea typeface="Arial"/>
                <a:cs typeface="Arial"/>
              </a:defRPr>
            </a:lvl5pPr>
            <a:lvl6pPr algn="l">
              <a:defRPr sz="1575" b="1">
                <a:solidFill>
                  <a:srgbClr val="5D6872"/>
                </a:solidFill>
                <a:latin typeface="Arial"/>
                <a:ea typeface="Arial"/>
                <a:cs typeface="Arial"/>
              </a:defRPr>
            </a:lvl6pPr>
            <a:lvl7pPr algn="l">
              <a:defRPr sz="1575" b="1">
                <a:solidFill>
                  <a:srgbClr val="5D6872"/>
                </a:solidFill>
                <a:latin typeface="Arial"/>
                <a:ea typeface="Arial"/>
                <a:cs typeface="Arial"/>
              </a:defRPr>
            </a:lvl7pPr>
            <a:lvl8pPr algn="l">
              <a:defRPr sz="1575" b="1">
                <a:solidFill>
                  <a:srgbClr val="5D6872"/>
                </a:solidFill>
                <a:latin typeface="Arial"/>
                <a:ea typeface="Arial"/>
                <a:cs typeface="Arial"/>
              </a:defRPr>
            </a:lvl8pPr>
            <a:lvl9pPr algn="l">
              <a:defRPr sz="1575" b="1">
                <a:solidFill>
                  <a:srgbClr val="5D6872"/>
                </a:solidFill>
                <a:latin typeface="Arial"/>
                <a:ea typeface="Arial"/>
                <a:cs typeface="Arial"/>
              </a:defRPr>
            </a:lvl9pPr>
          </a:lstStyle>
          <a:p>
            <a:pPr algn="l">
              <a:defRPr sz="1575" b="1">
                <a:solidFill>
                  <a:srgbClr val="5D6872"/>
                </a:solidFill>
                <a:latin typeface="Arial"/>
                <a:ea typeface="Arial"/>
                <a:cs typeface="Arial"/>
              </a:defRPr>
            </a:pPr>
            <a:r>
              <a:rPr lang="de-AT" sz="1575" b="1" noProof="0" dirty="0">
                <a:solidFill>
                  <a:srgbClr val="5D6872"/>
                </a:solidFill>
                <a:latin typeface="Arial"/>
                <a:ea typeface="Arial"/>
                <a:cs typeface="Arial"/>
              </a:rPr>
              <a:t>Live Demo 1 · Gateway → /</a:t>
            </a:r>
            <a:r>
              <a:rPr lang="de-AT" sz="1575" b="1" noProof="0" dirty="0" err="1">
                <a:solidFill>
                  <a:srgbClr val="5D6872"/>
                </a:solidFill>
                <a:latin typeface="Arial"/>
                <a:ea typeface="Arial"/>
                <a:cs typeface="Arial"/>
              </a:rPr>
              <a:t>users</a:t>
            </a:r>
            <a:endParaRPr lang="de-AT" sz="1575" b="1" noProof="0" dirty="0">
              <a:solidFill>
                <a:srgbClr val="5D6872"/>
              </a:solidFill>
              <a:latin typeface="Arial"/>
              <a:ea typeface="Arial"/>
              <a:cs typeface="Arial"/>
            </a:endParaRPr>
          </a:p>
        </p:txBody>
      </p:sp>
      <p:sp>
        <p:nvSpPr>
          <p:cNvPr id="13" name="Rechteck 12">
            <a:extLst>
              <a:ext uri="{FF2B5EF4-FFF2-40B4-BE49-F238E27FC236}">
                <a16:creationId xmlns:a16="http://schemas.microsoft.com/office/drawing/2014/main" id="{CA18F2C3-2C7B-4C32-A18A-C77B47425579}"/>
              </a:ext>
            </a:extLst>
          </p:cNvPr>
          <p:cNvSpPr>
            <a:spLocks noGrp="1"/>
          </p:cNvSpPr>
          <p:nvPr/>
        </p:nvSpPr>
        <p:spPr>
          <a:xfrm>
            <a:off x="742950" y="5762625"/>
            <a:ext cx="9715500" cy="295275"/>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Spring Cloud Gateway 4.2.0 · CVE-2025-41243</a:t>
            </a:r>
          </a:p>
        </p:txBody>
      </p:sp>
    </p:spTree>
    <p:extLst>
      <p:ext uri="{BB962C8B-B14F-4D97-AF65-F5344CB8AC3E}">
        <p14:creationId xmlns:p14="http://schemas.microsoft.com/office/powerpoint/2010/main" val="1137255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4370001B-D0A3-46CF-ADA1-2A9584077551}"/>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7B2DB807-0501-447C-9D4F-F0E3F7110BFE}"/>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Warum erscheinen Password Hashes?</a:t>
            </a:r>
          </a:p>
        </p:txBody>
      </p:sp>
      <p:sp>
        <p:nvSpPr>
          <p:cNvPr id="3" name="Rechteck 2">
            <a:extLst>
              <a:ext uri="{FF2B5EF4-FFF2-40B4-BE49-F238E27FC236}">
                <a16:creationId xmlns:a16="http://schemas.microsoft.com/office/drawing/2014/main" id="{010C7302-F9F4-42F1-BB5C-46916607BC0D}"/>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34042833-50EE-4231-AD4E-7D2EEB190B0F}"/>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D2F0788A-ADB9-48FB-978D-0213D85492D0}"/>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12</a:t>
            </a:r>
          </a:p>
        </p:txBody>
      </p:sp>
      <p:sp>
        <p:nvSpPr>
          <p:cNvPr id="6" name="Rechteck 5">
            <a:extLst>
              <a:ext uri="{FF2B5EF4-FFF2-40B4-BE49-F238E27FC236}">
                <a16:creationId xmlns:a16="http://schemas.microsoft.com/office/drawing/2014/main" id="{2CE052EC-B6BB-4CAE-BC9D-C3EEEF367519}"/>
              </a:ext>
            </a:extLst>
          </p:cNvPr>
          <p:cNvSpPr>
            <a:spLocks noGrp="1"/>
          </p:cNvSpPr>
          <p:nvPr/>
        </p:nvSpPr>
        <p:spPr>
          <a:xfrm>
            <a:off x="733425" y="1457325"/>
            <a:ext cx="4286250" cy="257175"/>
          </a:xfrm>
          <a:prstGeom prst="rect">
            <a:avLst/>
          </a:prstGeom>
          <a:noFill/>
          <a:ln w="0">
            <a:noFill/>
            <a:prstDash val="solid"/>
          </a:ln>
        </p:spPr>
        <p:txBody>
          <a:bodyPr wrap="square" lIns="0" tIns="0" rIns="0" bIns="0" anchor="ctr">
            <a:normAutofit/>
          </a:bodyPr>
          <a:lstStyle>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a:pPr algn="l">
              <a:defRPr sz="1125" b="1">
                <a:solidFill>
                  <a:srgbClr val="C55A2B"/>
                </a:solidFill>
                <a:latin typeface="Arial"/>
                <a:ea typeface="Arial"/>
                <a:cs typeface="Arial"/>
              </a:defRPr>
            </a:pPr>
            <a:r>
              <a:rPr lang="de-AT" sz="1125" b="1" noProof="0" dirty="0">
                <a:solidFill>
                  <a:srgbClr val="C55A2B"/>
                </a:solidFill>
                <a:latin typeface="Arial"/>
                <a:ea typeface="Arial"/>
                <a:cs typeface="Arial"/>
              </a:rPr>
              <a:t>VORHER</a:t>
            </a:r>
          </a:p>
        </p:txBody>
      </p:sp>
      <p:sp>
        <p:nvSpPr>
          <p:cNvPr id="7" name="Rechteck 6">
            <a:extLst>
              <a:ext uri="{FF2B5EF4-FFF2-40B4-BE49-F238E27FC236}">
                <a16:creationId xmlns:a16="http://schemas.microsoft.com/office/drawing/2014/main" id="{248B8D89-B6B8-46BD-816D-9EB3DFAAFB6C}"/>
              </a:ext>
            </a:extLst>
          </p:cNvPr>
          <p:cNvSpPr>
            <a:spLocks noGrp="1"/>
          </p:cNvSpPr>
          <p:nvPr/>
        </p:nvSpPr>
        <p:spPr>
          <a:xfrm>
            <a:off x="6448425" y="1457325"/>
            <a:ext cx="4191000" cy="257175"/>
          </a:xfrm>
          <a:prstGeom prst="rect">
            <a:avLst/>
          </a:prstGeom>
          <a:noFill/>
          <a:ln w="0">
            <a:noFill/>
            <a:prstDash val="solid"/>
          </a:ln>
        </p:spPr>
        <p:txBody>
          <a:bodyPr wrap="square" lIns="0" tIns="0" rIns="0" bIns="0" anchor="ctr">
            <a:normAutofit/>
          </a:bodyPr>
          <a:lstStyle>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a:pPr algn="l">
              <a:defRPr sz="1125" b="1">
                <a:solidFill>
                  <a:srgbClr val="C55A2B"/>
                </a:solidFill>
                <a:latin typeface="Arial"/>
                <a:ea typeface="Arial"/>
                <a:cs typeface="Arial"/>
              </a:defRPr>
            </a:pPr>
            <a:r>
              <a:rPr lang="de-AT" sz="1125" b="1" noProof="0" dirty="0">
                <a:solidFill>
                  <a:srgbClr val="C55A2B"/>
                </a:solidFill>
                <a:latin typeface="Arial"/>
                <a:ea typeface="Arial"/>
                <a:cs typeface="Arial"/>
              </a:rPr>
              <a:t>NACHHER</a:t>
            </a:r>
          </a:p>
        </p:txBody>
      </p:sp>
      <p:sp>
        <p:nvSpPr>
          <p:cNvPr id="8" name="Rechteck 7">
            <a:extLst>
              <a:ext uri="{FF2B5EF4-FFF2-40B4-BE49-F238E27FC236}">
                <a16:creationId xmlns:a16="http://schemas.microsoft.com/office/drawing/2014/main" id="{B9EA0135-CEDA-484B-BD2B-B36800F778DC}"/>
              </a:ext>
            </a:extLst>
          </p:cNvPr>
          <p:cNvSpPr>
            <a:spLocks noGrp="1"/>
          </p:cNvSpPr>
          <p:nvPr/>
        </p:nvSpPr>
        <p:spPr>
          <a:xfrm>
            <a:off x="723900" y="1847850"/>
            <a:ext cx="4838700" cy="2847975"/>
          </a:xfrm>
          <a:prstGeom prst="rect">
            <a:avLst/>
          </a:prstGeom>
          <a:solidFill>
            <a:srgbClr val="FFFFFF"/>
          </a:solidFill>
          <a:ln w="9525">
            <a:solidFill>
              <a:srgbClr val="D6D4CD"/>
            </a:solidFill>
            <a:prstDash val="solid"/>
          </a:ln>
        </p:spPr>
        <p:txBody>
          <a:bodyPr/>
          <a:lstStyle/>
          <a:p>
            <a:endParaRPr lang="de-AT" noProof="0" dirty="0"/>
          </a:p>
        </p:txBody>
      </p:sp>
      <p:sp>
        <p:nvSpPr>
          <p:cNvPr id="9" name="Rechteck 8">
            <a:extLst>
              <a:ext uri="{FF2B5EF4-FFF2-40B4-BE49-F238E27FC236}">
                <a16:creationId xmlns:a16="http://schemas.microsoft.com/office/drawing/2014/main" id="{84D3E4D7-49DD-4AAE-8193-2D87A6FFAD87}"/>
              </a:ext>
            </a:extLst>
          </p:cNvPr>
          <p:cNvSpPr>
            <a:spLocks noGrp="1"/>
          </p:cNvSpPr>
          <p:nvPr/>
        </p:nvSpPr>
        <p:spPr>
          <a:xfrm>
            <a:off x="6438900" y="1847850"/>
            <a:ext cx="4838700" cy="2847975"/>
          </a:xfrm>
          <a:prstGeom prst="rect">
            <a:avLst/>
          </a:prstGeom>
          <a:solidFill>
            <a:srgbClr val="FFFFFF"/>
          </a:solidFill>
          <a:ln w="19050">
            <a:solidFill>
              <a:srgbClr val="C55A2B"/>
            </a:solidFill>
            <a:prstDash val="solid"/>
          </a:ln>
        </p:spPr>
        <p:txBody>
          <a:bodyPr/>
          <a:lstStyle/>
          <a:p>
            <a:endParaRPr lang="de-AT" noProof="0" dirty="0"/>
          </a:p>
        </p:txBody>
      </p:sp>
      <p:sp>
        <p:nvSpPr>
          <p:cNvPr id="10" name="Rechteck 9">
            <a:extLst>
              <a:ext uri="{FF2B5EF4-FFF2-40B4-BE49-F238E27FC236}">
                <a16:creationId xmlns:a16="http://schemas.microsoft.com/office/drawing/2014/main" id="{17B11F1A-A0F5-4C89-912B-2FEBF7119D3C}"/>
              </a:ext>
            </a:extLst>
          </p:cNvPr>
          <p:cNvSpPr>
            <a:spLocks noGrp="1"/>
          </p:cNvSpPr>
          <p:nvPr/>
        </p:nvSpPr>
        <p:spPr>
          <a:xfrm>
            <a:off x="990600" y="2076450"/>
            <a:ext cx="4191000" cy="457200"/>
          </a:xfrm>
          <a:prstGeom prst="rect">
            <a:avLst/>
          </a:prstGeom>
          <a:noFill/>
          <a:ln w="0">
            <a:noFill/>
            <a:prstDash val="solid"/>
          </a:ln>
        </p:spPr>
        <p:txBody>
          <a:bodyPr wrap="square" lIns="0" tIns="0" rIns="0" bIns="0" anchor="ctr">
            <a:normAutofit/>
          </a:bodyPr>
          <a:lstStyle>
            <a:defPPr algn="l">
              <a:defRPr sz="1950" b="1">
                <a:solidFill>
                  <a:srgbClr val="202935"/>
                </a:solidFill>
                <a:latin typeface="Arial"/>
                <a:ea typeface="Arial"/>
                <a:cs typeface="Arial"/>
              </a:defRPr>
            </a:defPPr>
            <a:lvl1pPr algn="l">
              <a:defRPr sz="1950" b="1">
                <a:solidFill>
                  <a:srgbClr val="202935"/>
                </a:solidFill>
                <a:latin typeface="Arial"/>
                <a:ea typeface="Arial"/>
                <a:cs typeface="Arial"/>
              </a:defRPr>
            </a:lvl1pPr>
            <a:lvl2pPr algn="l">
              <a:defRPr sz="1950" b="1">
                <a:solidFill>
                  <a:srgbClr val="202935"/>
                </a:solidFill>
                <a:latin typeface="Arial"/>
                <a:ea typeface="Arial"/>
                <a:cs typeface="Arial"/>
              </a:defRPr>
            </a:lvl2pPr>
            <a:lvl3pPr algn="l">
              <a:defRPr sz="1950" b="1">
                <a:solidFill>
                  <a:srgbClr val="202935"/>
                </a:solidFill>
                <a:latin typeface="Arial"/>
                <a:ea typeface="Arial"/>
                <a:cs typeface="Arial"/>
              </a:defRPr>
            </a:lvl3pPr>
            <a:lvl4pPr algn="l">
              <a:defRPr sz="1950" b="1">
                <a:solidFill>
                  <a:srgbClr val="202935"/>
                </a:solidFill>
                <a:latin typeface="Arial"/>
                <a:ea typeface="Arial"/>
                <a:cs typeface="Arial"/>
              </a:defRPr>
            </a:lvl4pPr>
            <a:lvl5pPr algn="l">
              <a:defRPr sz="1950" b="1">
                <a:solidFill>
                  <a:srgbClr val="202935"/>
                </a:solidFill>
                <a:latin typeface="Arial"/>
                <a:ea typeface="Arial"/>
                <a:cs typeface="Arial"/>
              </a:defRPr>
            </a:lvl5pPr>
            <a:lvl6pPr algn="l">
              <a:defRPr sz="1950" b="1">
                <a:solidFill>
                  <a:srgbClr val="202935"/>
                </a:solidFill>
                <a:latin typeface="Arial"/>
                <a:ea typeface="Arial"/>
                <a:cs typeface="Arial"/>
              </a:defRPr>
            </a:lvl6pPr>
            <a:lvl7pPr algn="l">
              <a:defRPr sz="1950" b="1">
                <a:solidFill>
                  <a:srgbClr val="202935"/>
                </a:solidFill>
                <a:latin typeface="Arial"/>
                <a:ea typeface="Arial"/>
                <a:cs typeface="Arial"/>
              </a:defRPr>
            </a:lvl7pPr>
            <a:lvl8pPr algn="l">
              <a:defRPr sz="1950" b="1">
                <a:solidFill>
                  <a:srgbClr val="202935"/>
                </a:solidFill>
                <a:latin typeface="Arial"/>
                <a:ea typeface="Arial"/>
                <a:cs typeface="Arial"/>
              </a:defRPr>
            </a:lvl8pPr>
            <a:lvl9pPr algn="l">
              <a:defRPr sz="1950" b="1">
                <a:solidFill>
                  <a:srgbClr val="202935"/>
                </a:solidFill>
                <a:latin typeface="Arial"/>
                <a:ea typeface="Arial"/>
                <a:cs typeface="Arial"/>
              </a:defRPr>
            </a:lvl9pPr>
          </a:lstStyle>
          <a:p>
            <a:pPr algn="l">
              <a:defRPr sz="1950" b="1">
                <a:solidFill>
                  <a:srgbClr val="202935"/>
                </a:solidFill>
                <a:latin typeface="Arial"/>
                <a:ea typeface="Arial"/>
                <a:cs typeface="Arial"/>
              </a:defRPr>
            </a:pPr>
            <a:r>
              <a:rPr lang="de-AT" sz="1950" b="1" noProof="0" dirty="0">
                <a:solidFill>
                  <a:srgbClr val="202935"/>
                </a:solidFill>
                <a:latin typeface="Arial"/>
                <a:ea typeface="Arial"/>
                <a:cs typeface="Arial"/>
              </a:rPr>
              <a:t>GET /</a:t>
            </a:r>
            <a:r>
              <a:rPr lang="de-AT" sz="1950" b="1" noProof="0" dirty="0" err="1">
                <a:solidFill>
                  <a:srgbClr val="202935"/>
                </a:solidFill>
                <a:latin typeface="Arial"/>
                <a:ea typeface="Arial"/>
                <a:cs typeface="Arial"/>
              </a:rPr>
              <a:t>users</a:t>
            </a:r>
            <a:endParaRPr lang="de-AT" sz="1950" b="1" noProof="0" dirty="0">
              <a:solidFill>
                <a:srgbClr val="202935"/>
              </a:solidFill>
              <a:latin typeface="Arial"/>
              <a:ea typeface="Arial"/>
              <a:cs typeface="Arial"/>
            </a:endParaRPr>
          </a:p>
        </p:txBody>
      </p:sp>
      <p:sp>
        <p:nvSpPr>
          <p:cNvPr id="11" name="Rechteck 10">
            <a:extLst>
              <a:ext uri="{FF2B5EF4-FFF2-40B4-BE49-F238E27FC236}">
                <a16:creationId xmlns:a16="http://schemas.microsoft.com/office/drawing/2014/main" id="{942FF254-F404-4E4B-8454-3FB116361BB9}"/>
              </a:ext>
            </a:extLst>
          </p:cNvPr>
          <p:cNvSpPr>
            <a:spLocks noGrp="1"/>
          </p:cNvSpPr>
          <p:nvPr/>
        </p:nvSpPr>
        <p:spPr>
          <a:xfrm>
            <a:off x="6715125" y="2076450"/>
            <a:ext cx="4191000" cy="457200"/>
          </a:xfrm>
          <a:prstGeom prst="rect">
            <a:avLst/>
          </a:prstGeom>
          <a:noFill/>
          <a:ln w="0">
            <a:noFill/>
            <a:prstDash val="solid"/>
          </a:ln>
        </p:spPr>
        <p:txBody>
          <a:bodyPr wrap="square" lIns="0" tIns="0" rIns="0" bIns="0" anchor="ctr">
            <a:normAutofit/>
          </a:bodyPr>
          <a:lstStyle>
            <a:defPPr algn="l">
              <a:defRPr sz="1950" b="1">
                <a:solidFill>
                  <a:srgbClr val="202935"/>
                </a:solidFill>
                <a:latin typeface="Arial"/>
                <a:ea typeface="Arial"/>
                <a:cs typeface="Arial"/>
              </a:defRPr>
            </a:defPPr>
            <a:lvl1pPr algn="l">
              <a:defRPr sz="1950" b="1">
                <a:solidFill>
                  <a:srgbClr val="202935"/>
                </a:solidFill>
                <a:latin typeface="Arial"/>
                <a:ea typeface="Arial"/>
                <a:cs typeface="Arial"/>
              </a:defRPr>
            </a:lvl1pPr>
            <a:lvl2pPr algn="l">
              <a:defRPr sz="1950" b="1">
                <a:solidFill>
                  <a:srgbClr val="202935"/>
                </a:solidFill>
                <a:latin typeface="Arial"/>
                <a:ea typeface="Arial"/>
                <a:cs typeface="Arial"/>
              </a:defRPr>
            </a:lvl2pPr>
            <a:lvl3pPr algn="l">
              <a:defRPr sz="1950" b="1">
                <a:solidFill>
                  <a:srgbClr val="202935"/>
                </a:solidFill>
                <a:latin typeface="Arial"/>
                <a:ea typeface="Arial"/>
                <a:cs typeface="Arial"/>
              </a:defRPr>
            </a:lvl3pPr>
            <a:lvl4pPr algn="l">
              <a:defRPr sz="1950" b="1">
                <a:solidFill>
                  <a:srgbClr val="202935"/>
                </a:solidFill>
                <a:latin typeface="Arial"/>
                <a:ea typeface="Arial"/>
                <a:cs typeface="Arial"/>
              </a:defRPr>
            </a:lvl4pPr>
            <a:lvl5pPr algn="l">
              <a:defRPr sz="1950" b="1">
                <a:solidFill>
                  <a:srgbClr val="202935"/>
                </a:solidFill>
                <a:latin typeface="Arial"/>
                <a:ea typeface="Arial"/>
                <a:cs typeface="Arial"/>
              </a:defRPr>
            </a:lvl5pPr>
            <a:lvl6pPr algn="l">
              <a:defRPr sz="1950" b="1">
                <a:solidFill>
                  <a:srgbClr val="202935"/>
                </a:solidFill>
                <a:latin typeface="Arial"/>
                <a:ea typeface="Arial"/>
                <a:cs typeface="Arial"/>
              </a:defRPr>
            </a:lvl6pPr>
            <a:lvl7pPr algn="l">
              <a:defRPr sz="1950" b="1">
                <a:solidFill>
                  <a:srgbClr val="202935"/>
                </a:solidFill>
                <a:latin typeface="Arial"/>
                <a:ea typeface="Arial"/>
                <a:cs typeface="Arial"/>
              </a:defRPr>
            </a:lvl7pPr>
            <a:lvl8pPr algn="l">
              <a:defRPr sz="1950" b="1">
                <a:solidFill>
                  <a:srgbClr val="202935"/>
                </a:solidFill>
                <a:latin typeface="Arial"/>
                <a:ea typeface="Arial"/>
                <a:cs typeface="Arial"/>
              </a:defRPr>
            </a:lvl8pPr>
            <a:lvl9pPr algn="l">
              <a:defRPr sz="1950" b="1">
                <a:solidFill>
                  <a:srgbClr val="202935"/>
                </a:solidFill>
                <a:latin typeface="Arial"/>
                <a:ea typeface="Arial"/>
                <a:cs typeface="Arial"/>
              </a:defRPr>
            </a:lvl9pPr>
          </a:lstStyle>
          <a:p>
            <a:pPr algn="l">
              <a:defRPr sz="1950" b="1">
                <a:solidFill>
                  <a:srgbClr val="202935"/>
                </a:solidFill>
                <a:latin typeface="Arial"/>
                <a:ea typeface="Arial"/>
                <a:cs typeface="Arial"/>
              </a:defRPr>
            </a:pPr>
            <a:r>
              <a:rPr lang="de-AT" sz="1950" b="1" noProof="0" dirty="0">
                <a:solidFill>
                  <a:srgbClr val="202935"/>
                </a:solidFill>
                <a:latin typeface="Arial"/>
                <a:ea typeface="Arial"/>
                <a:cs typeface="Arial"/>
              </a:rPr>
              <a:t>GET /</a:t>
            </a:r>
            <a:r>
              <a:rPr lang="de-AT" sz="1950" b="1" noProof="0" dirty="0" err="1">
                <a:solidFill>
                  <a:srgbClr val="202935"/>
                </a:solidFill>
                <a:latin typeface="Arial"/>
                <a:ea typeface="Arial"/>
                <a:cs typeface="Arial"/>
              </a:rPr>
              <a:t>users</a:t>
            </a:r>
            <a:endParaRPr lang="de-AT" sz="1950" b="1" noProof="0" dirty="0">
              <a:solidFill>
                <a:srgbClr val="202935"/>
              </a:solidFill>
              <a:latin typeface="Arial"/>
              <a:ea typeface="Arial"/>
              <a:cs typeface="Arial"/>
            </a:endParaRPr>
          </a:p>
        </p:txBody>
      </p:sp>
      <p:sp>
        <p:nvSpPr>
          <p:cNvPr id="12" name="Rechteck 11">
            <a:extLst>
              <a:ext uri="{FF2B5EF4-FFF2-40B4-BE49-F238E27FC236}">
                <a16:creationId xmlns:a16="http://schemas.microsoft.com/office/drawing/2014/main" id="{7A7BD9FB-F399-4CFF-BE87-7CB3D573D25B}"/>
              </a:ext>
            </a:extLst>
          </p:cNvPr>
          <p:cNvSpPr>
            <a:spLocks noGrp="1"/>
          </p:cNvSpPr>
          <p:nvPr/>
        </p:nvSpPr>
        <p:spPr>
          <a:xfrm>
            <a:off x="990600" y="2847975"/>
            <a:ext cx="4143375" cy="1066800"/>
          </a:xfrm>
          <a:prstGeom prst="rect">
            <a:avLst/>
          </a:prstGeom>
          <a:noFill/>
          <a:ln w="0">
            <a:noFill/>
            <a:prstDash val="solid"/>
          </a:ln>
        </p:spPr>
        <p:txBody>
          <a:bodyPr wrap="square" lIns="0" tIns="0" rIns="0" bIns="0" anchor="ctr">
            <a:normAutofit/>
          </a:bodyPr>
          <a:lstStyle>
            <a:defPPr algn="l">
              <a:defRPr sz="1875" b="0">
                <a:solidFill>
                  <a:srgbClr val="5D6872"/>
                </a:solidFill>
                <a:latin typeface="Arial"/>
                <a:ea typeface="Arial"/>
                <a:cs typeface="Arial"/>
              </a:defRPr>
            </a:defPPr>
            <a:lvl1pPr algn="l">
              <a:defRPr sz="1875" b="0">
                <a:solidFill>
                  <a:srgbClr val="5D6872"/>
                </a:solidFill>
                <a:latin typeface="Arial"/>
                <a:ea typeface="Arial"/>
                <a:cs typeface="Arial"/>
              </a:defRPr>
            </a:lvl1pPr>
            <a:lvl2pPr algn="l">
              <a:defRPr sz="1875" b="0">
                <a:solidFill>
                  <a:srgbClr val="5D6872"/>
                </a:solidFill>
                <a:latin typeface="Arial"/>
                <a:ea typeface="Arial"/>
                <a:cs typeface="Arial"/>
              </a:defRPr>
            </a:lvl2pPr>
            <a:lvl3pPr algn="l">
              <a:defRPr sz="1875" b="0">
                <a:solidFill>
                  <a:srgbClr val="5D6872"/>
                </a:solidFill>
                <a:latin typeface="Arial"/>
                <a:ea typeface="Arial"/>
                <a:cs typeface="Arial"/>
              </a:defRPr>
            </a:lvl3pPr>
            <a:lvl4pPr algn="l">
              <a:defRPr sz="1875" b="0">
                <a:solidFill>
                  <a:srgbClr val="5D6872"/>
                </a:solidFill>
                <a:latin typeface="Arial"/>
                <a:ea typeface="Arial"/>
                <a:cs typeface="Arial"/>
              </a:defRPr>
            </a:lvl4pPr>
            <a:lvl5pPr algn="l">
              <a:defRPr sz="1875" b="0">
                <a:solidFill>
                  <a:srgbClr val="5D6872"/>
                </a:solidFill>
                <a:latin typeface="Arial"/>
                <a:ea typeface="Arial"/>
                <a:cs typeface="Arial"/>
              </a:defRPr>
            </a:lvl5pPr>
            <a:lvl6pPr algn="l">
              <a:defRPr sz="1875" b="0">
                <a:solidFill>
                  <a:srgbClr val="5D6872"/>
                </a:solidFill>
                <a:latin typeface="Arial"/>
                <a:ea typeface="Arial"/>
                <a:cs typeface="Arial"/>
              </a:defRPr>
            </a:lvl6pPr>
            <a:lvl7pPr algn="l">
              <a:defRPr sz="1875" b="0">
                <a:solidFill>
                  <a:srgbClr val="5D6872"/>
                </a:solidFill>
                <a:latin typeface="Arial"/>
                <a:ea typeface="Arial"/>
                <a:cs typeface="Arial"/>
              </a:defRPr>
            </a:lvl7pPr>
            <a:lvl8pPr algn="l">
              <a:defRPr sz="1875" b="0">
                <a:solidFill>
                  <a:srgbClr val="5D6872"/>
                </a:solidFill>
                <a:latin typeface="Arial"/>
                <a:ea typeface="Arial"/>
                <a:cs typeface="Arial"/>
              </a:defRPr>
            </a:lvl8pPr>
            <a:lvl9pPr algn="l">
              <a:defRPr sz="1875" b="0">
                <a:solidFill>
                  <a:srgbClr val="5D6872"/>
                </a:solidFill>
                <a:latin typeface="Arial"/>
                <a:ea typeface="Arial"/>
                <a:cs typeface="Arial"/>
              </a:defRPr>
            </a:lvl9pPr>
          </a:lstStyle>
          <a:p>
            <a:pPr algn="l">
              <a:defRPr sz="1875" b="0">
                <a:solidFill>
                  <a:srgbClr val="5D6872"/>
                </a:solidFill>
                <a:latin typeface="Arial"/>
                <a:ea typeface="Arial"/>
                <a:cs typeface="Arial"/>
              </a:defRPr>
            </a:pPr>
            <a:r>
              <a:rPr lang="de-AT" sz="1875" b="0" noProof="0" dirty="0" err="1">
                <a:solidFill>
                  <a:srgbClr val="5D6872"/>
                </a:solidFill>
                <a:latin typeface="Arial"/>
                <a:ea typeface="Arial"/>
                <a:cs typeface="Arial"/>
              </a:rPr>
              <a:t>mode</a:t>
            </a:r>
            <a:r>
              <a:rPr lang="de-AT" sz="1875" b="0" noProof="0" dirty="0">
                <a:solidFill>
                  <a:srgbClr val="5D6872"/>
                </a:solidFill>
                <a:latin typeface="Arial"/>
                <a:ea typeface="Arial"/>
                <a:cs typeface="Arial"/>
              </a:rPr>
              <a:t>: </a:t>
            </a:r>
            <a:r>
              <a:rPr lang="de-AT" sz="1875" b="0" noProof="0" dirty="0" err="1">
                <a:solidFill>
                  <a:srgbClr val="5D6872"/>
                </a:solidFill>
                <a:latin typeface="Arial"/>
                <a:ea typeface="Arial"/>
                <a:cs typeface="Arial"/>
              </a:rPr>
              <a:t>public</a:t>
            </a:r>
            <a:endParaRPr lang="de-AT" sz="1875" b="0" noProof="0" dirty="0">
              <a:solidFill>
                <a:srgbClr val="5D6872"/>
              </a:solidFill>
              <a:latin typeface="Arial"/>
              <a:ea typeface="Arial"/>
              <a:cs typeface="Arial"/>
            </a:endParaRPr>
          </a:p>
          <a:p>
            <a:pPr algn="l">
              <a:defRPr sz="1875" b="0">
                <a:solidFill>
                  <a:srgbClr val="5D6872"/>
                </a:solidFill>
                <a:latin typeface="Arial"/>
                <a:ea typeface="Arial"/>
                <a:cs typeface="Arial"/>
              </a:defRPr>
            </a:pPr>
            <a:r>
              <a:rPr lang="de-AT" sz="1875" b="0" noProof="0" dirty="0" err="1">
                <a:solidFill>
                  <a:srgbClr val="5D6872"/>
                </a:solidFill>
                <a:latin typeface="Arial"/>
                <a:ea typeface="Arial"/>
                <a:cs typeface="Arial"/>
              </a:rPr>
              <a:t>username</a:t>
            </a:r>
            <a:r>
              <a:rPr lang="de-AT" sz="1875" b="0" noProof="0" dirty="0">
                <a:solidFill>
                  <a:srgbClr val="5D6872"/>
                </a:solidFill>
                <a:latin typeface="Arial"/>
                <a:ea typeface="Arial"/>
                <a:cs typeface="Arial"/>
              </a:rPr>
              <a:t> · </a:t>
            </a:r>
            <a:r>
              <a:rPr lang="de-AT" sz="1875" b="0" noProof="0" dirty="0" err="1">
                <a:solidFill>
                  <a:srgbClr val="5D6872"/>
                </a:solidFill>
                <a:latin typeface="Arial"/>
                <a:ea typeface="Arial"/>
                <a:cs typeface="Arial"/>
              </a:rPr>
              <a:t>role</a:t>
            </a:r>
            <a:r>
              <a:rPr lang="de-AT" sz="1875" b="0" noProof="0" dirty="0">
                <a:solidFill>
                  <a:srgbClr val="5D6872"/>
                </a:solidFill>
                <a:latin typeface="Arial"/>
                <a:ea typeface="Arial"/>
                <a:cs typeface="Arial"/>
              </a:rPr>
              <a:t> · </a:t>
            </a:r>
            <a:r>
              <a:rPr lang="de-AT" sz="1875" b="0" noProof="0" dirty="0" err="1">
                <a:solidFill>
                  <a:srgbClr val="5D6872"/>
                </a:solidFill>
                <a:latin typeface="Arial"/>
                <a:ea typeface="Arial"/>
                <a:cs typeface="Arial"/>
              </a:rPr>
              <a:t>department</a:t>
            </a:r>
            <a:endParaRPr lang="de-AT" sz="1875" b="0" noProof="0" dirty="0">
              <a:solidFill>
                <a:srgbClr val="5D6872"/>
              </a:solidFill>
              <a:latin typeface="Arial"/>
              <a:ea typeface="Arial"/>
              <a:cs typeface="Arial"/>
            </a:endParaRPr>
          </a:p>
        </p:txBody>
      </p:sp>
      <p:sp>
        <p:nvSpPr>
          <p:cNvPr id="13" name="Rechteck 12">
            <a:extLst>
              <a:ext uri="{FF2B5EF4-FFF2-40B4-BE49-F238E27FC236}">
                <a16:creationId xmlns:a16="http://schemas.microsoft.com/office/drawing/2014/main" id="{1B4B8D2E-9F9F-4CA6-B6EB-D55DA3CDECA5}"/>
              </a:ext>
            </a:extLst>
          </p:cNvPr>
          <p:cNvSpPr>
            <a:spLocks noGrp="1"/>
          </p:cNvSpPr>
          <p:nvPr/>
        </p:nvSpPr>
        <p:spPr>
          <a:xfrm>
            <a:off x="6715125" y="2847975"/>
            <a:ext cx="4143375" cy="1066800"/>
          </a:xfrm>
          <a:prstGeom prst="rect">
            <a:avLst/>
          </a:prstGeom>
          <a:noFill/>
          <a:ln w="0">
            <a:noFill/>
            <a:prstDash val="solid"/>
          </a:ln>
        </p:spPr>
        <p:txBody>
          <a:bodyPr wrap="square" lIns="0" tIns="0" rIns="0" bIns="0" anchor="ctr">
            <a:normAutofit/>
          </a:bodyPr>
          <a:lstStyle>
            <a:defPPr algn="l">
              <a:defRPr sz="1875" b="1">
                <a:solidFill>
                  <a:srgbClr val="C55A2B"/>
                </a:solidFill>
                <a:latin typeface="Arial"/>
                <a:ea typeface="Arial"/>
                <a:cs typeface="Arial"/>
              </a:defRPr>
            </a:defPPr>
            <a:lvl1pPr algn="l">
              <a:defRPr sz="1875" b="1">
                <a:solidFill>
                  <a:srgbClr val="C55A2B"/>
                </a:solidFill>
                <a:latin typeface="Arial"/>
                <a:ea typeface="Arial"/>
                <a:cs typeface="Arial"/>
              </a:defRPr>
            </a:lvl1pPr>
            <a:lvl2pPr algn="l">
              <a:defRPr sz="1875" b="1">
                <a:solidFill>
                  <a:srgbClr val="C55A2B"/>
                </a:solidFill>
                <a:latin typeface="Arial"/>
                <a:ea typeface="Arial"/>
                <a:cs typeface="Arial"/>
              </a:defRPr>
            </a:lvl2pPr>
            <a:lvl3pPr algn="l">
              <a:defRPr sz="1875" b="1">
                <a:solidFill>
                  <a:srgbClr val="C55A2B"/>
                </a:solidFill>
                <a:latin typeface="Arial"/>
                <a:ea typeface="Arial"/>
                <a:cs typeface="Arial"/>
              </a:defRPr>
            </a:lvl3pPr>
            <a:lvl4pPr algn="l">
              <a:defRPr sz="1875" b="1">
                <a:solidFill>
                  <a:srgbClr val="C55A2B"/>
                </a:solidFill>
                <a:latin typeface="Arial"/>
                <a:ea typeface="Arial"/>
                <a:cs typeface="Arial"/>
              </a:defRPr>
            </a:lvl4pPr>
            <a:lvl5pPr algn="l">
              <a:defRPr sz="1875" b="1">
                <a:solidFill>
                  <a:srgbClr val="C55A2B"/>
                </a:solidFill>
                <a:latin typeface="Arial"/>
                <a:ea typeface="Arial"/>
                <a:cs typeface="Arial"/>
              </a:defRPr>
            </a:lvl5pPr>
            <a:lvl6pPr algn="l">
              <a:defRPr sz="1875" b="1">
                <a:solidFill>
                  <a:srgbClr val="C55A2B"/>
                </a:solidFill>
                <a:latin typeface="Arial"/>
                <a:ea typeface="Arial"/>
                <a:cs typeface="Arial"/>
              </a:defRPr>
            </a:lvl6pPr>
            <a:lvl7pPr algn="l">
              <a:defRPr sz="1875" b="1">
                <a:solidFill>
                  <a:srgbClr val="C55A2B"/>
                </a:solidFill>
                <a:latin typeface="Arial"/>
                <a:ea typeface="Arial"/>
                <a:cs typeface="Arial"/>
              </a:defRPr>
            </a:lvl7pPr>
            <a:lvl8pPr algn="l">
              <a:defRPr sz="1875" b="1">
                <a:solidFill>
                  <a:srgbClr val="C55A2B"/>
                </a:solidFill>
                <a:latin typeface="Arial"/>
                <a:ea typeface="Arial"/>
                <a:cs typeface="Arial"/>
              </a:defRPr>
            </a:lvl8pPr>
            <a:lvl9pPr algn="l">
              <a:defRPr sz="1875" b="1">
                <a:solidFill>
                  <a:srgbClr val="C55A2B"/>
                </a:solidFill>
                <a:latin typeface="Arial"/>
                <a:ea typeface="Arial"/>
                <a:cs typeface="Arial"/>
              </a:defRPr>
            </a:lvl9pPr>
          </a:lstStyle>
          <a:p>
            <a:pPr algn="l">
              <a:defRPr sz="1875" b="1">
                <a:solidFill>
                  <a:srgbClr val="C55A2B"/>
                </a:solidFill>
                <a:latin typeface="Arial"/>
                <a:ea typeface="Arial"/>
                <a:cs typeface="Arial"/>
              </a:defRPr>
            </a:pPr>
            <a:r>
              <a:rPr lang="de-AT" sz="1875" b="1" noProof="0" dirty="0" err="1">
                <a:solidFill>
                  <a:srgbClr val="C55A2B"/>
                </a:solidFill>
                <a:latin typeface="Arial"/>
                <a:ea typeface="Arial"/>
                <a:cs typeface="Arial"/>
              </a:rPr>
              <a:t>mode</a:t>
            </a:r>
            <a:r>
              <a:rPr lang="de-AT" sz="1875" b="1" noProof="0" dirty="0">
                <a:solidFill>
                  <a:srgbClr val="C55A2B"/>
                </a:solidFill>
                <a:latin typeface="Arial"/>
                <a:ea typeface="Arial"/>
                <a:cs typeface="Arial"/>
              </a:rPr>
              <a:t>: </a:t>
            </a:r>
            <a:r>
              <a:rPr lang="de-AT" sz="1875" b="1" noProof="0" dirty="0" err="1">
                <a:solidFill>
                  <a:srgbClr val="C55A2B"/>
                </a:solidFill>
                <a:latin typeface="Arial"/>
                <a:ea typeface="Arial"/>
                <a:cs typeface="Arial"/>
              </a:rPr>
              <a:t>debug</a:t>
            </a:r>
            <a:r>
              <a:rPr lang="de-AT" sz="1875" b="1" noProof="0" dirty="0">
                <a:solidFill>
                  <a:srgbClr val="C55A2B"/>
                </a:solidFill>
                <a:latin typeface="Arial"/>
                <a:ea typeface="Arial"/>
                <a:cs typeface="Arial"/>
              </a:rPr>
              <a:t>-trace</a:t>
            </a:r>
          </a:p>
          <a:p>
            <a:pPr algn="l">
              <a:defRPr sz="1875" b="1">
                <a:solidFill>
                  <a:srgbClr val="C55A2B"/>
                </a:solidFill>
                <a:latin typeface="Arial"/>
                <a:ea typeface="Arial"/>
                <a:cs typeface="Arial"/>
              </a:defRPr>
            </a:pPr>
            <a:r>
              <a:rPr lang="de-AT" sz="1875" b="1" noProof="0" dirty="0">
                <a:solidFill>
                  <a:srgbClr val="C55A2B"/>
                </a:solidFill>
                <a:latin typeface="Arial"/>
                <a:ea typeface="Arial"/>
                <a:cs typeface="Arial"/>
              </a:rPr>
              <a:t>+ </a:t>
            </a:r>
            <a:r>
              <a:rPr lang="de-AT" sz="1875" b="1" noProof="0" dirty="0" err="1">
                <a:solidFill>
                  <a:srgbClr val="C55A2B"/>
                </a:solidFill>
                <a:latin typeface="Arial"/>
                <a:ea typeface="Arial"/>
                <a:cs typeface="Arial"/>
              </a:rPr>
              <a:t>passwordHash</a:t>
            </a:r>
            <a:endParaRPr lang="de-AT" sz="1875" b="1" noProof="0" dirty="0">
              <a:solidFill>
                <a:srgbClr val="C55A2B"/>
              </a:solidFill>
              <a:latin typeface="Arial"/>
              <a:ea typeface="Arial"/>
              <a:cs typeface="Arial"/>
            </a:endParaRPr>
          </a:p>
        </p:txBody>
      </p:sp>
      <p:sp>
        <p:nvSpPr>
          <p:cNvPr id="14" name="Rechteck 13">
            <a:extLst>
              <a:ext uri="{FF2B5EF4-FFF2-40B4-BE49-F238E27FC236}">
                <a16:creationId xmlns:a16="http://schemas.microsoft.com/office/drawing/2014/main" id="{0DB13BC2-B717-432F-B3DF-75BCBC10DB2E}"/>
              </a:ext>
            </a:extLst>
          </p:cNvPr>
          <p:cNvSpPr>
            <a:spLocks noGrp="1"/>
          </p:cNvSpPr>
          <p:nvPr/>
        </p:nvSpPr>
        <p:spPr>
          <a:xfrm>
            <a:off x="752475" y="5153025"/>
            <a:ext cx="10191750" cy="704850"/>
          </a:xfrm>
          <a:prstGeom prst="rect">
            <a:avLst/>
          </a:prstGeom>
          <a:noFill/>
          <a:ln w="0">
            <a:noFill/>
            <a:prstDash val="solid"/>
          </a:ln>
        </p:spPr>
        <p:txBody>
          <a:bodyPr wrap="square" lIns="0" tIns="0" rIns="0" bIns="0" anchor="ctr">
            <a:normAutofit/>
          </a:bodyPr>
          <a:lstStyle>
            <a:defPPr algn="l">
              <a:defRPr sz="2025" b="1">
                <a:solidFill>
                  <a:srgbClr val="202935"/>
                </a:solidFill>
                <a:latin typeface="Arial"/>
                <a:ea typeface="Arial"/>
                <a:cs typeface="Arial"/>
              </a:defRPr>
            </a:defPPr>
            <a:lvl1pPr algn="l">
              <a:defRPr sz="2025" b="1">
                <a:solidFill>
                  <a:srgbClr val="202935"/>
                </a:solidFill>
                <a:latin typeface="Arial"/>
                <a:ea typeface="Arial"/>
                <a:cs typeface="Arial"/>
              </a:defRPr>
            </a:lvl1pPr>
            <a:lvl2pPr algn="l">
              <a:defRPr sz="2025" b="1">
                <a:solidFill>
                  <a:srgbClr val="202935"/>
                </a:solidFill>
                <a:latin typeface="Arial"/>
                <a:ea typeface="Arial"/>
                <a:cs typeface="Arial"/>
              </a:defRPr>
            </a:lvl2pPr>
            <a:lvl3pPr algn="l">
              <a:defRPr sz="2025" b="1">
                <a:solidFill>
                  <a:srgbClr val="202935"/>
                </a:solidFill>
                <a:latin typeface="Arial"/>
                <a:ea typeface="Arial"/>
                <a:cs typeface="Arial"/>
              </a:defRPr>
            </a:lvl3pPr>
            <a:lvl4pPr algn="l">
              <a:defRPr sz="2025" b="1">
                <a:solidFill>
                  <a:srgbClr val="202935"/>
                </a:solidFill>
                <a:latin typeface="Arial"/>
                <a:ea typeface="Arial"/>
                <a:cs typeface="Arial"/>
              </a:defRPr>
            </a:lvl4pPr>
            <a:lvl5pPr algn="l">
              <a:defRPr sz="2025" b="1">
                <a:solidFill>
                  <a:srgbClr val="202935"/>
                </a:solidFill>
                <a:latin typeface="Arial"/>
                <a:ea typeface="Arial"/>
                <a:cs typeface="Arial"/>
              </a:defRPr>
            </a:lvl5pPr>
            <a:lvl6pPr algn="l">
              <a:defRPr sz="2025" b="1">
                <a:solidFill>
                  <a:srgbClr val="202935"/>
                </a:solidFill>
                <a:latin typeface="Arial"/>
                <a:ea typeface="Arial"/>
                <a:cs typeface="Arial"/>
              </a:defRPr>
            </a:lvl6pPr>
            <a:lvl7pPr algn="l">
              <a:defRPr sz="2025" b="1">
                <a:solidFill>
                  <a:srgbClr val="202935"/>
                </a:solidFill>
                <a:latin typeface="Arial"/>
                <a:ea typeface="Arial"/>
                <a:cs typeface="Arial"/>
              </a:defRPr>
            </a:lvl7pPr>
            <a:lvl8pPr algn="l">
              <a:defRPr sz="2025" b="1">
                <a:solidFill>
                  <a:srgbClr val="202935"/>
                </a:solidFill>
                <a:latin typeface="Arial"/>
                <a:ea typeface="Arial"/>
                <a:cs typeface="Arial"/>
              </a:defRPr>
            </a:lvl8pPr>
            <a:lvl9pPr algn="l">
              <a:defRPr sz="2025" b="1">
                <a:solidFill>
                  <a:srgbClr val="202935"/>
                </a:solidFill>
                <a:latin typeface="Arial"/>
                <a:ea typeface="Arial"/>
                <a:cs typeface="Arial"/>
              </a:defRPr>
            </a:lvl9pPr>
          </a:lstStyle>
          <a:p>
            <a:pPr algn="l">
              <a:defRPr sz="2025" b="1">
                <a:solidFill>
                  <a:srgbClr val="202935"/>
                </a:solidFill>
                <a:latin typeface="Arial"/>
                <a:ea typeface="Arial"/>
                <a:cs typeface="Arial"/>
              </a:defRPr>
            </a:pPr>
            <a:r>
              <a:rPr lang="de-AT" sz="2025" b="1" noProof="0" dirty="0">
                <a:solidFill>
                  <a:srgbClr val="202935"/>
                </a:solidFill>
                <a:latin typeface="Arial"/>
                <a:ea typeface="Arial"/>
                <a:cs typeface="Arial"/>
              </a:rPr>
              <a:t>Gateway setzt X-</a:t>
            </a:r>
            <a:r>
              <a:rPr lang="de-AT" sz="2025" b="1" noProof="0" dirty="0" err="1">
                <a:solidFill>
                  <a:srgbClr val="202935"/>
                </a:solidFill>
                <a:latin typeface="Arial"/>
                <a:ea typeface="Arial"/>
                <a:cs typeface="Arial"/>
              </a:rPr>
              <a:t>Debug</a:t>
            </a:r>
            <a:r>
              <a:rPr lang="de-AT" sz="2025" b="1" noProof="0" dirty="0">
                <a:solidFill>
                  <a:srgbClr val="202935"/>
                </a:solidFill>
                <a:latin typeface="Arial"/>
                <a:ea typeface="Arial"/>
                <a:cs typeface="Arial"/>
              </a:rPr>
              <a:t>-Trace → Archiv vertraut dem Header</a:t>
            </a:r>
          </a:p>
        </p:txBody>
      </p:sp>
    </p:spTree>
    <p:extLst>
      <p:ext uri="{BB962C8B-B14F-4D97-AF65-F5344CB8AC3E}">
        <p14:creationId xmlns:p14="http://schemas.microsoft.com/office/powerpoint/2010/main" val="1429527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1C25DFC1-55D0-4190-B35C-46FD0042DC29}"/>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102FFF37-B301-40A8-810A-6A8BAB1D3874}"/>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Experiment 2: Weak Password</a:t>
            </a:r>
          </a:p>
        </p:txBody>
      </p:sp>
      <p:sp>
        <p:nvSpPr>
          <p:cNvPr id="3" name="Rechteck 2">
            <a:extLst>
              <a:ext uri="{FF2B5EF4-FFF2-40B4-BE49-F238E27FC236}">
                <a16:creationId xmlns:a16="http://schemas.microsoft.com/office/drawing/2014/main" id="{8DC67A9D-950D-4AE2-AD10-507BB85E9473}"/>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8BACEEC5-51BE-4212-8B9B-717F60400170}"/>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8F4F7F72-B27D-4503-B496-780271EF47C9}"/>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13</a:t>
            </a:r>
          </a:p>
        </p:txBody>
      </p:sp>
      <p:sp>
        <p:nvSpPr>
          <p:cNvPr id="6" name="Rechteck 5">
            <a:extLst>
              <a:ext uri="{FF2B5EF4-FFF2-40B4-BE49-F238E27FC236}">
                <a16:creationId xmlns:a16="http://schemas.microsoft.com/office/drawing/2014/main" id="{9BC613C6-5CCF-469D-A8EF-4DB1686952F2}"/>
              </a:ext>
            </a:extLst>
          </p:cNvPr>
          <p:cNvSpPr>
            <a:spLocks noGrp="1"/>
          </p:cNvSpPr>
          <p:nvPr/>
        </p:nvSpPr>
        <p:spPr>
          <a:xfrm>
            <a:off x="781050" y="1543050"/>
            <a:ext cx="790575" cy="590550"/>
          </a:xfrm>
          <a:prstGeom prst="rect">
            <a:avLst/>
          </a:prstGeom>
          <a:noFill/>
          <a:ln w="0">
            <a:noFill/>
            <a:prstDash val="solid"/>
          </a:ln>
        </p:spPr>
        <p:txBody>
          <a:bodyPr wrap="square" lIns="0" tIns="0" rIns="0" bIns="0" anchor="ctr">
            <a:normAutofit/>
          </a:bodyPr>
          <a:lstStyle>
            <a:defPPr algn="l">
              <a:defRPr sz="2250" b="1">
                <a:solidFill>
                  <a:srgbClr val="C55A2B"/>
                </a:solidFill>
                <a:latin typeface="Arial"/>
                <a:ea typeface="Arial"/>
                <a:cs typeface="Arial"/>
              </a:defRPr>
            </a:defPPr>
            <a:lvl1pPr algn="l">
              <a:defRPr sz="2250" b="1">
                <a:solidFill>
                  <a:srgbClr val="C55A2B"/>
                </a:solidFill>
                <a:latin typeface="Arial"/>
                <a:ea typeface="Arial"/>
                <a:cs typeface="Arial"/>
              </a:defRPr>
            </a:lvl1pPr>
            <a:lvl2pPr algn="l">
              <a:defRPr sz="2250" b="1">
                <a:solidFill>
                  <a:srgbClr val="C55A2B"/>
                </a:solidFill>
                <a:latin typeface="Arial"/>
                <a:ea typeface="Arial"/>
                <a:cs typeface="Arial"/>
              </a:defRPr>
            </a:lvl2pPr>
            <a:lvl3pPr algn="l">
              <a:defRPr sz="2250" b="1">
                <a:solidFill>
                  <a:srgbClr val="C55A2B"/>
                </a:solidFill>
                <a:latin typeface="Arial"/>
                <a:ea typeface="Arial"/>
                <a:cs typeface="Arial"/>
              </a:defRPr>
            </a:lvl3pPr>
            <a:lvl4pPr algn="l">
              <a:defRPr sz="2250" b="1">
                <a:solidFill>
                  <a:srgbClr val="C55A2B"/>
                </a:solidFill>
                <a:latin typeface="Arial"/>
                <a:ea typeface="Arial"/>
                <a:cs typeface="Arial"/>
              </a:defRPr>
            </a:lvl4pPr>
            <a:lvl5pPr algn="l">
              <a:defRPr sz="2250" b="1">
                <a:solidFill>
                  <a:srgbClr val="C55A2B"/>
                </a:solidFill>
                <a:latin typeface="Arial"/>
                <a:ea typeface="Arial"/>
                <a:cs typeface="Arial"/>
              </a:defRPr>
            </a:lvl5pPr>
            <a:lvl6pPr algn="l">
              <a:defRPr sz="2250" b="1">
                <a:solidFill>
                  <a:srgbClr val="C55A2B"/>
                </a:solidFill>
                <a:latin typeface="Arial"/>
                <a:ea typeface="Arial"/>
                <a:cs typeface="Arial"/>
              </a:defRPr>
            </a:lvl6pPr>
            <a:lvl7pPr algn="l">
              <a:defRPr sz="2250" b="1">
                <a:solidFill>
                  <a:srgbClr val="C55A2B"/>
                </a:solidFill>
                <a:latin typeface="Arial"/>
                <a:ea typeface="Arial"/>
                <a:cs typeface="Arial"/>
              </a:defRPr>
            </a:lvl7pPr>
            <a:lvl8pPr algn="l">
              <a:defRPr sz="2250" b="1">
                <a:solidFill>
                  <a:srgbClr val="C55A2B"/>
                </a:solidFill>
                <a:latin typeface="Arial"/>
                <a:ea typeface="Arial"/>
                <a:cs typeface="Arial"/>
              </a:defRPr>
            </a:lvl8pPr>
            <a:lvl9pPr algn="l">
              <a:defRPr sz="2250" b="1">
                <a:solidFill>
                  <a:srgbClr val="C55A2B"/>
                </a:solidFill>
                <a:latin typeface="Arial"/>
                <a:ea typeface="Arial"/>
                <a:cs typeface="Arial"/>
              </a:defRPr>
            </a:lvl9pPr>
          </a:lstStyle>
          <a:p>
            <a:pPr algn="l">
              <a:defRPr sz="2250" b="1">
                <a:solidFill>
                  <a:srgbClr val="C55A2B"/>
                </a:solidFill>
                <a:latin typeface="Arial"/>
                <a:ea typeface="Arial"/>
                <a:cs typeface="Arial"/>
              </a:defRPr>
            </a:pPr>
            <a:r>
              <a:rPr lang="de-AT" sz="2250" b="1" noProof="0" dirty="0">
                <a:solidFill>
                  <a:srgbClr val="C55A2B"/>
                </a:solidFill>
                <a:latin typeface="Arial"/>
                <a:ea typeface="Arial"/>
                <a:cs typeface="Arial"/>
              </a:rPr>
              <a:t>01</a:t>
            </a:r>
          </a:p>
        </p:txBody>
      </p:sp>
      <p:sp>
        <p:nvSpPr>
          <p:cNvPr id="7" name="Rechteck 6">
            <a:extLst>
              <a:ext uri="{FF2B5EF4-FFF2-40B4-BE49-F238E27FC236}">
                <a16:creationId xmlns:a16="http://schemas.microsoft.com/office/drawing/2014/main" id="{FF3967A7-4457-4BD6-89B9-91F884269A49}"/>
              </a:ext>
            </a:extLst>
          </p:cNvPr>
          <p:cNvSpPr>
            <a:spLocks noGrp="1"/>
          </p:cNvSpPr>
          <p:nvPr/>
        </p:nvSpPr>
        <p:spPr>
          <a:xfrm>
            <a:off x="1628775" y="1543050"/>
            <a:ext cx="8705850" cy="590550"/>
          </a:xfrm>
          <a:prstGeom prst="rect">
            <a:avLst/>
          </a:prstGeom>
          <a:noFill/>
          <a:ln w="0">
            <a:noFill/>
            <a:prstDash val="solid"/>
          </a:ln>
        </p:spPr>
        <p:txBody>
          <a:bodyPr wrap="square" lIns="0" tIns="0" rIns="0" bIns="0" anchor="ctr">
            <a:normAutofit/>
          </a:bodyPr>
          <a:lstStyle>
            <a:defPPr algn="l">
              <a:defRPr sz="2250" b="0">
                <a:solidFill>
                  <a:srgbClr val="202935"/>
                </a:solidFill>
                <a:latin typeface="Arial"/>
                <a:ea typeface="Arial"/>
                <a:cs typeface="Arial"/>
              </a:defRPr>
            </a:defPPr>
            <a:lvl1pPr algn="l">
              <a:defRPr sz="2250" b="0">
                <a:solidFill>
                  <a:srgbClr val="202935"/>
                </a:solidFill>
                <a:latin typeface="Arial"/>
                <a:ea typeface="Arial"/>
                <a:cs typeface="Arial"/>
              </a:defRPr>
            </a:lvl1pPr>
            <a:lvl2pPr algn="l">
              <a:defRPr sz="2250" b="0">
                <a:solidFill>
                  <a:srgbClr val="202935"/>
                </a:solidFill>
                <a:latin typeface="Arial"/>
                <a:ea typeface="Arial"/>
                <a:cs typeface="Arial"/>
              </a:defRPr>
            </a:lvl2pPr>
            <a:lvl3pPr algn="l">
              <a:defRPr sz="2250" b="0">
                <a:solidFill>
                  <a:srgbClr val="202935"/>
                </a:solidFill>
                <a:latin typeface="Arial"/>
                <a:ea typeface="Arial"/>
                <a:cs typeface="Arial"/>
              </a:defRPr>
            </a:lvl3pPr>
            <a:lvl4pPr algn="l">
              <a:defRPr sz="2250" b="0">
                <a:solidFill>
                  <a:srgbClr val="202935"/>
                </a:solidFill>
                <a:latin typeface="Arial"/>
                <a:ea typeface="Arial"/>
                <a:cs typeface="Arial"/>
              </a:defRPr>
            </a:lvl4pPr>
            <a:lvl5pPr algn="l">
              <a:defRPr sz="2250" b="0">
                <a:solidFill>
                  <a:srgbClr val="202935"/>
                </a:solidFill>
                <a:latin typeface="Arial"/>
                <a:ea typeface="Arial"/>
                <a:cs typeface="Arial"/>
              </a:defRPr>
            </a:lvl5pPr>
            <a:lvl6pPr algn="l">
              <a:defRPr sz="2250" b="0">
                <a:solidFill>
                  <a:srgbClr val="202935"/>
                </a:solidFill>
                <a:latin typeface="Arial"/>
                <a:ea typeface="Arial"/>
                <a:cs typeface="Arial"/>
              </a:defRPr>
            </a:lvl6pPr>
            <a:lvl7pPr algn="l">
              <a:defRPr sz="2250" b="0">
                <a:solidFill>
                  <a:srgbClr val="202935"/>
                </a:solidFill>
                <a:latin typeface="Arial"/>
                <a:ea typeface="Arial"/>
                <a:cs typeface="Arial"/>
              </a:defRPr>
            </a:lvl7pPr>
            <a:lvl8pPr algn="l">
              <a:defRPr sz="2250" b="0">
                <a:solidFill>
                  <a:srgbClr val="202935"/>
                </a:solidFill>
                <a:latin typeface="Arial"/>
                <a:ea typeface="Arial"/>
                <a:cs typeface="Arial"/>
              </a:defRPr>
            </a:lvl8pPr>
            <a:lvl9pPr algn="l">
              <a:defRPr sz="2250" b="0">
                <a:solidFill>
                  <a:srgbClr val="202935"/>
                </a:solidFill>
                <a:latin typeface="Arial"/>
                <a:ea typeface="Arial"/>
                <a:cs typeface="Arial"/>
              </a:defRPr>
            </a:lvl9pPr>
          </a:lstStyle>
          <a:p>
            <a:pPr algn="l">
              <a:defRPr sz="2250" b="0">
                <a:solidFill>
                  <a:srgbClr val="202935"/>
                </a:solidFill>
                <a:latin typeface="Arial"/>
                <a:ea typeface="Arial"/>
                <a:cs typeface="Arial"/>
              </a:defRPr>
            </a:pPr>
            <a:r>
              <a:rPr lang="de-AT" sz="2250" b="0" noProof="0" dirty="0">
                <a:solidFill>
                  <a:srgbClr val="202935"/>
                </a:solidFill>
                <a:latin typeface="Arial"/>
                <a:ea typeface="Arial"/>
                <a:cs typeface="Arial"/>
              </a:rPr>
              <a:t>Hash aus /</a:t>
            </a:r>
            <a:r>
              <a:rPr lang="de-AT" sz="2250" b="0" noProof="0" dirty="0" err="1">
                <a:solidFill>
                  <a:srgbClr val="202935"/>
                </a:solidFill>
                <a:latin typeface="Arial"/>
                <a:ea typeface="Arial"/>
                <a:cs typeface="Arial"/>
              </a:rPr>
              <a:t>users</a:t>
            </a:r>
            <a:endParaRPr lang="de-AT" sz="2250" b="0" noProof="0" dirty="0">
              <a:solidFill>
                <a:srgbClr val="202935"/>
              </a:solidFill>
              <a:latin typeface="Arial"/>
              <a:ea typeface="Arial"/>
              <a:cs typeface="Arial"/>
            </a:endParaRPr>
          </a:p>
        </p:txBody>
      </p:sp>
      <p:sp>
        <p:nvSpPr>
          <p:cNvPr id="8" name="Gerader Verbinder 7">
            <a:extLst>
              <a:ext uri="{FF2B5EF4-FFF2-40B4-BE49-F238E27FC236}">
                <a16:creationId xmlns:a16="http://schemas.microsoft.com/office/drawing/2014/main" id="{9259F55B-D68D-4DF3-AACC-86A01B83BA54}"/>
              </a:ext>
            </a:extLst>
          </p:cNvPr>
          <p:cNvSpPr>
            <a:spLocks noGrp="1"/>
          </p:cNvSpPr>
          <p:nvPr/>
        </p:nvSpPr>
        <p:spPr>
          <a:xfrm>
            <a:off x="800100" y="2371725"/>
            <a:ext cx="9944100" cy="0"/>
          </a:xfrm>
          <a:prstGeom prst="line">
            <a:avLst/>
          </a:prstGeom>
          <a:noFill/>
          <a:ln w="9525">
            <a:solidFill>
              <a:srgbClr val="D6D4CD"/>
            </a:solidFill>
            <a:prstDash val="solid"/>
          </a:ln>
        </p:spPr>
        <p:txBody>
          <a:bodyPr/>
          <a:lstStyle/>
          <a:p>
            <a:endParaRPr lang="de-AT" noProof="0" dirty="0"/>
          </a:p>
        </p:txBody>
      </p:sp>
      <p:sp>
        <p:nvSpPr>
          <p:cNvPr id="9" name="Rechteck 8">
            <a:extLst>
              <a:ext uri="{FF2B5EF4-FFF2-40B4-BE49-F238E27FC236}">
                <a16:creationId xmlns:a16="http://schemas.microsoft.com/office/drawing/2014/main" id="{F80ADB0D-8771-410A-A59B-590884DC9149}"/>
              </a:ext>
            </a:extLst>
          </p:cNvPr>
          <p:cNvSpPr>
            <a:spLocks noGrp="1"/>
          </p:cNvSpPr>
          <p:nvPr/>
        </p:nvSpPr>
        <p:spPr>
          <a:xfrm>
            <a:off x="781050" y="2486025"/>
            <a:ext cx="790575" cy="590550"/>
          </a:xfrm>
          <a:prstGeom prst="rect">
            <a:avLst/>
          </a:prstGeom>
          <a:noFill/>
          <a:ln w="0">
            <a:noFill/>
            <a:prstDash val="solid"/>
          </a:ln>
        </p:spPr>
        <p:txBody>
          <a:bodyPr wrap="square" lIns="0" tIns="0" rIns="0" bIns="0" anchor="ctr">
            <a:normAutofit/>
          </a:bodyPr>
          <a:lstStyle>
            <a:defPPr algn="l">
              <a:defRPr sz="2250" b="1">
                <a:solidFill>
                  <a:srgbClr val="C55A2B"/>
                </a:solidFill>
                <a:latin typeface="Arial"/>
                <a:ea typeface="Arial"/>
                <a:cs typeface="Arial"/>
              </a:defRPr>
            </a:defPPr>
            <a:lvl1pPr algn="l">
              <a:defRPr sz="2250" b="1">
                <a:solidFill>
                  <a:srgbClr val="C55A2B"/>
                </a:solidFill>
                <a:latin typeface="Arial"/>
                <a:ea typeface="Arial"/>
                <a:cs typeface="Arial"/>
              </a:defRPr>
            </a:lvl1pPr>
            <a:lvl2pPr algn="l">
              <a:defRPr sz="2250" b="1">
                <a:solidFill>
                  <a:srgbClr val="C55A2B"/>
                </a:solidFill>
                <a:latin typeface="Arial"/>
                <a:ea typeface="Arial"/>
                <a:cs typeface="Arial"/>
              </a:defRPr>
            </a:lvl2pPr>
            <a:lvl3pPr algn="l">
              <a:defRPr sz="2250" b="1">
                <a:solidFill>
                  <a:srgbClr val="C55A2B"/>
                </a:solidFill>
                <a:latin typeface="Arial"/>
                <a:ea typeface="Arial"/>
                <a:cs typeface="Arial"/>
              </a:defRPr>
            </a:lvl3pPr>
            <a:lvl4pPr algn="l">
              <a:defRPr sz="2250" b="1">
                <a:solidFill>
                  <a:srgbClr val="C55A2B"/>
                </a:solidFill>
                <a:latin typeface="Arial"/>
                <a:ea typeface="Arial"/>
                <a:cs typeface="Arial"/>
              </a:defRPr>
            </a:lvl4pPr>
            <a:lvl5pPr algn="l">
              <a:defRPr sz="2250" b="1">
                <a:solidFill>
                  <a:srgbClr val="C55A2B"/>
                </a:solidFill>
                <a:latin typeface="Arial"/>
                <a:ea typeface="Arial"/>
                <a:cs typeface="Arial"/>
              </a:defRPr>
            </a:lvl5pPr>
            <a:lvl6pPr algn="l">
              <a:defRPr sz="2250" b="1">
                <a:solidFill>
                  <a:srgbClr val="C55A2B"/>
                </a:solidFill>
                <a:latin typeface="Arial"/>
                <a:ea typeface="Arial"/>
                <a:cs typeface="Arial"/>
              </a:defRPr>
            </a:lvl6pPr>
            <a:lvl7pPr algn="l">
              <a:defRPr sz="2250" b="1">
                <a:solidFill>
                  <a:srgbClr val="C55A2B"/>
                </a:solidFill>
                <a:latin typeface="Arial"/>
                <a:ea typeface="Arial"/>
                <a:cs typeface="Arial"/>
              </a:defRPr>
            </a:lvl7pPr>
            <a:lvl8pPr algn="l">
              <a:defRPr sz="2250" b="1">
                <a:solidFill>
                  <a:srgbClr val="C55A2B"/>
                </a:solidFill>
                <a:latin typeface="Arial"/>
                <a:ea typeface="Arial"/>
                <a:cs typeface="Arial"/>
              </a:defRPr>
            </a:lvl8pPr>
            <a:lvl9pPr algn="l">
              <a:defRPr sz="2250" b="1">
                <a:solidFill>
                  <a:srgbClr val="C55A2B"/>
                </a:solidFill>
                <a:latin typeface="Arial"/>
                <a:ea typeface="Arial"/>
                <a:cs typeface="Arial"/>
              </a:defRPr>
            </a:lvl9pPr>
          </a:lstStyle>
          <a:p>
            <a:pPr algn="l">
              <a:defRPr sz="2250" b="1">
                <a:solidFill>
                  <a:srgbClr val="C55A2B"/>
                </a:solidFill>
                <a:latin typeface="Arial"/>
                <a:ea typeface="Arial"/>
                <a:cs typeface="Arial"/>
              </a:defRPr>
            </a:pPr>
            <a:r>
              <a:rPr lang="de-AT" sz="2250" b="1" noProof="0" dirty="0">
                <a:solidFill>
                  <a:srgbClr val="C55A2B"/>
                </a:solidFill>
                <a:latin typeface="Arial"/>
                <a:ea typeface="Arial"/>
                <a:cs typeface="Arial"/>
              </a:rPr>
              <a:t>02</a:t>
            </a:r>
          </a:p>
        </p:txBody>
      </p:sp>
      <p:sp>
        <p:nvSpPr>
          <p:cNvPr id="10" name="Rechteck 9">
            <a:extLst>
              <a:ext uri="{FF2B5EF4-FFF2-40B4-BE49-F238E27FC236}">
                <a16:creationId xmlns:a16="http://schemas.microsoft.com/office/drawing/2014/main" id="{89F34686-A5FD-4D9B-934A-F5BDF82E94EE}"/>
              </a:ext>
            </a:extLst>
          </p:cNvPr>
          <p:cNvSpPr>
            <a:spLocks noGrp="1"/>
          </p:cNvSpPr>
          <p:nvPr/>
        </p:nvSpPr>
        <p:spPr>
          <a:xfrm>
            <a:off x="1628775" y="2486025"/>
            <a:ext cx="8705850" cy="590550"/>
          </a:xfrm>
          <a:prstGeom prst="rect">
            <a:avLst/>
          </a:prstGeom>
          <a:noFill/>
          <a:ln w="0">
            <a:noFill/>
            <a:prstDash val="solid"/>
          </a:ln>
        </p:spPr>
        <p:txBody>
          <a:bodyPr wrap="square" lIns="0" tIns="0" rIns="0" bIns="0" anchor="ctr">
            <a:normAutofit/>
          </a:bodyPr>
          <a:lstStyle>
            <a:defPPr algn="l">
              <a:defRPr sz="2250" b="0">
                <a:solidFill>
                  <a:srgbClr val="202935"/>
                </a:solidFill>
                <a:latin typeface="Arial"/>
                <a:ea typeface="Arial"/>
                <a:cs typeface="Arial"/>
              </a:defRPr>
            </a:defPPr>
            <a:lvl1pPr algn="l">
              <a:defRPr sz="2250" b="0">
                <a:solidFill>
                  <a:srgbClr val="202935"/>
                </a:solidFill>
                <a:latin typeface="Arial"/>
                <a:ea typeface="Arial"/>
                <a:cs typeface="Arial"/>
              </a:defRPr>
            </a:lvl1pPr>
            <a:lvl2pPr algn="l">
              <a:defRPr sz="2250" b="0">
                <a:solidFill>
                  <a:srgbClr val="202935"/>
                </a:solidFill>
                <a:latin typeface="Arial"/>
                <a:ea typeface="Arial"/>
                <a:cs typeface="Arial"/>
              </a:defRPr>
            </a:lvl2pPr>
            <a:lvl3pPr algn="l">
              <a:defRPr sz="2250" b="0">
                <a:solidFill>
                  <a:srgbClr val="202935"/>
                </a:solidFill>
                <a:latin typeface="Arial"/>
                <a:ea typeface="Arial"/>
                <a:cs typeface="Arial"/>
              </a:defRPr>
            </a:lvl3pPr>
            <a:lvl4pPr algn="l">
              <a:defRPr sz="2250" b="0">
                <a:solidFill>
                  <a:srgbClr val="202935"/>
                </a:solidFill>
                <a:latin typeface="Arial"/>
                <a:ea typeface="Arial"/>
                <a:cs typeface="Arial"/>
              </a:defRPr>
            </a:lvl4pPr>
            <a:lvl5pPr algn="l">
              <a:defRPr sz="2250" b="0">
                <a:solidFill>
                  <a:srgbClr val="202935"/>
                </a:solidFill>
                <a:latin typeface="Arial"/>
                <a:ea typeface="Arial"/>
                <a:cs typeface="Arial"/>
              </a:defRPr>
            </a:lvl5pPr>
            <a:lvl6pPr algn="l">
              <a:defRPr sz="2250" b="0">
                <a:solidFill>
                  <a:srgbClr val="202935"/>
                </a:solidFill>
                <a:latin typeface="Arial"/>
                <a:ea typeface="Arial"/>
                <a:cs typeface="Arial"/>
              </a:defRPr>
            </a:lvl6pPr>
            <a:lvl7pPr algn="l">
              <a:defRPr sz="2250" b="0">
                <a:solidFill>
                  <a:srgbClr val="202935"/>
                </a:solidFill>
                <a:latin typeface="Arial"/>
                <a:ea typeface="Arial"/>
                <a:cs typeface="Arial"/>
              </a:defRPr>
            </a:lvl7pPr>
            <a:lvl8pPr algn="l">
              <a:defRPr sz="2250" b="0">
                <a:solidFill>
                  <a:srgbClr val="202935"/>
                </a:solidFill>
                <a:latin typeface="Arial"/>
                <a:ea typeface="Arial"/>
                <a:cs typeface="Arial"/>
              </a:defRPr>
            </a:lvl8pPr>
            <a:lvl9pPr algn="l">
              <a:defRPr sz="2250" b="0">
                <a:solidFill>
                  <a:srgbClr val="202935"/>
                </a:solidFill>
                <a:latin typeface="Arial"/>
                <a:ea typeface="Arial"/>
                <a:cs typeface="Arial"/>
              </a:defRPr>
            </a:lvl9pPr>
          </a:lstStyle>
          <a:p>
            <a:pPr algn="l">
              <a:defRPr sz="2250" b="0">
                <a:solidFill>
                  <a:srgbClr val="202935"/>
                </a:solidFill>
                <a:latin typeface="Arial"/>
                <a:ea typeface="Arial"/>
                <a:cs typeface="Arial"/>
              </a:defRPr>
            </a:pPr>
            <a:r>
              <a:rPr lang="de-AT" sz="2250" b="0" noProof="0" dirty="0">
                <a:solidFill>
                  <a:srgbClr val="202935"/>
                </a:solidFill>
                <a:latin typeface="Arial"/>
                <a:ea typeface="Arial"/>
                <a:cs typeface="Arial"/>
              </a:rPr>
              <a:t>Kurze </a:t>
            </a:r>
            <a:r>
              <a:rPr lang="de-AT" sz="2250" b="0" noProof="0" dirty="0" err="1">
                <a:solidFill>
                  <a:srgbClr val="202935"/>
                </a:solidFill>
                <a:latin typeface="Arial"/>
                <a:ea typeface="Arial"/>
                <a:cs typeface="Arial"/>
              </a:rPr>
              <a:t>Wordlist</a:t>
            </a:r>
            <a:endParaRPr lang="de-AT" sz="2250" b="0" noProof="0" dirty="0">
              <a:solidFill>
                <a:srgbClr val="202935"/>
              </a:solidFill>
              <a:latin typeface="Arial"/>
              <a:ea typeface="Arial"/>
              <a:cs typeface="Arial"/>
            </a:endParaRPr>
          </a:p>
        </p:txBody>
      </p:sp>
      <p:sp>
        <p:nvSpPr>
          <p:cNvPr id="11" name="Gerader Verbinder 10">
            <a:extLst>
              <a:ext uri="{FF2B5EF4-FFF2-40B4-BE49-F238E27FC236}">
                <a16:creationId xmlns:a16="http://schemas.microsoft.com/office/drawing/2014/main" id="{CBAA7B20-3C9C-4B2C-A312-5D003632A769}"/>
              </a:ext>
            </a:extLst>
          </p:cNvPr>
          <p:cNvSpPr>
            <a:spLocks noGrp="1"/>
          </p:cNvSpPr>
          <p:nvPr/>
        </p:nvSpPr>
        <p:spPr>
          <a:xfrm>
            <a:off x="800100" y="3314700"/>
            <a:ext cx="9944100" cy="0"/>
          </a:xfrm>
          <a:prstGeom prst="line">
            <a:avLst/>
          </a:prstGeom>
          <a:noFill/>
          <a:ln w="9525">
            <a:solidFill>
              <a:srgbClr val="D6D4CD"/>
            </a:solidFill>
            <a:prstDash val="solid"/>
          </a:ln>
        </p:spPr>
        <p:txBody>
          <a:bodyPr/>
          <a:lstStyle/>
          <a:p>
            <a:endParaRPr lang="de-AT" noProof="0" dirty="0"/>
          </a:p>
        </p:txBody>
      </p:sp>
      <p:sp>
        <p:nvSpPr>
          <p:cNvPr id="12" name="Rechteck 11">
            <a:extLst>
              <a:ext uri="{FF2B5EF4-FFF2-40B4-BE49-F238E27FC236}">
                <a16:creationId xmlns:a16="http://schemas.microsoft.com/office/drawing/2014/main" id="{F362A791-B4C1-488C-8A5A-7C4C8B781223}"/>
              </a:ext>
            </a:extLst>
          </p:cNvPr>
          <p:cNvSpPr>
            <a:spLocks noGrp="1"/>
          </p:cNvSpPr>
          <p:nvPr/>
        </p:nvSpPr>
        <p:spPr>
          <a:xfrm>
            <a:off x="781050" y="3429000"/>
            <a:ext cx="790575" cy="590550"/>
          </a:xfrm>
          <a:prstGeom prst="rect">
            <a:avLst/>
          </a:prstGeom>
          <a:noFill/>
          <a:ln w="0">
            <a:noFill/>
            <a:prstDash val="solid"/>
          </a:ln>
        </p:spPr>
        <p:txBody>
          <a:bodyPr wrap="square" lIns="0" tIns="0" rIns="0" bIns="0" anchor="ctr">
            <a:normAutofit/>
          </a:bodyPr>
          <a:lstStyle>
            <a:defPPr algn="l">
              <a:defRPr sz="2250" b="1">
                <a:solidFill>
                  <a:srgbClr val="C55A2B"/>
                </a:solidFill>
                <a:latin typeface="Arial"/>
                <a:ea typeface="Arial"/>
                <a:cs typeface="Arial"/>
              </a:defRPr>
            </a:defPPr>
            <a:lvl1pPr algn="l">
              <a:defRPr sz="2250" b="1">
                <a:solidFill>
                  <a:srgbClr val="C55A2B"/>
                </a:solidFill>
                <a:latin typeface="Arial"/>
                <a:ea typeface="Arial"/>
                <a:cs typeface="Arial"/>
              </a:defRPr>
            </a:lvl1pPr>
            <a:lvl2pPr algn="l">
              <a:defRPr sz="2250" b="1">
                <a:solidFill>
                  <a:srgbClr val="C55A2B"/>
                </a:solidFill>
                <a:latin typeface="Arial"/>
                <a:ea typeface="Arial"/>
                <a:cs typeface="Arial"/>
              </a:defRPr>
            </a:lvl2pPr>
            <a:lvl3pPr algn="l">
              <a:defRPr sz="2250" b="1">
                <a:solidFill>
                  <a:srgbClr val="C55A2B"/>
                </a:solidFill>
                <a:latin typeface="Arial"/>
                <a:ea typeface="Arial"/>
                <a:cs typeface="Arial"/>
              </a:defRPr>
            </a:lvl3pPr>
            <a:lvl4pPr algn="l">
              <a:defRPr sz="2250" b="1">
                <a:solidFill>
                  <a:srgbClr val="C55A2B"/>
                </a:solidFill>
                <a:latin typeface="Arial"/>
                <a:ea typeface="Arial"/>
                <a:cs typeface="Arial"/>
              </a:defRPr>
            </a:lvl4pPr>
            <a:lvl5pPr algn="l">
              <a:defRPr sz="2250" b="1">
                <a:solidFill>
                  <a:srgbClr val="C55A2B"/>
                </a:solidFill>
                <a:latin typeface="Arial"/>
                <a:ea typeface="Arial"/>
                <a:cs typeface="Arial"/>
              </a:defRPr>
            </a:lvl5pPr>
            <a:lvl6pPr algn="l">
              <a:defRPr sz="2250" b="1">
                <a:solidFill>
                  <a:srgbClr val="C55A2B"/>
                </a:solidFill>
                <a:latin typeface="Arial"/>
                <a:ea typeface="Arial"/>
                <a:cs typeface="Arial"/>
              </a:defRPr>
            </a:lvl6pPr>
            <a:lvl7pPr algn="l">
              <a:defRPr sz="2250" b="1">
                <a:solidFill>
                  <a:srgbClr val="C55A2B"/>
                </a:solidFill>
                <a:latin typeface="Arial"/>
                <a:ea typeface="Arial"/>
                <a:cs typeface="Arial"/>
              </a:defRPr>
            </a:lvl7pPr>
            <a:lvl8pPr algn="l">
              <a:defRPr sz="2250" b="1">
                <a:solidFill>
                  <a:srgbClr val="C55A2B"/>
                </a:solidFill>
                <a:latin typeface="Arial"/>
                <a:ea typeface="Arial"/>
                <a:cs typeface="Arial"/>
              </a:defRPr>
            </a:lvl8pPr>
            <a:lvl9pPr algn="l">
              <a:defRPr sz="2250" b="1">
                <a:solidFill>
                  <a:srgbClr val="C55A2B"/>
                </a:solidFill>
                <a:latin typeface="Arial"/>
                <a:ea typeface="Arial"/>
                <a:cs typeface="Arial"/>
              </a:defRPr>
            </a:lvl9pPr>
          </a:lstStyle>
          <a:p>
            <a:pPr algn="l">
              <a:defRPr sz="2250" b="1">
                <a:solidFill>
                  <a:srgbClr val="C55A2B"/>
                </a:solidFill>
                <a:latin typeface="Arial"/>
                <a:ea typeface="Arial"/>
                <a:cs typeface="Arial"/>
              </a:defRPr>
            </a:pPr>
            <a:r>
              <a:rPr lang="de-AT" sz="2250" b="1" noProof="0" dirty="0">
                <a:solidFill>
                  <a:srgbClr val="C55A2B"/>
                </a:solidFill>
                <a:latin typeface="Arial"/>
                <a:ea typeface="Arial"/>
                <a:cs typeface="Arial"/>
              </a:rPr>
              <a:t>03</a:t>
            </a:r>
          </a:p>
        </p:txBody>
      </p:sp>
      <p:sp>
        <p:nvSpPr>
          <p:cNvPr id="13" name="Rechteck 12">
            <a:extLst>
              <a:ext uri="{FF2B5EF4-FFF2-40B4-BE49-F238E27FC236}">
                <a16:creationId xmlns:a16="http://schemas.microsoft.com/office/drawing/2014/main" id="{1EC0C0DD-49D7-46E9-BEBE-EBF2D1F66D5B}"/>
              </a:ext>
            </a:extLst>
          </p:cNvPr>
          <p:cNvSpPr>
            <a:spLocks noGrp="1"/>
          </p:cNvSpPr>
          <p:nvPr/>
        </p:nvSpPr>
        <p:spPr>
          <a:xfrm>
            <a:off x="1628775" y="3429000"/>
            <a:ext cx="8705850" cy="590550"/>
          </a:xfrm>
          <a:prstGeom prst="rect">
            <a:avLst/>
          </a:prstGeom>
          <a:noFill/>
          <a:ln w="0">
            <a:noFill/>
            <a:prstDash val="solid"/>
          </a:ln>
        </p:spPr>
        <p:txBody>
          <a:bodyPr wrap="square" lIns="0" tIns="0" rIns="0" bIns="0" anchor="ctr">
            <a:normAutofit/>
          </a:bodyPr>
          <a:lstStyle>
            <a:defPPr algn="l">
              <a:defRPr sz="2250" b="0">
                <a:solidFill>
                  <a:srgbClr val="202935"/>
                </a:solidFill>
                <a:latin typeface="Arial"/>
                <a:ea typeface="Arial"/>
                <a:cs typeface="Arial"/>
              </a:defRPr>
            </a:defPPr>
            <a:lvl1pPr algn="l">
              <a:defRPr sz="2250" b="0">
                <a:solidFill>
                  <a:srgbClr val="202935"/>
                </a:solidFill>
                <a:latin typeface="Arial"/>
                <a:ea typeface="Arial"/>
                <a:cs typeface="Arial"/>
              </a:defRPr>
            </a:lvl1pPr>
            <a:lvl2pPr algn="l">
              <a:defRPr sz="2250" b="0">
                <a:solidFill>
                  <a:srgbClr val="202935"/>
                </a:solidFill>
                <a:latin typeface="Arial"/>
                <a:ea typeface="Arial"/>
                <a:cs typeface="Arial"/>
              </a:defRPr>
            </a:lvl2pPr>
            <a:lvl3pPr algn="l">
              <a:defRPr sz="2250" b="0">
                <a:solidFill>
                  <a:srgbClr val="202935"/>
                </a:solidFill>
                <a:latin typeface="Arial"/>
                <a:ea typeface="Arial"/>
                <a:cs typeface="Arial"/>
              </a:defRPr>
            </a:lvl3pPr>
            <a:lvl4pPr algn="l">
              <a:defRPr sz="2250" b="0">
                <a:solidFill>
                  <a:srgbClr val="202935"/>
                </a:solidFill>
                <a:latin typeface="Arial"/>
                <a:ea typeface="Arial"/>
                <a:cs typeface="Arial"/>
              </a:defRPr>
            </a:lvl4pPr>
            <a:lvl5pPr algn="l">
              <a:defRPr sz="2250" b="0">
                <a:solidFill>
                  <a:srgbClr val="202935"/>
                </a:solidFill>
                <a:latin typeface="Arial"/>
                <a:ea typeface="Arial"/>
                <a:cs typeface="Arial"/>
              </a:defRPr>
            </a:lvl5pPr>
            <a:lvl6pPr algn="l">
              <a:defRPr sz="2250" b="0">
                <a:solidFill>
                  <a:srgbClr val="202935"/>
                </a:solidFill>
                <a:latin typeface="Arial"/>
                <a:ea typeface="Arial"/>
                <a:cs typeface="Arial"/>
              </a:defRPr>
            </a:lvl6pPr>
            <a:lvl7pPr algn="l">
              <a:defRPr sz="2250" b="0">
                <a:solidFill>
                  <a:srgbClr val="202935"/>
                </a:solidFill>
                <a:latin typeface="Arial"/>
                <a:ea typeface="Arial"/>
                <a:cs typeface="Arial"/>
              </a:defRPr>
            </a:lvl7pPr>
            <a:lvl8pPr algn="l">
              <a:defRPr sz="2250" b="0">
                <a:solidFill>
                  <a:srgbClr val="202935"/>
                </a:solidFill>
                <a:latin typeface="Arial"/>
                <a:ea typeface="Arial"/>
                <a:cs typeface="Arial"/>
              </a:defRPr>
            </a:lvl8pPr>
            <a:lvl9pPr algn="l">
              <a:defRPr sz="2250" b="0">
                <a:solidFill>
                  <a:srgbClr val="202935"/>
                </a:solidFill>
                <a:latin typeface="Arial"/>
                <a:ea typeface="Arial"/>
                <a:cs typeface="Arial"/>
              </a:defRPr>
            </a:lvl9pPr>
          </a:lstStyle>
          <a:p>
            <a:pPr algn="l">
              <a:defRPr sz="2250" b="0">
                <a:solidFill>
                  <a:srgbClr val="202935"/>
                </a:solidFill>
                <a:latin typeface="Arial"/>
                <a:ea typeface="Arial"/>
                <a:cs typeface="Arial"/>
              </a:defRPr>
            </a:pPr>
            <a:r>
              <a:rPr lang="de-AT" sz="2250" b="0" noProof="0" dirty="0">
                <a:solidFill>
                  <a:srgbClr val="202935"/>
                </a:solidFill>
                <a:latin typeface="Arial"/>
                <a:ea typeface="Arial"/>
                <a:cs typeface="Arial"/>
              </a:rPr>
              <a:t>Passwort gefunden</a:t>
            </a:r>
          </a:p>
        </p:txBody>
      </p:sp>
      <p:sp>
        <p:nvSpPr>
          <p:cNvPr id="14" name="Gerader Verbinder 13">
            <a:extLst>
              <a:ext uri="{FF2B5EF4-FFF2-40B4-BE49-F238E27FC236}">
                <a16:creationId xmlns:a16="http://schemas.microsoft.com/office/drawing/2014/main" id="{D9E39FE0-EF23-44A0-B0C0-3ADF7E494171}"/>
              </a:ext>
            </a:extLst>
          </p:cNvPr>
          <p:cNvSpPr>
            <a:spLocks noGrp="1"/>
          </p:cNvSpPr>
          <p:nvPr/>
        </p:nvSpPr>
        <p:spPr>
          <a:xfrm>
            <a:off x="800100" y="4257675"/>
            <a:ext cx="9944100" cy="0"/>
          </a:xfrm>
          <a:prstGeom prst="line">
            <a:avLst/>
          </a:prstGeom>
          <a:noFill/>
          <a:ln w="9525">
            <a:solidFill>
              <a:srgbClr val="D6D4CD"/>
            </a:solidFill>
            <a:prstDash val="solid"/>
          </a:ln>
        </p:spPr>
        <p:txBody>
          <a:bodyPr/>
          <a:lstStyle/>
          <a:p>
            <a:endParaRPr lang="de-AT" noProof="0" dirty="0"/>
          </a:p>
        </p:txBody>
      </p:sp>
      <p:sp>
        <p:nvSpPr>
          <p:cNvPr id="15" name="Rechteck 14">
            <a:extLst>
              <a:ext uri="{FF2B5EF4-FFF2-40B4-BE49-F238E27FC236}">
                <a16:creationId xmlns:a16="http://schemas.microsoft.com/office/drawing/2014/main" id="{B8DAF7E7-BF32-4790-94A7-74C125849765}"/>
              </a:ext>
            </a:extLst>
          </p:cNvPr>
          <p:cNvSpPr>
            <a:spLocks noGrp="1"/>
          </p:cNvSpPr>
          <p:nvPr/>
        </p:nvSpPr>
        <p:spPr>
          <a:xfrm>
            <a:off x="781050" y="4371975"/>
            <a:ext cx="790575" cy="590550"/>
          </a:xfrm>
          <a:prstGeom prst="rect">
            <a:avLst/>
          </a:prstGeom>
          <a:noFill/>
          <a:ln w="0">
            <a:noFill/>
            <a:prstDash val="solid"/>
          </a:ln>
        </p:spPr>
        <p:txBody>
          <a:bodyPr wrap="square" lIns="0" tIns="0" rIns="0" bIns="0" anchor="ctr">
            <a:normAutofit/>
          </a:bodyPr>
          <a:lstStyle>
            <a:defPPr algn="l">
              <a:defRPr sz="2250" b="1">
                <a:solidFill>
                  <a:srgbClr val="C55A2B"/>
                </a:solidFill>
                <a:latin typeface="Arial"/>
                <a:ea typeface="Arial"/>
                <a:cs typeface="Arial"/>
              </a:defRPr>
            </a:defPPr>
            <a:lvl1pPr algn="l">
              <a:defRPr sz="2250" b="1">
                <a:solidFill>
                  <a:srgbClr val="C55A2B"/>
                </a:solidFill>
                <a:latin typeface="Arial"/>
                <a:ea typeface="Arial"/>
                <a:cs typeface="Arial"/>
              </a:defRPr>
            </a:lvl1pPr>
            <a:lvl2pPr algn="l">
              <a:defRPr sz="2250" b="1">
                <a:solidFill>
                  <a:srgbClr val="C55A2B"/>
                </a:solidFill>
                <a:latin typeface="Arial"/>
                <a:ea typeface="Arial"/>
                <a:cs typeface="Arial"/>
              </a:defRPr>
            </a:lvl2pPr>
            <a:lvl3pPr algn="l">
              <a:defRPr sz="2250" b="1">
                <a:solidFill>
                  <a:srgbClr val="C55A2B"/>
                </a:solidFill>
                <a:latin typeface="Arial"/>
                <a:ea typeface="Arial"/>
                <a:cs typeface="Arial"/>
              </a:defRPr>
            </a:lvl3pPr>
            <a:lvl4pPr algn="l">
              <a:defRPr sz="2250" b="1">
                <a:solidFill>
                  <a:srgbClr val="C55A2B"/>
                </a:solidFill>
                <a:latin typeface="Arial"/>
                <a:ea typeface="Arial"/>
                <a:cs typeface="Arial"/>
              </a:defRPr>
            </a:lvl4pPr>
            <a:lvl5pPr algn="l">
              <a:defRPr sz="2250" b="1">
                <a:solidFill>
                  <a:srgbClr val="C55A2B"/>
                </a:solidFill>
                <a:latin typeface="Arial"/>
                <a:ea typeface="Arial"/>
                <a:cs typeface="Arial"/>
              </a:defRPr>
            </a:lvl5pPr>
            <a:lvl6pPr algn="l">
              <a:defRPr sz="2250" b="1">
                <a:solidFill>
                  <a:srgbClr val="C55A2B"/>
                </a:solidFill>
                <a:latin typeface="Arial"/>
                <a:ea typeface="Arial"/>
                <a:cs typeface="Arial"/>
              </a:defRPr>
            </a:lvl6pPr>
            <a:lvl7pPr algn="l">
              <a:defRPr sz="2250" b="1">
                <a:solidFill>
                  <a:srgbClr val="C55A2B"/>
                </a:solidFill>
                <a:latin typeface="Arial"/>
                <a:ea typeface="Arial"/>
                <a:cs typeface="Arial"/>
              </a:defRPr>
            </a:lvl7pPr>
            <a:lvl8pPr algn="l">
              <a:defRPr sz="2250" b="1">
                <a:solidFill>
                  <a:srgbClr val="C55A2B"/>
                </a:solidFill>
                <a:latin typeface="Arial"/>
                <a:ea typeface="Arial"/>
                <a:cs typeface="Arial"/>
              </a:defRPr>
            </a:lvl8pPr>
            <a:lvl9pPr algn="l">
              <a:defRPr sz="2250" b="1">
                <a:solidFill>
                  <a:srgbClr val="C55A2B"/>
                </a:solidFill>
                <a:latin typeface="Arial"/>
                <a:ea typeface="Arial"/>
                <a:cs typeface="Arial"/>
              </a:defRPr>
            </a:lvl9pPr>
          </a:lstStyle>
          <a:p>
            <a:pPr algn="l">
              <a:defRPr sz="2250" b="1">
                <a:solidFill>
                  <a:srgbClr val="C55A2B"/>
                </a:solidFill>
                <a:latin typeface="Arial"/>
                <a:ea typeface="Arial"/>
                <a:cs typeface="Arial"/>
              </a:defRPr>
            </a:pPr>
            <a:r>
              <a:rPr lang="de-AT" sz="2250" b="1" noProof="0" dirty="0">
                <a:solidFill>
                  <a:srgbClr val="C55A2B"/>
                </a:solidFill>
                <a:latin typeface="Arial"/>
                <a:ea typeface="Arial"/>
                <a:cs typeface="Arial"/>
              </a:rPr>
              <a:t>04</a:t>
            </a:r>
          </a:p>
        </p:txBody>
      </p:sp>
      <p:sp>
        <p:nvSpPr>
          <p:cNvPr id="16" name="Rechteck 15">
            <a:extLst>
              <a:ext uri="{FF2B5EF4-FFF2-40B4-BE49-F238E27FC236}">
                <a16:creationId xmlns:a16="http://schemas.microsoft.com/office/drawing/2014/main" id="{5BAA3CAF-3AA2-46C2-9F5D-72AB7E28ED68}"/>
              </a:ext>
            </a:extLst>
          </p:cNvPr>
          <p:cNvSpPr>
            <a:spLocks noGrp="1"/>
          </p:cNvSpPr>
          <p:nvPr/>
        </p:nvSpPr>
        <p:spPr>
          <a:xfrm>
            <a:off x="1628775" y="4371975"/>
            <a:ext cx="8705850" cy="590550"/>
          </a:xfrm>
          <a:prstGeom prst="rect">
            <a:avLst/>
          </a:prstGeom>
          <a:noFill/>
          <a:ln w="0">
            <a:noFill/>
            <a:prstDash val="solid"/>
          </a:ln>
        </p:spPr>
        <p:txBody>
          <a:bodyPr wrap="square" lIns="0" tIns="0" rIns="0" bIns="0" anchor="ctr">
            <a:normAutofit/>
          </a:bodyPr>
          <a:lstStyle>
            <a:defPPr algn="l">
              <a:defRPr sz="2250" b="1">
                <a:solidFill>
                  <a:srgbClr val="202935"/>
                </a:solidFill>
                <a:latin typeface="Arial"/>
                <a:ea typeface="Arial"/>
                <a:cs typeface="Arial"/>
              </a:defRPr>
            </a:defPPr>
            <a:lvl1pPr algn="l">
              <a:defRPr sz="2250" b="1">
                <a:solidFill>
                  <a:srgbClr val="202935"/>
                </a:solidFill>
                <a:latin typeface="Arial"/>
                <a:ea typeface="Arial"/>
                <a:cs typeface="Arial"/>
              </a:defRPr>
            </a:lvl1pPr>
            <a:lvl2pPr algn="l">
              <a:defRPr sz="2250" b="1">
                <a:solidFill>
                  <a:srgbClr val="202935"/>
                </a:solidFill>
                <a:latin typeface="Arial"/>
                <a:ea typeface="Arial"/>
                <a:cs typeface="Arial"/>
              </a:defRPr>
            </a:lvl2pPr>
            <a:lvl3pPr algn="l">
              <a:defRPr sz="2250" b="1">
                <a:solidFill>
                  <a:srgbClr val="202935"/>
                </a:solidFill>
                <a:latin typeface="Arial"/>
                <a:ea typeface="Arial"/>
                <a:cs typeface="Arial"/>
              </a:defRPr>
            </a:lvl3pPr>
            <a:lvl4pPr algn="l">
              <a:defRPr sz="2250" b="1">
                <a:solidFill>
                  <a:srgbClr val="202935"/>
                </a:solidFill>
                <a:latin typeface="Arial"/>
                <a:ea typeface="Arial"/>
                <a:cs typeface="Arial"/>
              </a:defRPr>
            </a:lvl4pPr>
            <a:lvl5pPr algn="l">
              <a:defRPr sz="2250" b="1">
                <a:solidFill>
                  <a:srgbClr val="202935"/>
                </a:solidFill>
                <a:latin typeface="Arial"/>
                <a:ea typeface="Arial"/>
                <a:cs typeface="Arial"/>
              </a:defRPr>
            </a:lvl5pPr>
            <a:lvl6pPr algn="l">
              <a:defRPr sz="2250" b="1">
                <a:solidFill>
                  <a:srgbClr val="202935"/>
                </a:solidFill>
                <a:latin typeface="Arial"/>
                <a:ea typeface="Arial"/>
                <a:cs typeface="Arial"/>
              </a:defRPr>
            </a:lvl6pPr>
            <a:lvl7pPr algn="l">
              <a:defRPr sz="2250" b="1">
                <a:solidFill>
                  <a:srgbClr val="202935"/>
                </a:solidFill>
                <a:latin typeface="Arial"/>
                <a:ea typeface="Arial"/>
                <a:cs typeface="Arial"/>
              </a:defRPr>
            </a:lvl7pPr>
            <a:lvl8pPr algn="l">
              <a:defRPr sz="2250" b="1">
                <a:solidFill>
                  <a:srgbClr val="202935"/>
                </a:solidFill>
                <a:latin typeface="Arial"/>
                <a:ea typeface="Arial"/>
                <a:cs typeface="Arial"/>
              </a:defRPr>
            </a:lvl8pPr>
            <a:lvl9pPr algn="l">
              <a:defRPr sz="2250" b="1">
                <a:solidFill>
                  <a:srgbClr val="202935"/>
                </a:solidFill>
                <a:latin typeface="Arial"/>
                <a:ea typeface="Arial"/>
                <a:cs typeface="Arial"/>
              </a:defRPr>
            </a:lvl9pPr>
          </a:lstStyle>
          <a:p>
            <a:pPr algn="l">
              <a:defRPr sz="2250" b="1">
                <a:solidFill>
                  <a:srgbClr val="202935"/>
                </a:solidFill>
                <a:latin typeface="Arial"/>
                <a:ea typeface="Arial"/>
                <a:cs typeface="Arial"/>
              </a:defRPr>
            </a:pPr>
            <a:r>
              <a:rPr lang="de-AT" sz="2250" b="1" noProof="0" dirty="0">
                <a:solidFill>
                  <a:srgbClr val="202935"/>
                </a:solidFill>
                <a:latin typeface="Arial"/>
                <a:ea typeface="Arial"/>
                <a:cs typeface="Arial"/>
              </a:rPr>
              <a:t>GET /</a:t>
            </a:r>
            <a:r>
              <a:rPr lang="de-AT" sz="2250" b="1" noProof="0" dirty="0" err="1">
                <a:solidFill>
                  <a:srgbClr val="202935"/>
                </a:solidFill>
                <a:latin typeface="Arial"/>
                <a:ea typeface="Arial"/>
                <a:cs typeface="Arial"/>
              </a:rPr>
              <a:t>notes</a:t>
            </a:r>
            <a:r>
              <a:rPr lang="de-AT" sz="2250" b="1" noProof="0" dirty="0">
                <a:solidFill>
                  <a:srgbClr val="202935"/>
                </a:solidFill>
                <a:latin typeface="Arial"/>
                <a:ea typeface="Arial"/>
                <a:cs typeface="Arial"/>
              </a:rPr>
              <a:t> mit Basic Auth</a:t>
            </a:r>
          </a:p>
        </p:txBody>
      </p:sp>
      <p:sp>
        <p:nvSpPr>
          <p:cNvPr id="17" name="Rechteck 16">
            <a:extLst>
              <a:ext uri="{FF2B5EF4-FFF2-40B4-BE49-F238E27FC236}">
                <a16:creationId xmlns:a16="http://schemas.microsoft.com/office/drawing/2014/main" id="{18A20B5E-286D-4782-8843-15CA07143B91}"/>
              </a:ext>
            </a:extLst>
          </p:cNvPr>
          <p:cNvSpPr>
            <a:spLocks noGrp="1"/>
          </p:cNvSpPr>
          <p:nvPr/>
        </p:nvSpPr>
        <p:spPr>
          <a:xfrm>
            <a:off x="762000" y="5410200"/>
            <a:ext cx="10001250" cy="438150"/>
          </a:xfrm>
          <a:prstGeom prst="rect">
            <a:avLst/>
          </a:prstGeom>
          <a:noFill/>
          <a:ln w="0">
            <a:noFill/>
            <a:prstDash val="solid"/>
          </a:ln>
        </p:spPr>
        <p:txBody>
          <a:bodyPr wrap="square" lIns="0" tIns="0" rIns="0" bIns="0" anchor="ctr">
            <a:normAutofit/>
          </a:bodyPr>
          <a:lstStyle>
            <a:defPPr algn="l">
              <a:defRPr sz="1725" b="1">
                <a:solidFill>
                  <a:srgbClr val="5D6872"/>
                </a:solidFill>
                <a:latin typeface="Arial"/>
                <a:ea typeface="Arial"/>
                <a:cs typeface="Arial"/>
              </a:defRPr>
            </a:defPPr>
            <a:lvl1pPr algn="l">
              <a:defRPr sz="1725" b="1">
                <a:solidFill>
                  <a:srgbClr val="5D6872"/>
                </a:solidFill>
                <a:latin typeface="Arial"/>
                <a:ea typeface="Arial"/>
                <a:cs typeface="Arial"/>
              </a:defRPr>
            </a:lvl1pPr>
            <a:lvl2pPr algn="l">
              <a:defRPr sz="1725" b="1">
                <a:solidFill>
                  <a:srgbClr val="5D6872"/>
                </a:solidFill>
                <a:latin typeface="Arial"/>
                <a:ea typeface="Arial"/>
                <a:cs typeface="Arial"/>
              </a:defRPr>
            </a:lvl2pPr>
            <a:lvl3pPr algn="l">
              <a:defRPr sz="1725" b="1">
                <a:solidFill>
                  <a:srgbClr val="5D6872"/>
                </a:solidFill>
                <a:latin typeface="Arial"/>
                <a:ea typeface="Arial"/>
                <a:cs typeface="Arial"/>
              </a:defRPr>
            </a:lvl3pPr>
            <a:lvl4pPr algn="l">
              <a:defRPr sz="1725" b="1">
                <a:solidFill>
                  <a:srgbClr val="5D6872"/>
                </a:solidFill>
                <a:latin typeface="Arial"/>
                <a:ea typeface="Arial"/>
                <a:cs typeface="Arial"/>
              </a:defRPr>
            </a:lvl4pPr>
            <a:lvl5pPr algn="l">
              <a:defRPr sz="1725" b="1">
                <a:solidFill>
                  <a:srgbClr val="5D6872"/>
                </a:solidFill>
                <a:latin typeface="Arial"/>
                <a:ea typeface="Arial"/>
                <a:cs typeface="Arial"/>
              </a:defRPr>
            </a:lvl5pPr>
            <a:lvl6pPr algn="l">
              <a:defRPr sz="1725" b="1">
                <a:solidFill>
                  <a:srgbClr val="5D6872"/>
                </a:solidFill>
                <a:latin typeface="Arial"/>
                <a:ea typeface="Arial"/>
                <a:cs typeface="Arial"/>
              </a:defRPr>
            </a:lvl6pPr>
            <a:lvl7pPr algn="l">
              <a:defRPr sz="1725" b="1">
                <a:solidFill>
                  <a:srgbClr val="5D6872"/>
                </a:solidFill>
                <a:latin typeface="Arial"/>
                <a:ea typeface="Arial"/>
                <a:cs typeface="Arial"/>
              </a:defRPr>
            </a:lvl7pPr>
            <a:lvl8pPr algn="l">
              <a:defRPr sz="1725" b="1">
                <a:solidFill>
                  <a:srgbClr val="5D6872"/>
                </a:solidFill>
                <a:latin typeface="Arial"/>
                <a:ea typeface="Arial"/>
                <a:cs typeface="Arial"/>
              </a:defRPr>
            </a:lvl8pPr>
            <a:lvl9pPr algn="l">
              <a:defRPr sz="1725" b="1">
                <a:solidFill>
                  <a:srgbClr val="5D6872"/>
                </a:solidFill>
                <a:latin typeface="Arial"/>
                <a:ea typeface="Arial"/>
                <a:cs typeface="Arial"/>
              </a:defRPr>
            </a:lvl9pPr>
          </a:lstStyle>
          <a:p>
            <a:pPr algn="l">
              <a:defRPr sz="1725" b="1">
                <a:solidFill>
                  <a:srgbClr val="5D6872"/>
                </a:solidFill>
                <a:latin typeface="Arial"/>
                <a:ea typeface="Arial"/>
                <a:cs typeface="Arial"/>
              </a:defRPr>
            </a:pPr>
            <a:r>
              <a:rPr lang="de-AT" sz="1725" b="1" noProof="0" dirty="0">
                <a:solidFill>
                  <a:srgbClr val="5D6872"/>
                </a:solidFill>
                <a:latin typeface="Arial"/>
                <a:ea typeface="Arial"/>
                <a:cs typeface="Arial"/>
              </a:rPr>
              <a:t>Weak Password ist hier keine CVE.</a:t>
            </a:r>
          </a:p>
        </p:txBody>
      </p:sp>
    </p:spTree>
    <p:extLst>
      <p:ext uri="{BB962C8B-B14F-4D97-AF65-F5344CB8AC3E}">
        <p14:creationId xmlns:p14="http://schemas.microsoft.com/office/powerpoint/2010/main" val="1167016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cxnSp>
        <p:nvCxnSpPr>
          <p:cNvPr id="16" name="Gerade Verbindung mit Pfeil 15">
            <a:extLst>
              <a:ext uri="{FF2B5EF4-FFF2-40B4-BE49-F238E27FC236}">
                <a16:creationId xmlns:a16="http://schemas.microsoft.com/office/drawing/2014/main" id="{797E80F3-98AD-4DBE-AE6F-10BE9AEF206D}"/>
              </a:ext>
            </a:extLst>
          </p:cNvPr>
          <p:cNvCxnSpPr>
            <a:stCxn id="10" idx="3"/>
            <a:endCxn id="12" idx="1"/>
          </p:cNvCxnSpPr>
          <p:nvPr/>
        </p:nvCxnSpPr>
        <p:spPr>
          <a:xfrm>
            <a:off x="8782050" y="2462213"/>
            <a:ext cx="571500" cy="0"/>
          </a:xfrm>
          <a:prstGeom prst="straightConnector1">
            <a:avLst/>
          </a:prstGeom>
          <a:ln w="19050">
            <a:solidFill>
              <a:srgbClr val="202935"/>
            </a:solidFill>
            <a:prstDash val="solid"/>
            <a:tailEnd type="arrow" w="med" len="med"/>
          </a:ln>
        </p:spPr>
      </p:cxnSp>
      <p:cxnSp>
        <p:nvCxnSpPr>
          <p:cNvPr id="15" name="Gerade Verbindung mit Pfeil 14">
            <a:extLst>
              <a:ext uri="{FF2B5EF4-FFF2-40B4-BE49-F238E27FC236}">
                <a16:creationId xmlns:a16="http://schemas.microsoft.com/office/drawing/2014/main" id="{BF1050D9-C795-463F-82C2-465DAE979886}"/>
              </a:ext>
            </a:extLst>
          </p:cNvPr>
          <p:cNvCxnSpPr>
            <a:stCxn id="8" idx="3"/>
            <a:endCxn id="10" idx="1"/>
          </p:cNvCxnSpPr>
          <p:nvPr/>
        </p:nvCxnSpPr>
        <p:spPr>
          <a:xfrm>
            <a:off x="5876925" y="2462213"/>
            <a:ext cx="571500" cy="0"/>
          </a:xfrm>
          <a:prstGeom prst="straightConnector1">
            <a:avLst/>
          </a:prstGeom>
          <a:ln w="19050">
            <a:solidFill>
              <a:srgbClr val="202935"/>
            </a:solidFill>
            <a:prstDash val="solid"/>
            <a:tailEnd type="arrow" w="med" len="med"/>
          </a:ln>
        </p:spPr>
      </p:cxnSp>
      <p:cxnSp>
        <p:nvCxnSpPr>
          <p:cNvPr id="14" name="Gerade Verbindung mit Pfeil 13">
            <a:extLst>
              <a:ext uri="{FF2B5EF4-FFF2-40B4-BE49-F238E27FC236}">
                <a16:creationId xmlns:a16="http://schemas.microsoft.com/office/drawing/2014/main" id="{B328E7D6-092B-448F-85CD-00015DAFA727}"/>
              </a:ext>
            </a:extLst>
          </p:cNvPr>
          <p:cNvCxnSpPr>
            <a:stCxn id="6" idx="3"/>
            <a:endCxn id="8" idx="1"/>
          </p:cNvCxnSpPr>
          <p:nvPr/>
        </p:nvCxnSpPr>
        <p:spPr>
          <a:xfrm>
            <a:off x="2971800" y="2462213"/>
            <a:ext cx="571500" cy="0"/>
          </a:xfrm>
          <a:prstGeom prst="straightConnector1">
            <a:avLst/>
          </a:prstGeom>
          <a:ln w="19050">
            <a:solidFill>
              <a:srgbClr val="202935"/>
            </a:solidFill>
            <a:prstDash val="solid"/>
            <a:tailEnd type="arrow" w="med" len="med"/>
          </a:ln>
        </p:spPr>
      </p:cxnSp>
      <p:sp>
        <p:nvSpPr>
          <p:cNvPr id="20" name="Rechteck 19">
            <a:extLst>
              <a:ext uri="{FF2B5EF4-FFF2-40B4-BE49-F238E27FC236}">
                <a16:creationId xmlns:a16="http://schemas.microsoft.com/office/drawing/2014/main" id="{C2F5C30E-DF71-4075-8CAE-8D48EA9D4257}"/>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D5227DE9-3FE4-4FC7-BA76-E8C69415573B}"/>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Experiment 3: SQL </a:t>
            </a:r>
            <a:r>
              <a:rPr lang="de-AT" sz="3150" b="1" noProof="0" dirty="0" err="1">
                <a:solidFill>
                  <a:srgbClr val="202935"/>
                </a:solidFill>
                <a:latin typeface="Arial"/>
                <a:ea typeface="Arial"/>
                <a:cs typeface="Arial"/>
              </a:rPr>
              <a:t>Injection</a:t>
            </a:r>
            <a:endParaRPr lang="de-AT" sz="3150" b="1" noProof="0" dirty="0">
              <a:solidFill>
                <a:srgbClr val="202935"/>
              </a:solidFill>
              <a:latin typeface="Arial"/>
              <a:ea typeface="Arial"/>
              <a:cs typeface="Arial"/>
            </a:endParaRPr>
          </a:p>
        </p:txBody>
      </p:sp>
      <p:sp>
        <p:nvSpPr>
          <p:cNvPr id="3" name="Rechteck 2">
            <a:extLst>
              <a:ext uri="{FF2B5EF4-FFF2-40B4-BE49-F238E27FC236}">
                <a16:creationId xmlns:a16="http://schemas.microsoft.com/office/drawing/2014/main" id="{70847F35-F406-4E17-9B1C-14D7A1796E03}"/>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7B5298FF-47FC-4EAE-8E25-874FBB9429BC}"/>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0F5673B0-0D3E-43CA-9603-8DD928213AD4}"/>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14</a:t>
            </a:r>
          </a:p>
        </p:txBody>
      </p:sp>
      <p:sp>
        <p:nvSpPr>
          <p:cNvPr id="6" name="Rechteck 5">
            <a:extLst>
              <a:ext uri="{FF2B5EF4-FFF2-40B4-BE49-F238E27FC236}">
                <a16:creationId xmlns:a16="http://schemas.microsoft.com/office/drawing/2014/main" id="{AF4BD222-1267-4EA6-A74D-4156F60F00B5}"/>
              </a:ext>
            </a:extLst>
          </p:cNvPr>
          <p:cNvSpPr>
            <a:spLocks noGrp="1"/>
          </p:cNvSpPr>
          <p:nvPr/>
        </p:nvSpPr>
        <p:spPr>
          <a:xfrm>
            <a:off x="638175" y="1857375"/>
            <a:ext cx="2333625" cy="1209675"/>
          </a:xfrm>
          <a:prstGeom prst="rect">
            <a:avLst/>
          </a:prstGeom>
          <a:solidFill>
            <a:srgbClr val="FFFFFF"/>
          </a:solidFill>
          <a:ln w="9525">
            <a:solidFill>
              <a:srgbClr val="D6D4CD"/>
            </a:solidFill>
            <a:prstDash val="solid"/>
          </a:ln>
        </p:spPr>
        <p:txBody>
          <a:bodyPr/>
          <a:lstStyle/>
          <a:p>
            <a:endParaRPr lang="de-AT" noProof="0" dirty="0"/>
          </a:p>
        </p:txBody>
      </p:sp>
      <p:sp>
        <p:nvSpPr>
          <p:cNvPr id="7" name="Rechteck 6">
            <a:extLst>
              <a:ext uri="{FF2B5EF4-FFF2-40B4-BE49-F238E27FC236}">
                <a16:creationId xmlns:a16="http://schemas.microsoft.com/office/drawing/2014/main" id="{42C78573-26E9-44D2-8C3E-AC0DB1347D23}"/>
              </a:ext>
            </a:extLst>
          </p:cNvPr>
          <p:cNvSpPr>
            <a:spLocks noGrp="1"/>
          </p:cNvSpPr>
          <p:nvPr/>
        </p:nvSpPr>
        <p:spPr>
          <a:xfrm>
            <a:off x="790575" y="1971675"/>
            <a:ext cx="2028825" cy="323850"/>
          </a:xfrm>
          <a:prstGeom prst="rect">
            <a:avLst/>
          </a:prstGeom>
          <a:noFill/>
          <a:ln w="0">
            <a:noFill/>
            <a:prstDash val="solid"/>
          </a:ln>
        </p:spPr>
        <p:txBody>
          <a:bodyPr wrap="square" lIns="0" tIns="0" rIns="0" bIns="0" anchor="ctr">
            <a:normAutofit fontScale="83541" lnSpcReduction="10000"/>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err="1">
                <a:solidFill>
                  <a:srgbClr val="202935"/>
                </a:solidFill>
                <a:latin typeface="Arial"/>
                <a:ea typeface="Arial"/>
                <a:cs typeface="Arial"/>
              </a:rPr>
              <a:t>department</a:t>
            </a:r>
            <a:r>
              <a:rPr lang="de-AT" sz="1725" b="1" noProof="0" dirty="0">
                <a:solidFill>
                  <a:srgbClr val="202935"/>
                </a:solidFill>
                <a:latin typeface="Arial"/>
                <a:ea typeface="Arial"/>
                <a:cs typeface="Arial"/>
              </a:rPr>
              <a:t> im Request</a:t>
            </a:r>
          </a:p>
        </p:txBody>
      </p:sp>
      <p:sp>
        <p:nvSpPr>
          <p:cNvPr id="8" name="Rechteck 7">
            <a:extLst>
              <a:ext uri="{FF2B5EF4-FFF2-40B4-BE49-F238E27FC236}">
                <a16:creationId xmlns:a16="http://schemas.microsoft.com/office/drawing/2014/main" id="{1230AA12-CBC9-4C25-83EF-219E525A5558}"/>
              </a:ext>
            </a:extLst>
          </p:cNvPr>
          <p:cNvSpPr>
            <a:spLocks noGrp="1"/>
          </p:cNvSpPr>
          <p:nvPr/>
        </p:nvSpPr>
        <p:spPr>
          <a:xfrm>
            <a:off x="3543300" y="1857375"/>
            <a:ext cx="2333625" cy="1209675"/>
          </a:xfrm>
          <a:prstGeom prst="rect">
            <a:avLst/>
          </a:prstGeom>
          <a:solidFill>
            <a:srgbClr val="FFFFFF"/>
          </a:solidFill>
          <a:ln w="19050">
            <a:solidFill>
              <a:srgbClr val="C55A2B"/>
            </a:solidFill>
            <a:prstDash val="solid"/>
          </a:ln>
        </p:spPr>
        <p:txBody>
          <a:bodyPr/>
          <a:lstStyle/>
          <a:p>
            <a:endParaRPr lang="de-AT" noProof="0" dirty="0"/>
          </a:p>
        </p:txBody>
      </p:sp>
      <p:sp>
        <p:nvSpPr>
          <p:cNvPr id="9" name="Rechteck 8">
            <a:extLst>
              <a:ext uri="{FF2B5EF4-FFF2-40B4-BE49-F238E27FC236}">
                <a16:creationId xmlns:a16="http://schemas.microsoft.com/office/drawing/2014/main" id="{C31616A0-4E04-466A-A562-56FF42437655}"/>
              </a:ext>
            </a:extLst>
          </p:cNvPr>
          <p:cNvSpPr>
            <a:spLocks noGrp="1"/>
          </p:cNvSpPr>
          <p:nvPr/>
        </p:nvSpPr>
        <p:spPr>
          <a:xfrm>
            <a:off x="3695700" y="1971675"/>
            <a:ext cx="2028825" cy="323850"/>
          </a:xfrm>
          <a:prstGeom prst="rect">
            <a:avLst/>
          </a:prstGeom>
          <a:noFill/>
          <a:ln w="0">
            <a:noFill/>
            <a:prstDash val="solid"/>
          </a:ln>
        </p:spPr>
        <p:txBody>
          <a:bodyPr wrap="square" lIns="0" tIns="0" rIns="0" bIns="0" anchor="ctr">
            <a:normAutofit fontScale="90315"/>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Spring AI Converter</a:t>
            </a:r>
          </a:p>
        </p:txBody>
      </p:sp>
      <p:sp>
        <p:nvSpPr>
          <p:cNvPr id="10" name="Rechteck 9">
            <a:extLst>
              <a:ext uri="{FF2B5EF4-FFF2-40B4-BE49-F238E27FC236}">
                <a16:creationId xmlns:a16="http://schemas.microsoft.com/office/drawing/2014/main" id="{C82E61FB-CEFD-4DC9-87DC-3683E7D1F09D}"/>
              </a:ext>
            </a:extLst>
          </p:cNvPr>
          <p:cNvSpPr>
            <a:spLocks noGrp="1"/>
          </p:cNvSpPr>
          <p:nvPr/>
        </p:nvSpPr>
        <p:spPr>
          <a:xfrm>
            <a:off x="6448425" y="1857375"/>
            <a:ext cx="2333625" cy="1209675"/>
          </a:xfrm>
          <a:prstGeom prst="rect">
            <a:avLst/>
          </a:prstGeom>
          <a:solidFill>
            <a:srgbClr val="FFFFFF"/>
          </a:solidFill>
          <a:ln w="9525">
            <a:solidFill>
              <a:srgbClr val="D6D4CD"/>
            </a:solidFill>
            <a:prstDash val="solid"/>
          </a:ln>
        </p:spPr>
        <p:txBody>
          <a:bodyPr/>
          <a:lstStyle/>
          <a:p>
            <a:endParaRPr lang="de-AT" noProof="0" dirty="0"/>
          </a:p>
        </p:txBody>
      </p:sp>
      <p:sp>
        <p:nvSpPr>
          <p:cNvPr id="11" name="Rechteck 10">
            <a:extLst>
              <a:ext uri="{FF2B5EF4-FFF2-40B4-BE49-F238E27FC236}">
                <a16:creationId xmlns:a16="http://schemas.microsoft.com/office/drawing/2014/main" id="{A5C73709-5E65-4D73-9F4B-E7CC1985269F}"/>
              </a:ext>
            </a:extLst>
          </p:cNvPr>
          <p:cNvSpPr>
            <a:spLocks noGrp="1"/>
          </p:cNvSpPr>
          <p:nvPr/>
        </p:nvSpPr>
        <p:spPr>
          <a:xfrm>
            <a:off x="6600825" y="1971675"/>
            <a:ext cx="2028825" cy="323850"/>
          </a:xfrm>
          <a:prstGeom prst="rect">
            <a:avLst/>
          </a:prstGeom>
          <a:noFill/>
          <a:ln w="0">
            <a:noFill/>
            <a:prstDash val="solid"/>
          </a:ln>
        </p:spPr>
        <p:txBody>
          <a:bodyPr wrap="square" lIns="0" tIns="0" rIns="0" bIns="0" anchor="ctr">
            <a:normAutofit/>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SQL WHERE</a:t>
            </a:r>
          </a:p>
        </p:txBody>
      </p:sp>
      <p:sp>
        <p:nvSpPr>
          <p:cNvPr id="12" name="Rechteck 11">
            <a:extLst>
              <a:ext uri="{FF2B5EF4-FFF2-40B4-BE49-F238E27FC236}">
                <a16:creationId xmlns:a16="http://schemas.microsoft.com/office/drawing/2014/main" id="{200AD4FE-935D-4F7A-9932-CE17EF8D4F62}"/>
              </a:ext>
            </a:extLst>
          </p:cNvPr>
          <p:cNvSpPr>
            <a:spLocks noGrp="1"/>
          </p:cNvSpPr>
          <p:nvPr/>
        </p:nvSpPr>
        <p:spPr>
          <a:xfrm>
            <a:off x="9353550" y="1857375"/>
            <a:ext cx="2333625" cy="1209675"/>
          </a:xfrm>
          <a:prstGeom prst="rect">
            <a:avLst/>
          </a:prstGeom>
          <a:solidFill>
            <a:srgbClr val="FFFFFF"/>
          </a:solidFill>
          <a:ln w="9525">
            <a:solidFill>
              <a:srgbClr val="D6D4CD"/>
            </a:solidFill>
            <a:prstDash val="solid"/>
          </a:ln>
        </p:spPr>
        <p:txBody>
          <a:bodyPr/>
          <a:lstStyle/>
          <a:p>
            <a:endParaRPr lang="de-AT" noProof="0" dirty="0"/>
          </a:p>
        </p:txBody>
      </p:sp>
      <p:sp>
        <p:nvSpPr>
          <p:cNvPr id="13" name="Rechteck 12">
            <a:extLst>
              <a:ext uri="{FF2B5EF4-FFF2-40B4-BE49-F238E27FC236}">
                <a16:creationId xmlns:a16="http://schemas.microsoft.com/office/drawing/2014/main" id="{88A929C4-E7F9-4856-81ED-4D69054564E0}"/>
              </a:ext>
            </a:extLst>
          </p:cNvPr>
          <p:cNvSpPr>
            <a:spLocks noGrp="1"/>
          </p:cNvSpPr>
          <p:nvPr/>
        </p:nvSpPr>
        <p:spPr>
          <a:xfrm>
            <a:off x="9505950" y="1971675"/>
            <a:ext cx="2028825" cy="323850"/>
          </a:xfrm>
          <a:prstGeom prst="rect">
            <a:avLst/>
          </a:prstGeom>
          <a:noFill/>
          <a:ln w="0">
            <a:noFill/>
            <a:prstDash val="solid"/>
          </a:ln>
        </p:spPr>
        <p:txBody>
          <a:bodyPr wrap="square" lIns="0" tIns="0" rIns="0" bIns="0" anchor="ctr">
            <a:normAutofit fontScale="83789" lnSpcReduction="10000"/>
          </a:bodyPr>
          <a:lstStyle>
            <a:defPPr algn="l">
              <a:defRPr sz="1725" b="1">
                <a:solidFill>
                  <a:srgbClr val="202935"/>
                </a:solidFill>
                <a:latin typeface="Arial"/>
                <a:ea typeface="Arial"/>
                <a:cs typeface="Arial"/>
              </a:defRPr>
            </a:defPPr>
            <a:lvl1pPr algn="l">
              <a:defRPr sz="1725" b="1">
                <a:solidFill>
                  <a:srgbClr val="202935"/>
                </a:solidFill>
                <a:latin typeface="Arial"/>
                <a:ea typeface="Arial"/>
                <a:cs typeface="Arial"/>
              </a:defRPr>
            </a:lvl1pPr>
            <a:lvl2pPr algn="l">
              <a:defRPr sz="1725" b="1">
                <a:solidFill>
                  <a:srgbClr val="202935"/>
                </a:solidFill>
                <a:latin typeface="Arial"/>
                <a:ea typeface="Arial"/>
                <a:cs typeface="Arial"/>
              </a:defRPr>
            </a:lvl2pPr>
            <a:lvl3pPr algn="l">
              <a:defRPr sz="1725" b="1">
                <a:solidFill>
                  <a:srgbClr val="202935"/>
                </a:solidFill>
                <a:latin typeface="Arial"/>
                <a:ea typeface="Arial"/>
                <a:cs typeface="Arial"/>
              </a:defRPr>
            </a:lvl3pPr>
            <a:lvl4pPr algn="l">
              <a:defRPr sz="1725" b="1">
                <a:solidFill>
                  <a:srgbClr val="202935"/>
                </a:solidFill>
                <a:latin typeface="Arial"/>
                <a:ea typeface="Arial"/>
                <a:cs typeface="Arial"/>
              </a:defRPr>
            </a:lvl4pPr>
            <a:lvl5pPr algn="l">
              <a:defRPr sz="1725" b="1">
                <a:solidFill>
                  <a:srgbClr val="202935"/>
                </a:solidFill>
                <a:latin typeface="Arial"/>
                <a:ea typeface="Arial"/>
                <a:cs typeface="Arial"/>
              </a:defRPr>
            </a:lvl5pPr>
            <a:lvl6pPr algn="l">
              <a:defRPr sz="1725" b="1">
                <a:solidFill>
                  <a:srgbClr val="202935"/>
                </a:solidFill>
                <a:latin typeface="Arial"/>
                <a:ea typeface="Arial"/>
                <a:cs typeface="Arial"/>
              </a:defRPr>
            </a:lvl6pPr>
            <a:lvl7pPr algn="l">
              <a:defRPr sz="1725" b="1">
                <a:solidFill>
                  <a:srgbClr val="202935"/>
                </a:solidFill>
                <a:latin typeface="Arial"/>
                <a:ea typeface="Arial"/>
                <a:cs typeface="Arial"/>
              </a:defRPr>
            </a:lvl7pPr>
            <a:lvl8pPr algn="l">
              <a:defRPr sz="1725" b="1">
                <a:solidFill>
                  <a:srgbClr val="202935"/>
                </a:solidFill>
                <a:latin typeface="Arial"/>
                <a:ea typeface="Arial"/>
                <a:cs typeface="Arial"/>
              </a:defRPr>
            </a:lvl8pPr>
            <a:lvl9pPr algn="l">
              <a:defRPr sz="1725" b="1">
                <a:solidFill>
                  <a:srgbClr val="202935"/>
                </a:solidFill>
                <a:latin typeface="Arial"/>
                <a:ea typeface="Arial"/>
                <a:cs typeface="Arial"/>
              </a:defRPr>
            </a:lvl9pPr>
          </a:lstStyle>
          <a:p>
            <a:pPr algn="l">
              <a:defRPr sz="1725" b="1">
                <a:solidFill>
                  <a:srgbClr val="202935"/>
                </a:solidFill>
                <a:latin typeface="Arial"/>
                <a:ea typeface="Arial"/>
                <a:cs typeface="Arial"/>
              </a:defRPr>
            </a:pPr>
            <a:r>
              <a:rPr lang="de-AT" sz="1725" b="1" noProof="0" dirty="0">
                <a:solidFill>
                  <a:srgbClr val="202935"/>
                </a:solidFill>
                <a:latin typeface="Arial"/>
                <a:ea typeface="Arial"/>
                <a:cs typeface="Arial"/>
              </a:rPr>
              <a:t>zusätzliche Dokumente</a:t>
            </a:r>
          </a:p>
        </p:txBody>
      </p:sp>
      <p:sp>
        <p:nvSpPr>
          <p:cNvPr id="17" name="Rechteck 16">
            <a:extLst>
              <a:ext uri="{FF2B5EF4-FFF2-40B4-BE49-F238E27FC236}">
                <a16:creationId xmlns:a16="http://schemas.microsoft.com/office/drawing/2014/main" id="{4BABC1EE-841B-483C-AA6F-5B3C9E6038C8}"/>
              </a:ext>
            </a:extLst>
          </p:cNvPr>
          <p:cNvSpPr>
            <a:spLocks noGrp="1"/>
          </p:cNvSpPr>
          <p:nvPr/>
        </p:nvSpPr>
        <p:spPr>
          <a:xfrm>
            <a:off x="714375" y="3800475"/>
            <a:ext cx="10267950" cy="714375"/>
          </a:xfrm>
          <a:prstGeom prst="rect">
            <a:avLst/>
          </a:prstGeom>
          <a:noFill/>
          <a:ln w="0">
            <a:noFill/>
            <a:prstDash val="solid"/>
          </a:ln>
        </p:spPr>
        <p:txBody>
          <a:bodyPr wrap="square" lIns="0" tIns="0" rIns="0" bIns="0" anchor="ctr">
            <a:normAutofit/>
          </a:bodyPr>
          <a:lstStyle>
            <a:defPPr algn="l">
              <a:defRPr sz="2325" b="1">
                <a:solidFill>
                  <a:srgbClr val="202935"/>
                </a:solidFill>
                <a:latin typeface="Arial"/>
                <a:ea typeface="Arial"/>
                <a:cs typeface="Arial"/>
              </a:defRPr>
            </a:defPPr>
            <a:lvl1pPr algn="l">
              <a:defRPr sz="2325" b="1">
                <a:solidFill>
                  <a:srgbClr val="202935"/>
                </a:solidFill>
                <a:latin typeface="Arial"/>
                <a:ea typeface="Arial"/>
                <a:cs typeface="Arial"/>
              </a:defRPr>
            </a:lvl1pPr>
            <a:lvl2pPr algn="l">
              <a:defRPr sz="2325" b="1">
                <a:solidFill>
                  <a:srgbClr val="202935"/>
                </a:solidFill>
                <a:latin typeface="Arial"/>
                <a:ea typeface="Arial"/>
                <a:cs typeface="Arial"/>
              </a:defRPr>
            </a:lvl2pPr>
            <a:lvl3pPr algn="l">
              <a:defRPr sz="2325" b="1">
                <a:solidFill>
                  <a:srgbClr val="202935"/>
                </a:solidFill>
                <a:latin typeface="Arial"/>
                <a:ea typeface="Arial"/>
                <a:cs typeface="Arial"/>
              </a:defRPr>
            </a:lvl3pPr>
            <a:lvl4pPr algn="l">
              <a:defRPr sz="2325" b="1">
                <a:solidFill>
                  <a:srgbClr val="202935"/>
                </a:solidFill>
                <a:latin typeface="Arial"/>
                <a:ea typeface="Arial"/>
                <a:cs typeface="Arial"/>
              </a:defRPr>
            </a:lvl4pPr>
            <a:lvl5pPr algn="l">
              <a:defRPr sz="2325" b="1">
                <a:solidFill>
                  <a:srgbClr val="202935"/>
                </a:solidFill>
                <a:latin typeface="Arial"/>
                <a:ea typeface="Arial"/>
                <a:cs typeface="Arial"/>
              </a:defRPr>
            </a:lvl5pPr>
            <a:lvl6pPr algn="l">
              <a:defRPr sz="2325" b="1">
                <a:solidFill>
                  <a:srgbClr val="202935"/>
                </a:solidFill>
                <a:latin typeface="Arial"/>
                <a:ea typeface="Arial"/>
                <a:cs typeface="Arial"/>
              </a:defRPr>
            </a:lvl6pPr>
            <a:lvl7pPr algn="l">
              <a:defRPr sz="2325" b="1">
                <a:solidFill>
                  <a:srgbClr val="202935"/>
                </a:solidFill>
                <a:latin typeface="Arial"/>
                <a:ea typeface="Arial"/>
                <a:cs typeface="Arial"/>
              </a:defRPr>
            </a:lvl7pPr>
            <a:lvl8pPr algn="l">
              <a:defRPr sz="2325" b="1">
                <a:solidFill>
                  <a:srgbClr val="202935"/>
                </a:solidFill>
                <a:latin typeface="Arial"/>
                <a:ea typeface="Arial"/>
                <a:cs typeface="Arial"/>
              </a:defRPr>
            </a:lvl8pPr>
            <a:lvl9pPr algn="l">
              <a:defRPr sz="2325" b="1">
                <a:solidFill>
                  <a:srgbClr val="202935"/>
                </a:solidFill>
                <a:latin typeface="Arial"/>
                <a:ea typeface="Arial"/>
                <a:cs typeface="Arial"/>
              </a:defRPr>
            </a:lvl9pPr>
          </a:lstStyle>
          <a:p>
            <a:pPr algn="l">
              <a:defRPr sz="2325" b="1">
                <a:solidFill>
                  <a:srgbClr val="202935"/>
                </a:solidFill>
                <a:latin typeface="Arial"/>
                <a:ea typeface="Arial"/>
                <a:cs typeface="Arial"/>
              </a:defRPr>
            </a:pPr>
            <a:r>
              <a:rPr lang="de-AT" sz="2325" b="1" noProof="0" dirty="0">
                <a:solidFill>
                  <a:srgbClr val="202935"/>
                </a:solidFill>
                <a:latin typeface="Arial"/>
                <a:ea typeface="Arial"/>
                <a:cs typeface="Arial"/>
              </a:rPr>
              <a:t>Ein String-Wert wird ohne sichere Trennung in SQL eingebaut.</a:t>
            </a:r>
          </a:p>
        </p:txBody>
      </p:sp>
      <p:sp>
        <p:nvSpPr>
          <p:cNvPr id="18" name="Rechteck 17">
            <a:extLst>
              <a:ext uri="{FF2B5EF4-FFF2-40B4-BE49-F238E27FC236}">
                <a16:creationId xmlns:a16="http://schemas.microsoft.com/office/drawing/2014/main" id="{9DF16A62-227A-4564-B170-C64C65AE3200}"/>
              </a:ext>
            </a:extLst>
          </p:cNvPr>
          <p:cNvSpPr>
            <a:spLocks noGrp="1"/>
          </p:cNvSpPr>
          <p:nvPr/>
        </p:nvSpPr>
        <p:spPr>
          <a:xfrm>
            <a:off x="714375" y="4914900"/>
            <a:ext cx="10267950" cy="628650"/>
          </a:xfrm>
          <a:prstGeom prst="rect">
            <a:avLst/>
          </a:prstGeom>
          <a:noFill/>
          <a:ln w="0">
            <a:noFill/>
            <a:prstDash val="solid"/>
          </a:ln>
        </p:spPr>
        <p:txBody>
          <a:bodyPr wrap="square" lIns="0" tIns="0" rIns="0" bIns="0" anchor="ctr">
            <a:normAutofit/>
          </a:bodyPr>
          <a:lstStyle>
            <a:defPPr algn="l">
              <a:defRPr sz="1650" b="1">
                <a:solidFill>
                  <a:srgbClr val="C55A2B"/>
                </a:solidFill>
                <a:latin typeface="Arial"/>
                <a:ea typeface="Arial"/>
                <a:cs typeface="Arial"/>
              </a:defRPr>
            </a:defPPr>
            <a:lvl1pPr algn="l">
              <a:defRPr sz="1650" b="1">
                <a:solidFill>
                  <a:srgbClr val="C55A2B"/>
                </a:solidFill>
                <a:latin typeface="Arial"/>
                <a:ea typeface="Arial"/>
                <a:cs typeface="Arial"/>
              </a:defRPr>
            </a:lvl1pPr>
            <a:lvl2pPr algn="l">
              <a:defRPr sz="1650" b="1">
                <a:solidFill>
                  <a:srgbClr val="C55A2B"/>
                </a:solidFill>
                <a:latin typeface="Arial"/>
                <a:ea typeface="Arial"/>
                <a:cs typeface="Arial"/>
              </a:defRPr>
            </a:lvl2pPr>
            <a:lvl3pPr algn="l">
              <a:defRPr sz="1650" b="1">
                <a:solidFill>
                  <a:srgbClr val="C55A2B"/>
                </a:solidFill>
                <a:latin typeface="Arial"/>
                <a:ea typeface="Arial"/>
                <a:cs typeface="Arial"/>
              </a:defRPr>
            </a:lvl3pPr>
            <a:lvl4pPr algn="l">
              <a:defRPr sz="1650" b="1">
                <a:solidFill>
                  <a:srgbClr val="C55A2B"/>
                </a:solidFill>
                <a:latin typeface="Arial"/>
                <a:ea typeface="Arial"/>
                <a:cs typeface="Arial"/>
              </a:defRPr>
            </a:lvl4pPr>
            <a:lvl5pPr algn="l">
              <a:defRPr sz="1650" b="1">
                <a:solidFill>
                  <a:srgbClr val="C55A2B"/>
                </a:solidFill>
                <a:latin typeface="Arial"/>
                <a:ea typeface="Arial"/>
                <a:cs typeface="Arial"/>
              </a:defRPr>
            </a:lvl5pPr>
            <a:lvl6pPr algn="l">
              <a:defRPr sz="1650" b="1">
                <a:solidFill>
                  <a:srgbClr val="C55A2B"/>
                </a:solidFill>
                <a:latin typeface="Arial"/>
                <a:ea typeface="Arial"/>
                <a:cs typeface="Arial"/>
              </a:defRPr>
            </a:lvl6pPr>
            <a:lvl7pPr algn="l">
              <a:defRPr sz="1650" b="1">
                <a:solidFill>
                  <a:srgbClr val="C55A2B"/>
                </a:solidFill>
                <a:latin typeface="Arial"/>
                <a:ea typeface="Arial"/>
                <a:cs typeface="Arial"/>
              </a:defRPr>
            </a:lvl7pPr>
            <a:lvl8pPr algn="l">
              <a:defRPr sz="1650" b="1">
                <a:solidFill>
                  <a:srgbClr val="C55A2B"/>
                </a:solidFill>
                <a:latin typeface="Arial"/>
                <a:ea typeface="Arial"/>
                <a:cs typeface="Arial"/>
              </a:defRPr>
            </a:lvl8pPr>
            <a:lvl9pPr algn="l">
              <a:defRPr sz="1650" b="1">
                <a:solidFill>
                  <a:srgbClr val="C55A2B"/>
                </a:solidFill>
                <a:latin typeface="Arial"/>
                <a:ea typeface="Arial"/>
                <a:cs typeface="Arial"/>
              </a:defRPr>
            </a:lvl9pPr>
          </a:lstStyle>
          <a:p>
            <a:pPr algn="l">
              <a:defRPr sz="1650" b="1">
                <a:solidFill>
                  <a:srgbClr val="C55A2B"/>
                </a:solidFill>
                <a:latin typeface="Arial"/>
                <a:ea typeface="Arial"/>
                <a:cs typeface="Arial"/>
              </a:defRPr>
            </a:pPr>
            <a:r>
              <a:rPr lang="de-AT" sz="1650" b="1" noProof="0" dirty="0">
                <a:solidFill>
                  <a:srgbClr val="C55A2B"/>
                </a:solidFill>
                <a:latin typeface="Arial"/>
                <a:ea typeface="Arial"/>
                <a:cs typeface="Arial"/>
              </a:rPr>
              <a:t>Live Demo 3 · normaler Filter ↔ geänderter Filter</a:t>
            </a:r>
          </a:p>
        </p:txBody>
      </p:sp>
      <p:sp>
        <p:nvSpPr>
          <p:cNvPr id="19" name="Rechteck 18">
            <a:extLst>
              <a:ext uri="{FF2B5EF4-FFF2-40B4-BE49-F238E27FC236}">
                <a16:creationId xmlns:a16="http://schemas.microsoft.com/office/drawing/2014/main" id="{425EDC3F-DDD2-4B29-B7BF-392C7125590F}"/>
              </a:ext>
            </a:extLst>
          </p:cNvPr>
          <p:cNvSpPr>
            <a:spLocks noGrp="1"/>
          </p:cNvSpPr>
          <p:nvPr/>
        </p:nvSpPr>
        <p:spPr>
          <a:xfrm>
            <a:off x="714375" y="5619750"/>
            <a:ext cx="10267950" cy="295275"/>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Spring AI </a:t>
            </a:r>
            <a:r>
              <a:rPr lang="de-AT" sz="1275" b="0" noProof="0" dirty="0" err="1">
                <a:solidFill>
                  <a:srgbClr val="5D6872"/>
                </a:solidFill>
                <a:latin typeface="Arial"/>
                <a:ea typeface="Arial"/>
                <a:cs typeface="Arial"/>
              </a:rPr>
              <a:t>MariaDB</a:t>
            </a:r>
            <a:r>
              <a:rPr lang="de-AT" sz="1275" b="0" noProof="0" dirty="0">
                <a:solidFill>
                  <a:srgbClr val="5D6872"/>
                </a:solidFill>
                <a:latin typeface="Arial"/>
                <a:ea typeface="Arial"/>
                <a:cs typeface="Arial"/>
              </a:rPr>
              <a:t> 1.0.3 · CVE-2026-22730</a:t>
            </a:r>
          </a:p>
        </p:txBody>
      </p:sp>
    </p:spTree>
    <p:extLst>
      <p:ext uri="{BB962C8B-B14F-4D97-AF65-F5344CB8AC3E}">
        <p14:creationId xmlns:p14="http://schemas.microsoft.com/office/powerpoint/2010/main" val="530038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13" name="Rechteck 12">
            <a:extLst>
              <a:ext uri="{FF2B5EF4-FFF2-40B4-BE49-F238E27FC236}">
                <a16:creationId xmlns:a16="http://schemas.microsoft.com/office/drawing/2014/main" id="{41D50B52-8E74-4D5A-AE75-8B150FB6DFC0}"/>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B80482E4-F0CD-4C5C-81B2-E896ECC4FC7A}"/>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Experiment 4: Login Timing und OTP</a:t>
            </a:r>
          </a:p>
        </p:txBody>
      </p:sp>
      <p:sp>
        <p:nvSpPr>
          <p:cNvPr id="3" name="Rechteck 2">
            <a:extLst>
              <a:ext uri="{FF2B5EF4-FFF2-40B4-BE49-F238E27FC236}">
                <a16:creationId xmlns:a16="http://schemas.microsoft.com/office/drawing/2014/main" id="{47D609A7-1C43-4D57-BDBA-142E5F2C3A9D}"/>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CC3AC164-29AD-4B1A-ACCF-A66760C6E955}"/>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159A89C3-9B11-4850-B43C-64F6A8E275A6}"/>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15</a:t>
            </a:r>
          </a:p>
        </p:txBody>
      </p:sp>
      <p:sp>
        <p:nvSpPr>
          <p:cNvPr id="6" name="Gerader Verbinder 5">
            <a:extLst>
              <a:ext uri="{FF2B5EF4-FFF2-40B4-BE49-F238E27FC236}">
                <a16:creationId xmlns:a16="http://schemas.microsoft.com/office/drawing/2014/main" id="{9F809933-13BD-45F0-8335-06313AEB23CA}"/>
              </a:ext>
            </a:extLst>
          </p:cNvPr>
          <p:cNvSpPr>
            <a:spLocks noGrp="1"/>
          </p:cNvSpPr>
          <p:nvPr/>
        </p:nvSpPr>
        <p:spPr>
          <a:xfrm>
            <a:off x="6067425" y="1619250"/>
            <a:ext cx="0" cy="3495675"/>
          </a:xfrm>
          <a:prstGeom prst="line">
            <a:avLst/>
          </a:prstGeom>
          <a:noFill/>
          <a:ln w="19050">
            <a:solidFill>
              <a:srgbClr val="D6D4CD"/>
            </a:solidFill>
            <a:prstDash val="solid"/>
          </a:ln>
        </p:spPr>
        <p:txBody>
          <a:bodyPr/>
          <a:lstStyle/>
          <a:p>
            <a:endParaRPr lang="de-AT" noProof="0" dirty="0"/>
          </a:p>
        </p:txBody>
      </p:sp>
      <p:sp>
        <p:nvSpPr>
          <p:cNvPr id="7" name="Rechteck 6">
            <a:extLst>
              <a:ext uri="{FF2B5EF4-FFF2-40B4-BE49-F238E27FC236}">
                <a16:creationId xmlns:a16="http://schemas.microsoft.com/office/drawing/2014/main" id="{805A933E-DA54-46C2-9FB6-6A727A71E5EE}"/>
              </a:ext>
            </a:extLst>
          </p:cNvPr>
          <p:cNvSpPr>
            <a:spLocks noGrp="1"/>
          </p:cNvSpPr>
          <p:nvPr/>
        </p:nvSpPr>
        <p:spPr>
          <a:xfrm>
            <a:off x="742950" y="1552575"/>
            <a:ext cx="4667250" cy="257175"/>
          </a:xfrm>
          <a:prstGeom prst="rect">
            <a:avLst/>
          </a:prstGeom>
          <a:noFill/>
          <a:ln w="0">
            <a:noFill/>
            <a:prstDash val="solid"/>
          </a:ln>
        </p:spPr>
        <p:txBody>
          <a:bodyPr wrap="square" lIns="0" tIns="0" rIns="0" bIns="0" anchor="ctr">
            <a:normAutofit/>
          </a:bodyPr>
          <a:lstStyle>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a:pPr algn="l">
              <a:defRPr sz="1125" b="1">
                <a:solidFill>
                  <a:srgbClr val="C55A2B"/>
                </a:solidFill>
                <a:latin typeface="Arial"/>
                <a:ea typeface="Arial"/>
                <a:cs typeface="Arial"/>
              </a:defRPr>
            </a:pPr>
            <a:r>
              <a:rPr lang="de-AT" sz="1125" b="1" noProof="0" dirty="0">
                <a:solidFill>
                  <a:srgbClr val="C55A2B"/>
                </a:solidFill>
                <a:latin typeface="Arial"/>
                <a:ea typeface="Arial"/>
                <a:cs typeface="Arial"/>
              </a:rPr>
              <a:t>LOGIN TIMING</a:t>
            </a:r>
          </a:p>
        </p:txBody>
      </p:sp>
      <p:sp>
        <p:nvSpPr>
          <p:cNvPr id="8" name="Rechteck 7">
            <a:extLst>
              <a:ext uri="{FF2B5EF4-FFF2-40B4-BE49-F238E27FC236}">
                <a16:creationId xmlns:a16="http://schemas.microsoft.com/office/drawing/2014/main" id="{8D32DCCB-7600-4041-9A1C-03F15473F79A}"/>
              </a:ext>
            </a:extLst>
          </p:cNvPr>
          <p:cNvSpPr>
            <a:spLocks noGrp="1"/>
          </p:cNvSpPr>
          <p:nvPr/>
        </p:nvSpPr>
        <p:spPr>
          <a:xfrm>
            <a:off x="742950" y="2047875"/>
            <a:ext cx="4857750" cy="1704975"/>
          </a:xfrm>
          <a:prstGeom prst="rect">
            <a:avLst/>
          </a:prstGeom>
          <a:noFill/>
          <a:ln w="0">
            <a:noFill/>
            <a:prstDash val="solid"/>
          </a:ln>
        </p:spPr>
        <p:txBody>
          <a:bodyPr wrap="square" lIns="0" tIns="0" rIns="0" bIns="0" anchor="ctr">
            <a:normAutofit/>
          </a:bodyPr>
          <a:lstStyle>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a:pPr algn="l">
              <a:defRPr sz="2100" b="0">
                <a:solidFill>
                  <a:srgbClr val="202935"/>
                </a:solidFill>
                <a:latin typeface="Arial"/>
                <a:ea typeface="Arial"/>
                <a:cs typeface="Arial"/>
              </a:defRPr>
            </a:pPr>
            <a:r>
              <a:rPr lang="de-AT" sz="2100" b="0" noProof="0" dirty="0">
                <a:solidFill>
                  <a:srgbClr val="202935"/>
                </a:solidFill>
                <a:latin typeface="Arial"/>
                <a:ea typeface="Arial"/>
                <a:cs typeface="Arial"/>
              </a:rPr>
              <a:t>Bekannter User: </a:t>
            </a:r>
            <a:r>
              <a:rPr lang="de-AT" sz="2100" b="0" noProof="0" dirty="0" err="1">
                <a:solidFill>
                  <a:srgbClr val="202935"/>
                </a:solidFill>
                <a:latin typeface="Arial"/>
                <a:ea typeface="Arial"/>
                <a:cs typeface="Arial"/>
              </a:rPr>
              <a:t>BCrypt</a:t>
            </a:r>
            <a:r>
              <a:rPr lang="de-AT" sz="2100" b="0" noProof="0" dirty="0">
                <a:solidFill>
                  <a:srgbClr val="202935"/>
                </a:solidFill>
                <a:latin typeface="Arial"/>
                <a:ea typeface="Arial"/>
                <a:cs typeface="Arial"/>
              </a:rPr>
              <a:t> läuft.</a:t>
            </a:r>
          </a:p>
          <a:p>
            <a:pPr algn="l">
              <a:defRPr sz="2100" b="0">
                <a:solidFill>
                  <a:srgbClr val="202935"/>
                </a:solidFill>
                <a:latin typeface="Arial"/>
                <a:ea typeface="Arial"/>
                <a:cs typeface="Arial"/>
              </a:defRPr>
            </a:pPr>
            <a:r>
              <a:rPr lang="de-AT" sz="2100" b="0" noProof="0" dirty="0">
                <a:solidFill>
                  <a:srgbClr val="202935"/>
                </a:solidFill>
                <a:latin typeface="Arial"/>
                <a:ea typeface="Arial"/>
                <a:cs typeface="Arial"/>
              </a:rPr>
              <a:t>Unbekannter User: schnelle Antwort.</a:t>
            </a:r>
          </a:p>
        </p:txBody>
      </p:sp>
      <p:sp>
        <p:nvSpPr>
          <p:cNvPr id="9" name="Rechteck 8">
            <a:extLst>
              <a:ext uri="{FF2B5EF4-FFF2-40B4-BE49-F238E27FC236}">
                <a16:creationId xmlns:a16="http://schemas.microsoft.com/office/drawing/2014/main" id="{8A63B503-72FA-43EC-87B3-6C4D168EC6F9}"/>
              </a:ext>
            </a:extLst>
          </p:cNvPr>
          <p:cNvSpPr>
            <a:spLocks noGrp="1"/>
          </p:cNvSpPr>
          <p:nvPr/>
        </p:nvSpPr>
        <p:spPr>
          <a:xfrm>
            <a:off x="6486525" y="1552575"/>
            <a:ext cx="4619625" cy="257175"/>
          </a:xfrm>
          <a:prstGeom prst="rect">
            <a:avLst/>
          </a:prstGeom>
          <a:noFill/>
          <a:ln w="0">
            <a:noFill/>
            <a:prstDash val="solid"/>
          </a:ln>
        </p:spPr>
        <p:txBody>
          <a:bodyPr wrap="square" lIns="0" tIns="0" rIns="0" bIns="0" anchor="ctr">
            <a:normAutofit/>
          </a:bodyPr>
          <a:lstStyle>
            <a:defPPr algn="l">
              <a:defRPr sz="1125" b="1">
                <a:solidFill>
                  <a:srgbClr val="C55A2B"/>
                </a:solidFill>
                <a:latin typeface="Arial"/>
                <a:ea typeface="Arial"/>
                <a:cs typeface="Arial"/>
              </a:defRPr>
            </a:defPPr>
            <a:lvl1pPr algn="l">
              <a:defRPr sz="1125" b="1">
                <a:solidFill>
                  <a:srgbClr val="C55A2B"/>
                </a:solidFill>
                <a:latin typeface="Arial"/>
                <a:ea typeface="Arial"/>
                <a:cs typeface="Arial"/>
              </a:defRPr>
            </a:lvl1pPr>
            <a:lvl2pPr algn="l">
              <a:defRPr sz="1125" b="1">
                <a:solidFill>
                  <a:srgbClr val="C55A2B"/>
                </a:solidFill>
                <a:latin typeface="Arial"/>
                <a:ea typeface="Arial"/>
                <a:cs typeface="Arial"/>
              </a:defRPr>
            </a:lvl2pPr>
            <a:lvl3pPr algn="l">
              <a:defRPr sz="1125" b="1">
                <a:solidFill>
                  <a:srgbClr val="C55A2B"/>
                </a:solidFill>
                <a:latin typeface="Arial"/>
                <a:ea typeface="Arial"/>
                <a:cs typeface="Arial"/>
              </a:defRPr>
            </a:lvl3pPr>
            <a:lvl4pPr algn="l">
              <a:defRPr sz="1125" b="1">
                <a:solidFill>
                  <a:srgbClr val="C55A2B"/>
                </a:solidFill>
                <a:latin typeface="Arial"/>
                <a:ea typeface="Arial"/>
                <a:cs typeface="Arial"/>
              </a:defRPr>
            </a:lvl4pPr>
            <a:lvl5pPr algn="l">
              <a:defRPr sz="1125" b="1">
                <a:solidFill>
                  <a:srgbClr val="C55A2B"/>
                </a:solidFill>
                <a:latin typeface="Arial"/>
                <a:ea typeface="Arial"/>
                <a:cs typeface="Arial"/>
              </a:defRPr>
            </a:lvl5pPr>
            <a:lvl6pPr algn="l">
              <a:defRPr sz="1125" b="1">
                <a:solidFill>
                  <a:srgbClr val="C55A2B"/>
                </a:solidFill>
                <a:latin typeface="Arial"/>
                <a:ea typeface="Arial"/>
                <a:cs typeface="Arial"/>
              </a:defRPr>
            </a:lvl6pPr>
            <a:lvl7pPr algn="l">
              <a:defRPr sz="1125" b="1">
                <a:solidFill>
                  <a:srgbClr val="C55A2B"/>
                </a:solidFill>
                <a:latin typeface="Arial"/>
                <a:ea typeface="Arial"/>
                <a:cs typeface="Arial"/>
              </a:defRPr>
            </a:lvl7pPr>
            <a:lvl8pPr algn="l">
              <a:defRPr sz="1125" b="1">
                <a:solidFill>
                  <a:srgbClr val="C55A2B"/>
                </a:solidFill>
                <a:latin typeface="Arial"/>
                <a:ea typeface="Arial"/>
                <a:cs typeface="Arial"/>
              </a:defRPr>
            </a:lvl8pPr>
            <a:lvl9pPr algn="l">
              <a:defRPr sz="1125" b="1">
                <a:solidFill>
                  <a:srgbClr val="C55A2B"/>
                </a:solidFill>
                <a:latin typeface="Arial"/>
                <a:ea typeface="Arial"/>
                <a:cs typeface="Arial"/>
              </a:defRPr>
            </a:lvl9pPr>
          </a:lstStyle>
          <a:p>
            <a:pPr algn="l">
              <a:defRPr sz="1125" b="1">
                <a:solidFill>
                  <a:srgbClr val="C55A2B"/>
                </a:solidFill>
                <a:latin typeface="Arial"/>
                <a:ea typeface="Arial"/>
                <a:cs typeface="Arial"/>
              </a:defRPr>
            </a:pPr>
            <a:r>
              <a:rPr lang="de-AT" sz="1125" b="1" noProof="0" dirty="0">
                <a:solidFill>
                  <a:srgbClr val="C55A2B"/>
                </a:solidFill>
                <a:latin typeface="Arial"/>
                <a:ea typeface="Arial"/>
                <a:cs typeface="Arial"/>
              </a:rPr>
              <a:t>OTP</a:t>
            </a:r>
          </a:p>
        </p:txBody>
      </p:sp>
      <p:sp>
        <p:nvSpPr>
          <p:cNvPr id="10" name="Rechteck 9">
            <a:extLst>
              <a:ext uri="{FF2B5EF4-FFF2-40B4-BE49-F238E27FC236}">
                <a16:creationId xmlns:a16="http://schemas.microsoft.com/office/drawing/2014/main" id="{9DD0E97D-5E73-4F0B-9BA6-AECF11FDD7EE}"/>
              </a:ext>
            </a:extLst>
          </p:cNvPr>
          <p:cNvSpPr>
            <a:spLocks noGrp="1"/>
          </p:cNvSpPr>
          <p:nvPr/>
        </p:nvSpPr>
        <p:spPr>
          <a:xfrm>
            <a:off x="6486525" y="2047875"/>
            <a:ext cx="4838700" cy="1819275"/>
          </a:xfrm>
          <a:prstGeom prst="rect">
            <a:avLst/>
          </a:prstGeom>
          <a:noFill/>
          <a:ln w="0">
            <a:noFill/>
            <a:prstDash val="solid"/>
          </a:ln>
        </p:spPr>
        <p:txBody>
          <a:bodyPr wrap="square" lIns="0" tIns="0" rIns="0" bIns="0" anchor="ctr">
            <a:normAutofit/>
          </a:bodyPr>
          <a:lstStyle>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a:pPr algn="l">
              <a:defRPr sz="2100" b="0">
                <a:solidFill>
                  <a:srgbClr val="202935"/>
                </a:solidFill>
                <a:latin typeface="Arial"/>
                <a:ea typeface="Arial"/>
                <a:cs typeface="Arial"/>
              </a:defRPr>
            </a:pPr>
            <a:r>
              <a:rPr lang="de-AT" sz="2100" b="0" noProof="0" dirty="0">
                <a:solidFill>
                  <a:srgbClr val="202935"/>
                </a:solidFill>
                <a:latin typeface="Arial"/>
                <a:ea typeface="Arial"/>
                <a:cs typeface="Arial"/>
              </a:rPr>
              <a:t>4 Ziffern.</a:t>
            </a:r>
          </a:p>
          <a:p>
            <a:pPr algn="l">
              <a:defRPr sz="2100" b="0">
                <a:solidFill>
                  <a:srgbClr val="202935"/>
                </a:solidFill>
                <a:latin typeface="Arial"/>
                <a:ea typeface="Arial"/>
                <a:cs typeface="Arial"/>
              </a:defRPr>
            </a:pPr>
            <a:r>
              <a:rPr lang="de-AT" sz="2100" b="0" noProof="0" dirty="0">
                <a:solidFill>
                  <a:srgbClr val="202935"/>
                </a:solidFill>
                <a:latin typeface="Arial"/>
                <a:ea typeface="Arial"/>
                <a:cs typeface="Arial"/>
              </a:rPr>
              <a:t>Keine Rate Limit.</a:t>
            </a:r>
          </a:p>
          <a:p>
            <a:pPr algn="l">
              <a:defRPr sz="2100" b="0">
                <a:solidFill>
                  <a:srgbClr val="202935"/>
                </a:solidFill>
                <a:latin typeface="Arial"/>
                <a:ea typeface="Arial"/>
                <a:cs typeface="Arial"/>
              </a:defRPr>
            </a:pPr>
            <a:r>
              <a:rPr lang="de-AT" sz="2100" b="0" noProof="0" dirty="0">
                <a:solidFill>
                  <a:srgbClr val="202935"/>
                </a:solidFill>
                <a:latin typeface="Arial"/>
                <a:ea typeface="Arial"/>
                <a:cs typeface="Arial"/>
              </a:rPr>
              <a:t>Gültiger Code → JWT.</a:t>
            </a:r>
          </a:p>
        </p:txBody>
      </p:sp>
      <p:sp>
        <p:nvSpPr>
          <p:cNvPr id="11" name="Rechteck 10">
            <a:extLst>
              <a:ext uri="{FF2B5EF4-FFF2-40B4-BE49-F238E27FC236}">
                <a16:creationId xmlns:a16="http://schemas.microsoft.com/office/drawing/2014/main" id="{A0A0108E-8275-493D-A25C-D2D94C0A28EB}"/>
              </a:ext>
            </a:extLst>
          </p:cNvPr>
          <p:cNvSpPr>
            <a:spLocks noGrp="1"/>
          </p:cNvSpPr>
          <p:nvPr/>
        </p:nvSpPr>
        <p:spPr>
          <a:xfrm>
            <a:off x="742950" y="5248275"/>
            <a:ext cx="10477500" cy="647700"/>
          </a:xfrm>
          <a:prstGeom prst="rect">
            <a:avLst/>
          </a:prstGeom>
          <a:noFill/>
          <a:ln w="0">
            <a:noFill/>
            <a:prstDash val="solid"/>
          </a:ln>
        </p:spPr>
        <p:txBody>
          <a:bodyPr wrap="square" lIns="0" tIns="0" rIns="0" bIns="0" anchor="ctr">
            <a:normAutofit/>
          </a:bodyPr>
          <a:lstStyle>
            <a:defPPr algn="l">
              <a:defRPr sz="1725" b="1">
                <a:solidFill>
                  <a:srgbClr val="C55A2B"/>
                </a:solidFill>
                <a:latin typeface="Arial"/>
                <a:ea typeface="Arial"/>
                <a:cs typeface="Arial"/>
              </a:defRPr>
            </a:defPPr>
            <a:lvl1pPr algn="l">
              <a:defRPr sz="1725" b="1">
                <a:solidFill>
                  <a:srgbClr val="C55A2B"/>
                </a:solidFill>
                <a:latin typeface="Arial"/>
                <a:ea typeface="Arial"/>
                <a:cs typeface="Arial"/>
              </a:defRPr>
            </a:lvl1pPr>
            <a:lvl2pPr algn="l">
              <a:defRPr sz="1725" b="1">
                <a:solidFill>
                  <a:srgbClr val="C55A2B"/>
                </a:solidFill>
                <a:latin typeface="Arial"/>
                <a:ea typeface="Arial"/>
                <a:cs typeface="Arial"/>
              </a:defRPr>
            </a:lvl2pPr>
            <a:lvl3pPr algn="l">
              <a:defRPr sz="1725" b="1">
                <a:solidFill>
                  <a:srgbClr val="C55A2B"/>
                </a:solidFill>
                <a:latin typeface="Arial"/>
                <a:ea typeface="Arial"/>
                <a:cs typeface="Arial"/>
              </a:defRPr>
            </a:lvl3pPr>
            <a:lvl4pPr algn="l">
              <a:defRPr sz="1725" b="1">
                <a:solidFill>
                  <a:srgbClr val="C55A2B"/>
                </a:solidFill>
                <a:latin typeface="Arial"/>
                <a:ea typeface="Arial"/>
                <a:cs typeface="Arial"/>
              </a:defRPr>
            </a:lvl4pPr>
            <a:lvl5pPr algn="l">
              <a:defRPr sz="1725" b="1">
                <a:solidFill>
                  <a:srgbClr val="C55A2B"/>
                </a:solidFill>
                <a:latin typeface="Arial"/>
                <a:ea typeface="Arial"/>
                <a:cs typeface="Arial"/>
              </a:defRPr>
            </a:lvl5pPr>
            <a:lvl6pPr algn="l">
              <a:defRPr sz="1725" b="1">
                <a:solidFill>
                  <a:srgbClr val="C55A2B"/>
                </a:solidFill>
                <a:latin typeface="Arial"/>
                <a:ea typeface="Arial"/>
                <a:cs typeface="Arial"/>
              </a:defRPr>
            </a:lvl6pPr>
            <a:lvl7pPr algn="l">
              <a:defRPr sz="1725" b="1">
                <a:solidFill>
                  <a:srgbClr val="C55A2B"/>
                </a:solidFill>
                <a:latin typeface="Arial"/>
                <a:ea typeface="Arial"/>
                <a:cs typeface="Arial"/>
              </a:defRPr>
            </a:lvl7pPr>
            <a:lvl8pPr algn="l">
              <a:defRPr sz="1725" b="1">
                <a:solidFill>
                  <a:srgbClr val="C55A2B"/>
                </a:solidFill>
                <a:latin typeface="Arial"/>
                <a:ea typeface="Arial"/>
                <a:cs typeface="Arial"/>
              </a:defRPr>
            </a:lvl8pPr>
            <a:lvl9pPr algn="l">
              <a:defRPr sz="1725" b="1">
                <a:solidFill>
                  <a:srgbClr val="C55A2B"/>
                </a:solidFill>
                <a:latin typeface="Arial"/>
                <a:ea typeface="Arial"/>
                <a:cs typeface="Arial"/>
              </a:defRPr>
            </a:lvl9pPr>
          </a:lstStyle>
          <a:p>
            <a:pPr algn="l">
              <a:defRPr sz="1725" b="1">
                <a:solidFill>
                  <a:srgbClr val="C55A2B"/>
                </a:solidFill>
                <a:latin typeface="Arial"/>
                <a:ea typeface="Arial"/>
                <a:cs typeface="Arial"/>
              </a:defRPr>
            </a:pPr>
            <a:r>
              <a:rPr lang="de-AT" sz="1725" b="1" noProof="0" dirty="0">
                <a:solidFill>
                  <a:srgbClr val="C55A2B"/>
                </a:solidFill>
                <a:latin typeface="Arial"/>
                <a:ea typeface="Arial"/>
                <a:cs typeface="Arial"/>
              </a:rPr>
              <a:t>Live Demo 4 · Messung → OTP → JWT</a:t>
            </a:r>
          </a:p>
        </p:txBody>
      </p:sp>
      <p:sp>
        <p:nvSpPr>
          <p:cNvPr id="12" name="Rechteck 11">
            <a:extLst>
              <a:ext uri="{FF2B5EF4-FFF2-40B4-BE49-F238E27FC236}">
                <a16:creationId xmlns:a16="http://schemas.microsoft.com/office/drawing/2014/main" id="{D1EB9BD9-7289-4DE4-9A4F-D27C77F2A75B}"/>
              </a:ext>
            </a:extLst>
          </p:cNvPr>
          <p:cNvSpPr>
            <a:spLocks noGrp="1"/>
          </p:cNvSpPr>
          <p:nvPr/>
        </p:nvSpPr>
        <p:spPr>
          <a:xfrm>
            <a:off x="742950" y="5781675"/>
            <a:ext cx="10477500" cy="266700"/>
          </a:xfrm>
          <a:prstGeom prst="rect">
            <a:avLst/>
          </a:prstGeom>
          <a:noFill/>
          <a:ln w="0">
            <a:noFill/>
            <a:prstDash val="solid"/>
          </a:ln>
        </p:spPr>
        <p:txBody>
          <a:bodyPr wrap="square" lIns="0" tIns="0" rIns="0" bIns="0" anchor="ctr">
            <a:normAutofit/>
          </a:bodyPr>
          <a:lstStyle>
            <a:defPPr algn="l">
              <a:defRPr sz="1275" b="0">
                <a:solidFill>
                  <a:srgbClr val="5D6872"/>
                </a:solidFill>
                <a:latin typeface="Arial"/>
                <a:ea typeface="Arial"/>
                <a:cs typeface="Arial"/>
              </a:defRPr>
            </a:defPPr>
            <a:lvl1pPr algn="l">
              <a:defRPr sz="1275" b="0">
                <a:solidFill>
                  <a:srgbClr val="5D6872"/>
                </a:solidFill>
                <a:latin typeface="Arial"/>
                <a:ea typeface="Arial"/>
                <a:cs typeface="Arial"/>
              </a:defRPr>
            </a:lvl1pPr>
            <a:lvl2pPr algn="l">
              <a:defRPr sz="1275" b="0">
                <a:solidFill>
                  <a:srgbClr val="5D6872"/>
                </a:solidFill>
                <a:latin typeface="Arial"/>
                <a:ea typeface="Arial"/>
                <a:cs typeface="Arial"/>
              </a:defRPr>
            </a:lvl2pPr>
            <a:lvl3pPr algn="l">
              <a:defRPr sz="1275" b="0">
                <a:solidFill>
                  <a:srgbClr val="5D6872"/>
                </a:solidFill>
                <a:latin typeface="Arial"/>
                <a:ea typeface="Arial"/>
                <a:cs typeface="Arial"/>
              </a:defRPr>
            </a:lvl3pPr>
            <a:lvl4pPr algn="l">
              <a:defRPr sz="1275" b="0">
                <a:solidFill>
                  <a:srgbClr val="5D6872"/>
                </a:solidFill>
                <a:latin typeface="Arial"/>
                <a:ea typeface="Arial"/>
                <a:cs typeface="Arial"/>
              </a:defRPr>
            </a:lvl4pPr>
            <a:lvl5pPr algn="l">
              <a:defRPr sz="1275" b="0">
                <a:solidFill>
                  <a:srgbClr val="5D6872"/>
                </a:solidFill>
                <a:latin typeface="Arial"/>
                <a:ea typeface="Arial"/>
                <a:cs typeface="Arial"/>
              </a:defRPr>
            </a:lvl5pPr>
            <a:lvl6pPr algn="l">
              <a:defRPr sz="1275" b="0">
                <a:solidFill>
                  <a:srgbClr val="5D6872"/>
                </a:solidFill>
                <a:latin typeface="Arial"/>
                <a:ea typeface="Arial"/>
                <a:cs typeface="Arial"/>
              </a:defRPr>
            </a:lvl6pPr>
            <a:lvl7pPr algn="l">
              <a:defRPr sz="1275" b="0">
                <a:solidFill>
                  <a:srgbClr val="5D6872"/>
                </a:solidFill>
                <a:latin typeface="Arial"/>
                <a:ea typeface="Arial"/>
                <a:cs typeface="Arial"/>
              </a:defRPr>
            </a:lvl7pPr>
            <a:lvl8pPr algn="l">
              <a:defRPr sz="1275" b="0">
                <a:solidFill>
                  <a:srgbClr val="5D6872"/>
                </a:solidFill>
                <a:latin typeface="Arial"/>
                <a:ea typeface="Arial"/>
                <a:cs typeface="Arial"/>
              </a:defRPr>
            </a:lvl8pPr>
            <a:lvl9pPr algn="l">
              <a:defRPr sz="1275" b="0">
                <a:solidFill>
                  <a:srgbClr val="5D6872"/>
                </a:solidFill>
                <a:latin typeface="Arial"/>
                <a:ea typeface="Arial"/>
                <a:cs typeface="Arial"/>
              </a:defRPr>
            </a:lvl9pPr>
          </a:lstStyle>
          <a:p>
            <a:pPr algn="l">
              <a:defRPr sz="1275" b="0">
                <a:solidFill>
                  <a:srgbClr val="5D6872"/>
                </a:solidFill>
                <a:latin typeface="Arial"/>
                <a:ea typeface="Arial"/>
                <a:cs typeface="Arial"/>
              </a:defRPr>
            </a:pPr>
            <a:r>
              <a:rPr lang="de-AT" sz="1275" b="0" noProof="0" dirty="0">
                <a:solidFill>
                  <a:srgbClr val="5D6872"/>
                </a:solidFill>
                <a:latin typeface="Arial"/>
                <a:ea typeface="Arial"/>
                <a:cs typeface="Arial"/>
              </a:rPr>
              <a:t>Eigener </a:t>
            </a:r>
            <a:r>
              <a:rPr lang="de-AT" sz="1275" b="0" noProof="0" dirty="0" err="1">
                <a:solidFill>
                  <a:srgbClr val="5D6872"/>
                </a:solidFill>
                <a:latin typeface="Arial"/>
                <a:ea typeface="Arial"/>
                <a:cs typeface="Arial"/>
              </a:rPr>
              <a:t>LoginController</a:t>
            </a:r>
            <a:r>
              <a:rPr lang="de-AT" sz="1275" b="0" noProof="0" dirty="0">
                <a:solidFill>
                  <a:srgbClr val="5D6872"/>
                </a:solidFill>
                <a:latin typeface="Arial"/>
                <a:ea typeface="Arial"/>
                <a:cs typeface="Arial"/>
              </a:rPr>
              <a:t> · Spring Security 6.4.4</a:t>
            </a:r>
          </a:p>
        </p:txBody>
      </p:sp>
    </p:spTree>
    <p:extLst>
      <p:ext uri="{BB962C8B-B14F-4D97-AF65-F5344CB8AC3E}">
        <p14:creationId xmlns:p14="http://schemas.microsoft.com/office/powerpoint/2010/main" val="1320456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D8A1BAA3-B01A-4874-99B3-B23DBB027DE7}"/>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5B3C5C30-2E35-4FAB-A604-CCDFF1CC8DF7}"/>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Was die Experimente gezeigt haben</a:t>
            </a:r>
          </a:p>
        </p:txBody>
      </p:sp>
      <p:sp>
        <p:nvSpPr>
          <p:cNvPr id="3" name="Rechteck 2">
            <a:extLst>
              <a:ext uri="{FF2B5EF4-FFF2-40B4-BE49-F238E27FC236}">
                <a16:creationId xmlns:a16="http://schemas.microsoft.com/office/drawing/2014/main" id="{BBA7B718-5324-4DBB-B605-697D10F4629D}"/>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8283030A-45C7-4D04-B0F3-0356078BCD24}"/>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875A5BB4-CA30-4E74-9D5D-59E79FBC334E}"/>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16</a:t>
            </a:r>
          </a:p>
        </p:txBody>
      </p:sp>
      <p:sp>
        <p:nvSpPr>
          <p:cNvPr id="6" name="Rechteck 5">
            <a:extLst>
              <a:ext uri="{FF2B5EF4-FFF2-40B4-BE49-F238E27FC236}">
                <a16:creationId xmlns:a16="http://schemas.microsoft.com/office/drawing/2014/main" id="{14D5B297-602F-4508-9DA5-5B186C0D6DE7}"/>
              </a:ext>
            </a:extLst>
          </p:cNvPr>
          <p:cNvSpPr>
            <a:spLocks noGrp="1"/>
          </p:cNvSpPr>
          <p:nvPr/>
        </p:nvSpPr>
        <p:spPr>
          <a:xfrm>
            <a:off x="819150" y="1495425"/>
            <a:ext cx="523875" cy="447675"/>
          </a:xfrm>
          <a:prstGeom prst="rect">
            <a:avLst/>
          </a:prstGeom>
          <a:noFill/>
          <a:ln w="0">
            <a:noFill/>
            <a:prstDash val="solid"/>
          </a:ln>
        </p:spPr>
        <p:txBody>
          <a:bodyPr wrap="square" lIns="0" tIns="0" rIns="0" bIns="0" anchor="ctr">
            <a:normAutofit/>
          </a:bodyPr>
          <a:lstStyle>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a:pPr algn="l">
              <a:defRPr sz="2025" b="1">
                <a:solidFill>
                  <a:srgbClr val="C55A2B"/>
                </a:solidFill>
                <a:latin typeface="Arial"/>
                <a:ea typeface="Arial"/>
                <a:cs typeface="Arial"/>
              </a:defRPr>
            </a:pPr>
            <a:r>
              <a:rPr lang="de-AT" sz="2025" b="1" noProof="0" dirty="0">
                <a:solidFill>
                  <a:srgbClr val="C55A2B"/>
                </a:solidFill>
                <a:latin typeface="Arial"/>
                <a:ea typeface="Arial"/>
                <a:cs typeface="Arial"/>
              </a:rPr>
              <a:t>01</a:t>
            </a:r>
          </a:p>
        </p:txBody>
      </p:sp>
      <p:sp>
        <p:nvSpPr>
          <p:cNvPr id="7" name="Rechteck 6">
            <a:extLst>
              <a:ext uri="{FF2B5EF4-FFF2-40B4-BE49-F238E27FC236}">
                <a16:creationId xmlns:a16="http://schemas.microsoft.com/office/drawing/2014/main" id="{64D37906-D34E-471A-8752-B1AD9403DF4C}"/>
              </a:ext>
            </a:extLst>
          </p:cNvPr>
          <p:cNvSpPr>
            <a:spLocks noGrp="1"/>
          </p:cNvSpPr>
          <p:nvPr/>
        </p:nvSpPr>
        <p:spPr>
          <a:xfrm>
            <a:off x="1581150" y="1495425"/>
            <a:ext cx="8810625" cy="447675"/>
          </a:xfrm>
          <a:prstGeom prst="rect">
            <a:avLst/>
          </a:prstGeom>
          <a:noFill/>
          <a:ln w="0">
            <a:noFill/>
            <a:prstDash val="solid"/>
          </a:ln>
        </p:spPr>
        <p:txBody>
          <a:bodyPr wrap="square" lIns="0" tIns="0" rIns="0" bIns="0" anchor="ctr">
            <a:normAutofit/>
          </a:bodyPr>
          <a:lstStyle>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a:pPr algn="l">
              <a:defRPr sz="2100" b="0">
                <a:solidFill>
                  <a:srgbClr val="202935"/>
                </a:solidFill>
                <a:latin typeface="Arial"/>
                <a:ea typeface="Arial"/>
                <a:cs typeface="Arial"/>
              </a:defRPr>
            </a:pPr>
            <a:r>
              <a:rPr lang="de-AT" sz="2100" b="0" noProof="0" dirty="0">
                <a:solidFill>
                  <a:srgbClr val="202935"/>
                </a:solidFill>
                <a:latin typeface="Arial"/>
                <a:ea typeface="Arial"/>
                <a:cs typeface="Arial"/>
              </a:rPr>
              <a:t>Gateway Setting geändert</a:t>
            </a:r>
          </a:p>
        </p:txBody>
      </p:sp>
      <p:sp>
        <p:nvSpPr>
          <p:cNvPr id="8" name="Gerader Verbinder 7">
            <a:extLst>
              <a:ext uri="{FF2B5EF4-FFF2-40B4-BE49-F238E27FC236}">
                <a16:creationId xmlns:a16="http://schemas.microsoft.com/office/drawing/2014/main" id="{194556EA-F659-4308-9C80-A1E8E4E35286}"/>
              </a:ext>
            </a:extLst>
          </p:cNvPr>
          <p:cNvSpPr>
            <a:spLocks noGrp="1"/>
          </p:cNvSpPr>
          <p:nvPr/>
        </p:nvSpPr>
        <p:spPr>
          <a:xfrm>
            <a:off x="1581150" y="2095500"/>
            <a:ext cx="8839200" cy="0"/>
          </a:xfrm>
          <a:prstGeom prst="line">
            <a:avLst/>
          </a:prstGeom>
          <a:noFill/>
          <a:ln w="9525">
            <a:solidFill>
              <a:srgbClr val="D6D4CD"/>
            </a:solidFill>
            <a:prstDash val="solid"/>
          </a:ln>
        </p:spPr>
        <p:txBody>
          <a:bodyPr/>
          <a:lstStyle/>
          <a:p>
            <a:endParaRPr lang="de-AT" noProof="0" dirty="0"/>
          </a:p>
        </p:txBody>
      </p:sp>
      <p:sp>
        <p:nvSpPr>
          <p:cNvPr id="9" name="Rechteck 8">
            <a:extLst>
              <a:ext uri="{FF2B5EF4-FFF2-40B4-BE49-F238E27FC236}">
                <a16:creationId xmlns:a16="http://schemas.microsoft.com/office/drawing/2014/main" id="{EA68DD32-1EB4-4D13-815D-787108031B8D}"/>
              </a:ext>
            </a:extLst>
          </p:cNvPr>
          <p:cNvSpPr>
            <a:spLocks noGrp="1"/>
          </p:cNvSpPr>
          <p:nvPr/>
        </p:nvSpPr>
        <p:spPr>
          <a:xfrm>
            <a:off x="819150" y="2333625"/>
            <a:ext cx="523875" cy="447675"/>
          </a:xfrm>
          <a:prstGeom prst="rect">
            <a:avLst/>
          </a:prstGeom>
          <a:noFill/>
          <a:ln w="0">
            <a:noFill/>
            <a:prstDash val="solid"/>
          </a:ln>
        </p:spPr>
        <p:txBody>
          <a:bodyPr wrap="square" lIns="0" tIns="0" rIns="0" bIns="0" anchor="ctr">
            <a:normAutofit/>
          </a:bodyPr>
          <a:lstStyle>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a:pPr algn="l">
              <a:defRPr sz="2025" b="1">
                <a:solidFill>
                  <a:srgbClr val="C55A2B"/>
                </a:solidFill>
                <a:latin typeface="Arial"/>
                <a:ea typeface="Arial"/>
                <a:cs typeface="Arial"/>
              </a:defRPr>
            </a:pPr>
            <a:r>
              <a:rPr lang="de-AT" sz="2025" b="1" noProof="0" dirty="0">
                <a:solidFill>
                  <a:srgbClr val="C55A2B"/>
                </a:solidFill>
                <a:latin typeface="Arial"/>
                <a:ea typeface="Arial"/>
                <a:cs typeface="Arial"/>
              </a:rPr>
              <a:t>02</a:t>
            </a:r>
          </a:p>
        </p:txBody>
      </p:sp>
      <p:sp>
        <p:nvSpPr>
          <p:cNvPr id="10" name="Rechteck 9">
            <a:extLst>
              <a:ext uri="{FF2B5EF4-FFF2-40B4-BE49-F238E27FC236}">
                <a16:creationId xmlns:a16="http://schemas.microsoft.com/office/drawing/2014/main" id="{B8423B55-68D7-40A6-B466-7405FA1E85D2}"/>
              </a:ext>
            </a:extLst>
          </p:cNvPr>
          <p:cNvSpPr>
            <a:spLocks noGrp="1"/>
          </p:cNvSpPr>
          <p:nvPr/>
        </p:nvSpPr>
        <p:spPr>
          <a:xfrm>
            <a:off x="1581150" y="2333625"/>
            <a:ext cx="8810625" cy="447675"/>
          </a:xfrm>
          <a:prstGeom prst="rect">
            <a:avLst/>
          </a:prstGeom>
          <a:noFill/>
          <a:ln w="0">
            <a:noFill/>
            <a:prstDash val="solid"/>
          </a:ln>
        </p:spPr>
        <p:txBody>
          <a:bodyPr wrap="square" lIns="0" tIns="0" rIns="0" bIns="0" anchor="ctr">
            <a:normAutofit/>
          </a:bodyPr>
          <a:lstStyle>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a:pPr algn="l">
              <a:defRPr sz="2100" b="0">
                <a:solidFill>
                  <a:srgbClr val="202935"/>
                </a:solidFill>
                <a:latin typeface="Arial"/>
                <a:ea typeface="Arial"/>
                <a:cs typeface="Arial"/>
              </a:defRPr>
            </a:pPr>
            <a:r>
              <a:rPr lang="de-AT" sz="2100" b="0" noProof="0" dirty="0">
                <a:solidFill>
                  <a:srgbClr val="202935"/>
                </a:solidFill>
                <a:latin typeface="Arial"/>
                <a:ea typeface="Arial"/>
                <a:cs typeface="Arial"/>
              </a:rPr>
              <a:t>Password Hashes sichtbar</a:t>
            </a:r>
          </a:p>
        </p:txBody>
      </p:sp>
      <p:sp>
        <p:nvSpPr>
          <p:cNvPr id="11" name="Gerader Verbinder 10">
            <a:extLst>
              <a:ext uri="{FF2B5EF4-FFF2-40B4-BE49-F238E27FC236}">
                <a16:creationId xmlns:a16="http://schemas.microsoft.com/office/drawing/2014/main" id="{894D5BD6-7619-4EA6-B88D-FBDB019797C1}"/>
              </a:ext>
            </a:extLst>
          </p:cNvPr>
          <p:cNvSpPr>
            <a:spLocks noGrp="1"/>
          </p:cNvSpPr>
          <p:nvPr/>
        </p:nvSpPr>
        <p:spPr>
          <a:xfrm>
            <a:off x="1581150" y="2933700"/>
            <a:ext cx="8839200" cy="0"/>
          </a:xfrm>
          <a:prstGeom prst="line">
            <a:avLst/>
          </a:prstGeom>
          <a:noFill/>
          <a:ln w="9525">
            <a:solidFill>
              <a:srgbClr val="D6D4CD"/>
            </a:solidFill>
            <a:prstDash val="solid"/>
          </a:ln>
        </p:spPr>
        <p:txBody>
          <a:bodyPr/>
          <a:lstStyle/>
          <a:p>
            <a:endParaRPr lang="de-AT" noProof="0" dirty="0"/>
          </a:p>
        </p:txBody>
      </p:sp>
      <p:sp>
        <p:nvSpPr>
          <p:cNvPr id="12" name="Rechteck 11">
            <a:extLst>
              <a:ext uri="{FF2B5EF4-FFF2-40B4-BE49-F238E27FC236}">
                <a16:creationId xmlns:a16="http://schemas.microsoft.com/office/drawing/2014/main" id="{2D73CB9E-A7E6-4E57-B87B-627296BA8A6F}"/>
              </a:ext>
            </a:extLst>
          </p:cNvPr>
          <p:cNvSpPr>
            <a:spLocks noGrp="1"/>
          </p:cNvSpPr>
          <p:nvPr/>
        </p:nvSpPr>
        <p:spPr>
          <a:xfrm>
            <a:off x="819150" y="3171825"/>
            <a:ext cx="523875" cy="447675"/>
          </a:xfrm>
          <a:prstGeom prst="rect">
            <a:avLst/>
          </a:prstGeom>
          <a:noFill/>
          <a:ln w="0">
            <a:noFill/>
            <a:prstDash val="solid"/>
          </a:ln>
        </p:spPr>
        <p:txBody>
          <a:bodyPr wrap="square" lIns="0" tIns="0" rIns="0" bIns="0" anchor="ctr">
            <a:normAutofit/>
          </a:bodyPr>
          <a:lstStyle>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a:pPr algn="l">
              <a:defRPr sz="2025" b="1">
                <a:solidFill>
                  <a:srgbClr val="C55A2B"/>
                </a:solidFill>
                <a:latin typeface="Arial"/>
                <a:ea typeface="Arial"/>
                <a:cs typeface="Arial"/>
              </a:defRPr>
            </a:pPr>
            <a:r>
              <a:rPr lang="de-AT" sz="2025" b="1" noProof="0" dirty="0">
                <a:solidFill>
                  <a:srgbClr val="C55A2B"/>
                </a:solidFill>
                <a:latin typeface="Arial"/>
                <a:ea typeface="Arial"/>
                <a:cs typeface="Arial"/>
              </a:rPr>
              <a:t>03</a:t>
            </a:r>
          </a:p>
        </p:txBody>
      </p:sp>
      <p:sp>
        <p:nvSpPr>
          <p:cNvPr id="13" name="Rechteck 12">
            <a:extLst>
              <a:ext uri="{FF2B5EF4-FFF2-40B4-BE49-F238E27FC236}">
                <a16:creationId xmlns:a16="http://schemas.microsoft.com/office/drawing/2014/main" id="{F9009E45-7C7F-4027-9716-A1D839449622}"/>
              </a:ext>
            </a:extLst>
          </p:cNvPr>
          <p:cNvSpPr>
            <a:spLocks noGrp="1"/>
          </p:cNvSpPr>
          <p:nvPr/>
        </p:nvSpPr>
        <p:spPr>
          <a:xfrm>
            <a:off x="1581150" y="3171825"/>
            <a:ext cx="8810625" cy="447675"/>
          </a:xfrm>
          <a:prstGeom prst="rect">
            <a:avLst/>
          </a:prstGeom>
          <a:noFill/>
          <a:ln w="0">
            <a:noFill/>
            <a:prstDash val="solid"/>
          </a:ln>
        </p:spPr>
        <p:txBody>
          <a:bodyPr wrap="square" lIns="0" tIns="0" rIns="0" bIns="0" anchor="ctr">
            <a:normAutofit/>
          </a:bodyPr>
          <a:lstStyle>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a:pPr algn="l">
              <a:defRPr sz="2100" b="0">
                <a:solidFill>
                  <a:srgbClr val="202935"/>
                </a:solidFill>
                <a:latin typeface="Arial"/>
                <a:ea typeface="Arial"/>
                <a:cs typeface="Arial"/>
              </a:defRPr>
            </a:pPr>
            <a:r>
              <a:rPr lang="de-AT" sz="2100" b="0" noProof="0" dirty="0">
                <a:solidFill>
                  <a:srgbClr val="202935"/>
                </a:solidFill>
                <a:latin typeface="Arial"/>
                <a:ea typeface="Arial"/>
                <a:cs typeface="Arial"/>
              </a:rPr>
              <a:t>Schwaches Passwort gefunden</a:t>
            </a:r>
          </a:p>
        </p:txBody>
      </p:sp>
      <p:sp>
        <p:nvSpPr>
          <p:cNvPr id="14" name="Gerader Verbinder 13">
            <a:extLst>
              <a:ext uri="{FF2B5EF4-FFF2-40B4-BE49-F238E27FC236}">
                <a16:creationId xmlns:a16="http://schemas.microsoft.com/office/drawing/2014/main" id="{90181BE9-C54B-4AD1-80BB-75448D20FDC3}"/>
              </a:ext>
            </a:extLst>
          </p:cNvPr>
          <p:cNvSpPr>
            <a:spLocks noGrp="1"/>
          </p:cNvSpPr>
          <p:nvPr/>
        </p:nvSpPr>
        <p:spPr>
          <a:xfrm>
            <a:off x="1581150" y="3771900"/>
            <a:ext cx="8839200" cy="0"/>
          </a:xfrm>
          <a:prstGeom prst="line">
            <a:avLst/>
          </a:prstGeom>
          <a:noFill/>
          <a:ln w="9525">
            <a:solidFill>
              <a:srgbClr val="D6D4CD"/>
            </a:solidFill>
            <a:prstDash val="solid"/>
          </a:ln>
        </p:spPr>
        <p:txBody>
          <a:bodyPr/>
          <a:lstStyle/>
          <a:p>
            <a:endParaRPr lang="de-AT" noProof="0" dirty="0"/>
          </a:p>
        </p:txBody>
      </p:sp>
      <p:sp>
        <p:nvSpPr>
          <p:cNvPr id="15" name="Rechteck 14">
            <a:extLst>
              <a:ext uri="{FF2B5EF4-FFF2-40B4-BE49-F238E27FC236}">
                <a16:creationId xmlns:a16="http://schemas.microsoft.com/office/drawing/2014/main" id="{BD840A23-3FB6-452A-A750-1104AABEF221}"/>
              </a:ext>
            </a:extLst>
          </p:cNvPr>
          <p:cNvSpPr>
            <a:spLocks noGrp="1"/>
          </p:cNvSpPr>
          <p:nvPr/>
        </p:nvSpPr>
        <p:spPr>
          <a:xfrm>
            <a:off x="819150" y="4010025"/>
            <a:ext cx="523875" cy="447675"/>
          </a:xfrm>
          <a:prstGeom prst="rect">
            <a:avLst/>
          </a:prstGeom>
          <a:noFill/>
          <a:ln w="0">
            <a:noFill/>
            <a:prstDash val="solid"/>
          </a:ln>
        </p:spPr>
        <p:txBody>
          <a:bodyPr wrap="square" lIns="0" tIns="0" rIns="0" bIns="0" anchor="ctr">
            <a:normAutofit/>
          </a:bodyPr>
          <a:lstStyle>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a:pPr algn="l">
              <a:defRPr sz="2025" b="1">
                <a:solidFill>
                  <a:srgbClr val="C55A2B"/>
                </a:solidFill>
                <a:latin typeface="Arial"/>
                <a:ea typeface="Arial"/>
                <a:cs typeface="Arial"/>
              </a:defRPr>
            </a:pPr>
            <a:r>
              <a:rPr lang="de-AT" sz="2025" b="1" noProof="0" dirty="0">
                <a:solidFill>
                  <a:srgbClr val="C55A2B"/>
                </a:solidFill>
                <a:latin typeface="Arial"/>
                <a:ea typeface="Arial"/>
                <a:cs typeface="Arial"/>
              </a:rPr>
              <a:t>04</a:t>
            </a:r>
          </a:p>
        </p:txBody>
      </p:sp>
      <p:sp>
        <p:nvSpPr>
          <p:cNvPr id="16" name="Rechteck 15">
            <a:extLst>
              <a:ext uri="{FF2B5EF4-FFF2-40B4-BE49-F238E27FC236}">
                <a16:creationId xmlns:a16="http://schemas.microsoft.com/office/drawing/2014/main" id="{160E7707-E1F4-4CC7-A5C4-33CF12019BF9}"/>
              </a:ext>
            </a:extLst>
          </p:cNvPr>
          <p:cNvSpPr>
            <a:spLocks noGrp="1"/>
          </p:cNvSpPr>
          <p:nvPr/>
        </p:nvSpPr>
        <p:spPr>
          <a:xfrm>
            <a:off x="1581150" y="4010025"/>
            <a:ext cx="8810625" cy="447675"/>
          </a:xfrm>
          <a:prstGeom prst="rect">
            <a:avLst/>
          </a:prstGeom>
          <a:noFill/>
          <a:ln w="0">
            <a:noFill/>
            <a:prstDash val="solid"/>
          </a:ln>
        </p:spPr>
        <p:txBody>
          <a:bodyPr wrap="square" lIns="0" tIns="0" rIns="0" bIns="0" anchor="ctr">
            <a:normAutofit/>
          </a:bodyPr>
          <a:lstStyle>
            <a:defPPr algn="l">
              <a:defRPr sz="2100" b="0">
                <a:solidFill>
                  <a:srgbClr val="202935"/>
                </a:solidFill>
                <a:latin typeface="Arial"/>
                <a:ea typeface="Arial"/>
                <a:cs typeface="Arial"/>
              </a:defRPr>
            </a:defPPr>
            <a:lvl1pPr algn="l">
              <a:defRPr sz="2100" b="0">
                <a:solidFill>
                  <a:srgbClr val="202935"/>
                </a:solidFill>
                <a:latin typeface="Arial"/>
                <a:ea typeface="Arial"/>
                <a:cs typeface="Arial"/>
              </a:defRPr>
            </a:lvl1pPr>
            <a:lvl2pPr algn="l">
              <a:defRPr sz="2100" b="0">
                <a:solidFill>
                  <a:srgbClr val="202935"/>
                </a:solidFill>
                <a:latin typeface="Arial"/>
                <a:ea typeface="Arial"/>
                <a:cs typeface="Arial"/>
              </a:defRPr>
            </a:lvl2pPr>
            <a:lvl3pPr algn="l">
              <a:defRPr sz="2100" b="0">
                <a:solidFill>
                  <a:srgbClr val="202935"/>
                </a:solidFill>
                <a:latin typeface="Arial"/>
                <a:ea typeface="Arial"/>
                <a:cs typeface="Arial"/>
              </a:defRPr>
            </a:lvl3pPr>
            <a:lvl4pPr algn="l">
              <a:defRPr sz="2100" b="0">
                <a:solidFill>
                  <a:srgbClr val="202935"/>
                </a:solidFill>
                <a:latin typeface="Arial"/>
                <a:ea typeface="Arial"/>
                <a:cs typeface="Arial"/>
              </a:defRPr>
            </a:lvl4pPr>
            <a:lvl5pPr algn="l">
              <a:defRPr sz="2100" b="0">
                <a:solidFill>
                  <a:srgbClr val="202935"/>
                </a:solidFill>
                <a:latin typeface="Arial"/>
                <a:ea typeface="Arial"/>
                <a:cs typeface="Arial"/>
              </a:defRPr>
            </a:lvl5pPr>
            <a:lvl6pPr algn="l">
              <a:defRPr sz="2100" b="0">
                <a:solidFill>
                  <a:srgbClr val="202935"/>
                </a:solidFill>
                <a:latin typeface="Arial"/>
                <a:ea typeface="Arial"/>
                <a:cs typeface="Arial"/>
              </a:defRPr>
            </a:lvl6pPr>
            <a:lvl7pPr algn="l">
              <a:defRPr sz="2100" b="0">
                <a:solidFill>
                  <a:srgbClr val="202935"/>
                </a:solidFill>
                <a:latin typeface="Arial"/>
                <a:ea typeface="Arial"/>
                <a:cs typeface="Arial"/>
              </a:defRPr>
            </a:lvl7pPr>
            <a:lvl8pPr algn="l">
              <a:defRPr sz="2100" b="0">
                <a:solidFill>
                  <a:srgbClr val="202935"/>
                </a:solidFill>
                <a:latin typeface="Arial"/>
                <a:ea typeface="Arial"/>
                <a:cs typeface="Arial"/>
              </a:defRPr>
            </a:lvl8pPr>
            <a:lvl9pPr algn="l">
              <a:defRPr sz="2100" b="0">
                <a:solidFill>
                  <a:srgbClr val="202935"/>
                </a:solidFill>
                <a:latin typeface="Arial"/>
                <a:ea typeface="Arial"/>
                <a:cs typeface="Arial"/>
              </a:defRPr>
            </a:lvl9pPr>
          </a:lstStyle>
          <a:p>
            <a:pPr algn="l">
              <a:defRPr sz="2100" b="0">
                <a:solidFill>
                  <a:srgbClr val="202935"/>
                </a:solidFill>
                <a:latin typeface="Arial"/>
                <a:ea typeface="Arial"/>
                <a:cs typeface="Arial"/>
              </a:defRPr>
            </a:pPr>
            <a:r>
              <a:rPr lang="de-AT" sz="2100" b="0" noProof="0" dirty="0">
                <a:solidFill>
                  <a:srgbClr val="202935"/>
                </a:solidFill>
                <a:latin typeface="Arial"/>
                <a:ea typeface="Arial"/>
                <a:cs typeface="Arial"/>
              </a:rPr>
              <a:t>Search Filter umgangen</a:t>
            </a:r>
          </a:p>
        </p:txBody>
      </p:sp>
      <p:sp>
        <p:nvSpPr>
          <p:cNvPr id="17" name="Gerader Verbinder 16">
            <a:extLst>
              <a:ext uri="{FF2B5EF4-FFF2-40B4-BE49-F238E27FC236}">
                <a16:creationId xmlns:a16="http://schemas.microsoft.com/office/drawing/2014/main" id="{BC9779E6-5BE0-4112-A17D-58230474A580}"/>
              </a:ext>
            </a:extLst>
          </p:cNvPr>
          <p:cNvSpPr>
            <a:spLocks noGrp="1"/>
          </p:cNvSpPr>
          <p:nvPr/>
        </p:nvSpPr>
        <p:spPr>
          <a:xfrm>
            <a:off x="1581150" y="4610100"/>
            <a:ext cx="8839200" cy="0"/>
          </a:xfrm>
          <a:prstGeom prst="line">
            <a:avLst/>
          </a:prstGeom>
          <a:noFill/>
          <a:ln w="9525">
            <a:solidFill>
              <a:srgbClr val="D6D4CD"/>
            </a:solidFill>
            <a:prstDash val="solid"/>
          </a:ln>
        </p:spPr>
        <p:txBody>
          <a:bodyPr/>
          <a:lstStyle/>
          <a:p>
            <a:endParaRPr lang="de-AT" noProof="0" dirty="0"/>
          </a:p>
        </p:txBody>
      </p:sp>
      <p:sp>
        <p:nvSpPr>
          <p:cNvPr id="18" name="Rechteck 17">
            <a:extLst>
              <a:ext uri="{FF2B5EF4-FFF2-40B4-BE49-F238E27FC236}">
                <a16:creationId xmlns:a16="http://schemas.microsoft.com/office/drawing/2014/main" id="{36C205F9-85A3-4F6C-9916-E1EC39AFE29E}"/>
              </a:ext>
            </a:extLst>
          </p:cNvPr>
          <p:cNvSpPr>
            <a:spLocks noGrp="1"/>
          </p:cNvSpPr>
          <p:nvPr/>
        </p:nvSpPr>
        <p:spPr>
          <a:xfrm>
            <a:off x="819150" y="4848225"/>
            <a:ext cx="523875" cy="447675"/>
          </a:xfrm>
          <a:prstGeom prst="rect">
            <a:avLst/>
          </a:prstGeom>
          <a:noFill/>
          <a:ln w="0">
            <a:noFill/>
            <a:prstDash val="solid"/>
          </a:ln>
        </p:spPr>
        <p:txBody>
          <a:bodyPr wrap="square" lIns="0" tIns="0" rIns="0" bIns="0" anchor="ctr">
            <a:normAutofit/>
          </a:bodyPr>
          <a:lstStyle>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a:pPr algn="l">
              <a:defRPr sz="2025" b="1">
                <a:solidFill>
                  <a:srgbClr val="C55A2B"/>
                </a:solidFill>
                <a:latin typeface="Arial"/>
                <a:ea typeface="Arial"/>
                <a:cs typeface="Arial"/>
              </a:defRPr>
            </a:pPr>
            <a:r>
              <a:rPr lang="de-AT" sz="2025" b="1" noProof="0" dirty="0">
                <a:solidFill>
                  <a:srgbClr val="C55A2B"/>
                </a:solidFill>
                <a:latin typeface="Arial"/>
                <a:ea typeface="Arial"/>
                <a:cs typeface="Arial"/>
              </a:rPr>
              <a:t>05</a:t>
            </a:r>
          </a:p>
        </p:txBody>
      </p:sp>
      <p:sp>
        <p:nvSpPr>
          <p:cNvPr id="19" name="Rechteck 18">
            <a:extLst>
              <a:ext uri="{FF2B5EF4-FFF2-40B4-BE49-F238E27FC236}">
                <a16:creationId xmlns:a16="http://schemas.microsoft.com/office/drawing/2014/main" id="{B7F5FE6D-7468-456D-9802-4B5B82934E82}"/>
              </a:ext>
            </a:extLst>
          </p:cNvPr>
          <p:cNvSpPr>
            <a:spLocks noGrp="1"/>
          </p:cNvSpPr>
          <p:nvPr/>
        </p:nvSpPr>
        <p:spPr>
          <a:xfrm>
            <a:off x="1581150" y="4848225"/>
            <a:ext cx="8810625" cy="447675"/>
          </a:xfrm>
          <a:prstGeom prst="rect">
            <a:avLst/>
          </a:prstGeom>
          <a:noFill/>
          <a:ln w="0">
            <a:noFill/>
            <a:prstDash val="solid"/>
          </a:ln>
        </p:spPr>
        <p:txBody>
          <a:bodyPr wrap="square" lIns="0" tIns="0" rIns="0" bIns="0" anchor="ctr">
            <a:normAutofit/>
          </a:bodyPr>
          <a:lstStyle>
            <a:defPPr algn="l">
              <a:defRPr sz="2100" b="1">
                <a:solidFill>
                  <a:srgbClr val="202935"/>
                </a:solidFill>
                <a:latin typeface="Arial"/>
                <a:ea typeface="Arial"/>
                <a:cs typeface="Arial"/>
              </a:defRPr>
            </a:defPPr>
            <a:lvl1pPr algn="l">
              <a:defRPr sz="2100" b="1">
                <a:solidFill>
                  <a:srgbClr val="202935"/>
                </a:solidFill>
                <a:latin typeface="Arial"/>
                <a:ea typeface="Arial"/>
                <a:cs typeface="Arial"/>
              </a:defRPr>
            </a:lvl1pPr>
            <a:lvl2pPr algn="l">
              <a:defRPr sz="2100" b="1">
                <a:solidFill>
                  <a:srgbClr val="202935"/>
                </a:solidFill>
                <a:latin typeface="Arial"/>
                <a:ea typeface="Arial"/>
                <a:cs typeface="Arial"/>
              </a:defRPr>
            </a:lvl2pPr>
            <a:lvl3pPr algn="l">
              <a:defRPr sz="2100" b="1">
                <a:solidFill>
                  <a:srgbClr val="202935"/>
                </a:solidFill>
                <a:latin typeface="Arial"/>
                <a:ea typeface="Arial"/>
                <a:cs typeface="Arial"/>
              </a:defRPr>
            </a:lvl3pPr>
            <a:lvl4pPr algn="l">
              <a:defRPr sz="2100" b="1">
                <a:solidFill>
                  <a:srgbClr val="202935"/>
                </a:solidFill>
                <a:latin typeface="Arial"/>
                <a:ea typeface="Arial"/>
                <a:cs typeface="Arial"/>
              </a:defRPr>
            </a:lvl4pPr>
            <a:lvl5pPr algn="l">
              <a:defRPr sz="2100" b="1">
                <a:solidFill>
                  <a:srgbClr val="202935"/>
                </a:solidFill>
                <a:latin typeface="Arial"/>
                <a:ea typeface="Arial"/>
                <a:cs typeface="Arial"/>
              </a:defRPr>
            </a:lvl5pPr>
            <a:lvl6pPr algn="l">
              <a:defRPr sz="2100" b="1">
                <a:solidFill>
                  <a:srgbClr val="202935"/>
                </a:solidFill>
                <a:latin typeface="Arial"/>
                <a:ea typeface="Arial"/>
                <a:cs typeface="Arial"/>
              </a:defRPr>
            </a:lvl6pPr>
            <a:lvl7pPr algn="l">
              <a:defRPr sz="2100" b="1">
                <a:solidFill>
                  <a:srgbClr val="202935"/>
                </a:solidFill>
                <a:latin typeface="Arial"/>
                <a:ea typeface="Arial"/>
                <a:cs typeface="Arial"/>
              </a:defRPr>
            </a:lvl7pPr>
            <a:lvl8pPr algn="l">
              <a:defRPr sz="2100" b="1">
                <a:solidFill>
                  <a:srgbClr val="202935"/>
                </a:solidFill>
                <a:latin typeface="Arial"/>
                <a:ea typeface="Arial"/>
                <a:cs typeface="Arial"/>
              </a:defRPr>
            </a:lvl8pPr>
            <a:lvl9pPr algn="l">
              <a:defRPr sz="2100" b="1">
                <a:solidFill>
                  <a:srgbClr val="202935"/>
                </a:solidFill>
                <a:latin typeface="Arial"/>
                <a:ea typeface="Arial"/>
                <a:cs typeface="Arial"/>
              </a:defRPr>
            </a:lvl9pPr>
          </a:lstStyle>
          <a:p>
            <a:pPr algn="l">
              <a:defRPr sz="2100" b="1">
                <a:solidFill>
                  <a:srgbClr val="202935"/>
                </a:solidFill>
                <a:latin typeface="Arial"/>
                <a:ea typeface="Arial"/>
                <a:cs typeface="Arial"/>
              </a:defRPr>
            </a:pPr>
            <a:r>
              <a:rPr lang="de-AT" sz="2100" b="1" noProof="0" dirty="0">
                <a:solidFill>
                  <a:srgbClr val="202935"/>
                </a:solidFill>
                <a:latin typeface="Arial"/>
                <a:ea typeface="Arial"/>
                <a:cs typeface="Arial"/>
              </a:rPr>
              <a:t>OTP und JWT erreicht</a:t>
            </a:r>
          </a:p>
        </p:txBody>
      </p:sp>
      <p:sp>
        <p:nvSpPr>
          <p:cNvPr id="20" name="Rechteck 19">
            <a:extLst>
              <a:ext uri="{FF2B5EF4-FFF2-40B4-BE49-F238E27FC236}">
                <a16:creationId xmlns:a16="http://schemas.microsoft.com/office/drawing/2014/main" id="{2D6EEC83-BA58-4B2C-93DB-A082BF1C28CD}"/>
              </a:ext>
            </a:extLst>
          </p:cNvPr>
          <p:cNvSpPr>
            <a:spLocks noGrp="1"/>
          </p:cNvSpPr>
          <p:nvPr/>
        </p:nvSpPr>
        <p:spPr>
          <a:xfrm>
            <a:off x="752475" y="5705475"/>
            <a:ext cx="10344150" cy="333375"/>
          </a:xfrm>
          <a:prstGeom prst="rect">
            <a:avLst/>
          </a:prstGeom>
          <a:noFill/>
          <a:ln w="0">
            <a:noFill/>
            <a:prstDash val="solid"/>
          </a:ln>
        </p:spPr>
        <p:txBody>
          <a:bodyPr wrap="square" lIns="0" tIns="0" rIns="0" bIns="0" anchor="ctr">
            <a:normAutofit/>
          </a:bodyPr>
          <a:lstStyle>
            <a:defPPr algn="l">
              <a:defRPr sz="1425" b="0">
                <a:solidFill>
                  <a:srgbClr val="5D6872"/>
                </a:solidFill>
                <a:latin typeface="Arial"/>
                <a:ea typeface="Arial"/>
                <a:cs typeface="Arial"/>
              </a:defRPr>
            </a:defPPr>
            <a:lvl1pPr algn="l">
              <a:defRPr sz="1425" b="0">
                <a:solidFill>
                  <a:srgbClr val="5D6872"/>
                </a:solidFill>
                <a:latin typeface="Arial"/>
                <a:ea typeface="Arial"/>
                <a:cs typeface="Arial"/>
              </a:defRPr>
            </a:lvl1pPr>
            <a:lvl2pPr algn="l">
              <a:defRPr sz="1425" b="0">
                <a:solidFill>
                  <a:srgbClr val="5D6872"/>
                </a:solidFill>
                <a:latin typeface="Arial"/>
                <a:ea typeface="Arial"/>
                <a:cs typeface="Arial"/>
              </a:defRPr>
            </a:lvl2pPr>
            <a:lvl3pPr algn="l">
              <a:defRPr sz="1425" b="0">
                <a:solidFill>
                  <a:srgbClr val="5D6872"/>
                </a:solidFill>
                <a:latin typeface="Arial"/>
                <a:ea typeface="Arial"/>
                <a:cs typeface="Arial"/>
              </a:defRPr>
            </a:lvl3pPr>
            <a:lvl4pPr algn="l">
              <a:defRPr sz="1425" b="0">
                <a:solidFill>
                  <a:srgbClr val="5D6872"/>
                </a:solidFill>
                <a:latin typeface="Arial"/>
                <a:ea typeface="Arial"/>
                <a:cs typeface="Arial"/>
              </a:defRPr>
            </a:lvl4pPr>
            <a:lvl5pPr algn="l">
              <a:defRPr sz="1425" b="0">
                <a:solidFill>
                  <a:srgbClr val="5D6872"/>
                </a:solidFill>
                <a:latin typeface="Arial"/>
                <a:ea typeface="Arial"/>
                <a:cs typeface="Arial"/>
              </a:defRPr>
            </a:lvl5pPr>
            <a:lvl6pPr algn="l">
              <a:defRPr sz="1425" b="0">
                <a:solidFill>
                  <a:srgbClr val="5D6872"/>
                </a:solidFill>
                <a:latin typeface="Arial"/>
                <a:ea typeface="Arial"/>
                <a:cs typeface="Arial"/>
              </a:defRPr>
            </a:lvl6pPr>
            <a:lvl7pPr algn="l">
              <a:defRPr sz="1425" b="0">
                <a:solidFill>
                  <a:srgbClr val="5D6872"/>
                </a:solidFill>
                <a:latin typeface="Arial"/>
                <a:ea typeface="Arial"/>
                <a:cs typeface="Arial"/>
              </a:defRPr>
            </a:lvl7pPr>
            <a:lvl8pPr algn="l">
              <a:defRPr sz="1425" b="0">
                <a:solidFill>
                  <a:srgbClr val="5D6872"/>
                </a:solidFill>
                <a:latin typeface="Arial"/>
                <a:ea typeface="Arial"/>
                <a:cs typeface="Arial"/>
              </a:defRPr>
            </a:lvl8pPr>
            <a:lvl9pPr algn="l">
              <a:defRPr sz="1425" b="0">
                <a:solidFill>
                  <a:srgbClr val="5D6872"/>
                </a:solidFill>
                <a:latin typeface="Arial"/>
                <a:ea typeface="Arial"/>
                <a:cs typeface="Arial"/>
              </a:defRPr>
            </a:lvl9pPr>
          </a:lstStyle>
          <a:p>
            <a:pPr algn="l">
              <a:defRPr sz="1425" b="0">
                <a:solidFill>
                  <a:srgbClr val="5D6872"/>
                </a:solidFill>
                <a:latin typeface="Arial"/>
                <a:ea typeface="Arial"/>
                <a:cs typeface="Arial"/>
              </a:defRPr>
            </a:pPr>
            <a:r>
              <a:rPr lang="de-AT" sz="1425" b="0" noProof="0" dirty="0">
                <a:solidFill>
                  <a:srgbClr val="5D6872"/>
                </a:solidFill>
                <a:latin typeface="Arial"/>
                <a:ea typeface="Arial"/>
                <a:cs typeface="Arial"/>
              </a:rPr>
              <a:t>Nicht jeder Schritt ist im aktuellen Code eine technische Voraussetzung für den nächsten.</a:t>
            </a:r>
          </a:p>
        </p:txBody>
      </p:sp>
    </p:spTree>
    <p:extLst>
      <p:ext uri="{BB962C8B-B14F-4D97-AF65-F5344CB8AC3E}">
        <p14:creationId xmlns:p14="http://schemas.microsoft.com/office/powerpoint/2010/main" val="53121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21" name="Rechteck 20">
            <a:extLst>
              <a:ext uri="{FF2B5EF4-FFF2-40B4-BE49-F238E27FC236}">
                <a16:creationId xmlns:a16="http://schemas.microsoft.com/office/drawing/2014/main" id="{BDF0E916-4D39-4557-83BB-4438E174D4F9}"/>
              </a:ext>
            </a:extLst>
          </p:cNvPr>
          <p:cNvSpPr>
            <a:spLocks noGrp="1"/>
          </p:cNvSpPr>
          <p:nvPr/>
        </p:nvSpPr>
        <p:spPr>
          <a:xfrm>
            <a:off x="552450" y="504825"/>
            <a:ext cx="66675" cy="45720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E9992755-9E50-4E5D-B855-E4FF01C7473E}"/>
              </a:ext>
            </a:extLst>
          </p:cNvPr>
          <p:cNvSpPr>
            <a:spLocks noGrp="1"/>
          </p:cNvSpPr>
          <p:nvPr/>
        </p:nvSpPr>
        <p:spPr>
          <a:xfrm>
            <a:off x="781050" y="428625"/>
            <a:ext cx="10287000" cy="600075"/>
          </a:xfrm>
          <a:prstGeom prst="rect">
            <a:avLst/>
          </a:prstGeom>
          <a:noFill/>
          <a:ln w="0">
            <a:noFill/>
            <a:prstDash val="solid"/>
          </a:ln>
        </p:spPr>
        <p:txBody>
          <a:bodyPr wrap="square" lIns="0" tIns="0" rIns="0" bIns="0" anchor="ctr">
            <a:normAutofit/>
          </a:bodyPr>
          <a:lstStyle>
            <a:defPPr algn="l">
              <a:defRPr sz="3150" b="1">
                <a:solidFill>
                  <a:srgbClr val="202935"/>
                </a:solidFill>
                <a:latin typeface="Arial"/>
                <a:ea typeface="Arial"/>
                <a:cs typeface="Arial"/>
              </a:defRPr>
            </a:defPPr>
            <a:lvl1pPr algn="l">
              <a:defRPr sz="3150" b="1">
                <a:solidFill>
                  <a:srgbClr val="202935"/>
                </a:solidFill>
                <a:latin typeface="Arial"/>
                <a:ea typeface="Arial"/>
                <a:cs typeface="Arial"/>
              </a:defRPr>
            </a:lvl1pPr>
            <a:lvl2pPr algn="l">
              <a:defRPr sz="3150" b="1">
                <a:solidFill>
                  <a:srgbClr val="202935"/>
                </a:solidFill>
                <a:latin typeface="Arial"/>
                <a:ea typeface="Arial"/>
                <a:cs typeface="Arial"/>
              </a:defRPr>
            </a:lvl2pPr>
            <a:lvl3pPr algn="l">
              <a:defRPr sz="3150" b="1">
                <a:solidFill>
                  <a:srgbClr val="202935"/>
                </a:solidFill>
                <a:latin typeface="Arial"/>
                <a:ea typeface="Arial"/>
                <a:cs typeface="Arial"/>
              </a:defRPr>
            </a:lvl3pPr>
            <a:lvl4pPr algn="l">
              <a:defRPr sz="3150" b="1">
                <a:solidFill>
                  <a:srgbClr val="202935"/>
                </a:solidFill>
                <a:latin typeface="Arial"/>
                <a:ea typeface="Arial"/>
                <a:cs typeface="Arial"/>
              </a:defRPr>
            </a:lvl4pPr>
            <a:lvl5pPr algn="l">
              <a:defRPr sz="3150" b="1">
                <a:solidFill>
                  <a:srgbClr val="202935"/>
                </a:solidFill>
                <a:latin typeface="Arial"/>
                <a:ea typeface="Arial"/>
                <a:cs typeface="Arial"/>
              </a:defRPr>
            </a:lvl5pPr>
            <a:lvl6pPr algn="l">
              <a:defRPr sz="3150" b="1">
                <a:solidFill>
                  <a:srgbClr val="202935"/>
                </a:solidFill>
                <a:latin typeface="Arial"/>
                <a:ea typeface="Arial"/>
                <a:cs typeface="Arial"/>
              </a:defRPr>
            </a:lvl6pPr>
            <a:lvl7pPr algn="l">
              <a:defRPr sz="3150" b="1">
                <a:solidFill>
                  <a:srgbClr val="202935"/>
                </a:solidFill>
                <a:latin typeface="Arial"/>
                <a:ea typeface="Arial"/>
                <a:cs typeface="Arial"/>
              </a:defRPr>
            </a:lvl7pPr>
            <a:lvl8pPr algn="l">
              <a:defRPr sz="3150" b="1">
                <a:solidFill>
                  <a:srgbClr val="202935"/>
                </a:solidFill>
                <a:latin typeface="Arial"/>
                <a:ea typeface="Arial"/>
                <a:cs typeface="Arial"/>
              </a:defRPr>
            </a:lvl8pPr>
            <a:lvl9pPr algn="l">
              <a:defRPr sz="3150" b="1">
                <a:solidFill>
                  <a:srgbClr val="202935"/>
                </a:solidFill>
                <a:latin typeface="Arial"/>
                <a:ea typeface="Arial"/>
                <a:cs typeface="Arial"/>
              </a:defRPr>
            </a:lvl9pPr>
          </a:lstStyle>
          <a:p>
            <a:pPr algn="l">
              <a:defRPr sz="3150" b="1">
                <a:solidFill>
                  <a:srgbClr val="202935"/>
                </a:solidFill>
                <a:latin typeface="Arial"/>
                <a:ea typeface="Arial"/>
                <a:cs typeface="Arial"/>
              </a:defRPr>
            </a:pPr>
            <a:r>
              <a:rPr lang="de-AT" sz="3150" b="1" noProof="0" dirty="0">
                <a:solidFill>
                  <a:srgbClr val="202935"/>
                </a:solidFill>
                <a:latin typeface="Arial"/>
                <a:ea typeface="Arial"/>
                <a:cs typeface="Arial"/>
              </a:rPr>
              <a:t>Was ich daraus mitnehme</a:t>
            </a:r>
          </a:p>
        </p:txBody>
      </p:sp>
      <p:sp>
        <p:nvSpPr>
          <p:cNvPr id="3" name="Rechteck 2">
            <a:extLst>
              <a:ext uri="{FF2B5EF4-FFF2-40B4-BE49-F238E27FC236}">
                <a16:creationId xmlns:a16="http://schemas.microsoft.com/office/drawing/2014/main" id="{44724FA8-FAB0-40D7-AE09-4E41C166260F}"/>
              </a:ext>
            </a:extLst>
          </p:cNvPr>
          <p:cNvSpPr>
            <a:spLocks noGrp="1"/>
          </p:cNvSpPr>
          <p:nvPr/>
        </p:nvSpPr>
        <p:spPr>
          <a:xfrm>
            <a:off x="571500" y="6410325"/>
            <a:ext cx="7810500" cy="180975"/>
          </a:xfrm>
          <a:prstGeom prst="rect">
            <a:avLst/>
          </a:prstGeom>
          <a:noFill/>
          <a:ln w="0">
            <a:noFill/>
            <a:prstDash val="solid"/>
          </a:ln>
        </p:spPr>
        <p:txBody>
          <a:bodyPr wrap="square" lIns="0" tIns="0" rIns="0" bIns="0" anchor="ctr">
            <a:normAutofit/>
          </a:bodyPr>
          <a:lstStyle>
            <a:defPPr algn="l">
              <a:defRPr sz="900" b="1">
                <a:solidFill>
                  <a:srgbClr val="5D6872"/>
                </a:solidFill>
                <a:latin typeface="Arial"/>
                <a:ea typeface="Arial"/>
                <a:cs typeface="Arial"/>
              </a:defRPr>
            </a:defPPr>
            <a:lvl1pPr algn="l">
              <a:defRPr sz="900" b="1">
                <a:solidFill>
                  <a:srgbClr val="5D6872"/>
                </a:solidFill>
                <a:latin typeface="Arial"/>
                <a:ea typeface="Arial"/>
                <a:cs typeface="Arial"/>
              </a:defRPr>
            </a:lvl1pPr>
            <a:lvl2pPr algn="l">
              <a:defRPr sz="900" b="1">
                <a:solidFill>
                  <a:srgbClr val="5D6872"/>
                </a:solidFill>
                <a:latin typeface="Arial"/>
                <a:ea typeface="Arial"/>
                <a:cs typeface="Arial"/>
              </a:defRPr>
            </a:lvl2pPr>
            <a:lvl3pPr algn="l">
              <a:defRPr sz="900" b="1">
                <a:solidFill>
                  <a:srgbClr val="5D6872"/>
                </a:solidFill>
                <a:latin typeface="Arial"/>
                <a:ea typeface="Arial"/>
                <a:cs typeface="Arial"/>
              </a:defRPr>
            </a:lvl3pPr>
            <a:lvl4pPr algn="l">
              <a:defRPr sz="900" b="1">
                <a:solidFill>
                  <a:srgbClr val="5D6872"/>
                </a:solidFill>
                <a:latin typeface="Arial"/>
                <a:ea typeface="Arial"/>
                <a:cs typeface="Arial"/>
              </a:defRPr>
            </a:lvl4pPr>
            <a:lvl5pPr algn="l">
              <a:defRPr sz="900" b="1">
                <a:solidFill>
                  <a:srgbClr val="5D6872"/>
                </a:solidFill>
                <a:latin typeface="Arial"/>
                <a:ea typeface="Arial"/>
                <a:cs typeface="Arial"/>
              </a:defRPr>
            </a:lvl5pPr>
            <a:lvl6pPr algn="l">
              <a:defRPr sz="900" b="1">
                <a:solidFill>
                  <a:srgbClr val="5D6872"/>
                </a:solidFill>
                <a:latin typeface="Arial"/>
                <a:ea typeface="Arial"/>
                <a:cs typeface="Arial"/>
              </a:defRPr>
            </a:lvl6pPr>
            <a:lvl7pPr algn="l">
              <a:defRPr sz="900" b="1">
                <a:solidFill>
                  <a:srgbClr val="5D6872"/>
                </a:solidFill>
                <a:latin typeface="Arial"/>
                <a:ea typeface="Arial"/>
                <a:cs typeface="Arial"/>
              </a:defRPr>
            </a:lvl7pPr>
            <a:lvl8pPr algn="l">
              <a:defRPr sz="900" b="1">
                <a:solidFill>
                  <a:srgbClr val="5D6872"/>
                </a:solidFill>
                <a:latin typeface="Arial"/>
                <a:ea typeface="Arial"/>
                <a:cs typeface="Arial"/>
              </a:defRPr>
            </a:lvl8pPr>
            <a:lvl9pPr algn="l">
              <a:defRPr sz="900" b="1">
                <a:solidFill>
                  <a:srgbClr val="5D6872"/>
                </a:solidFill>
                <a:latin typeface="Arial"/>
                <a:ea typeface="Arial"/>
                <a:cs typeface="Arial"/>
              </a:defRPr>
            </a:lvl9pPr>
          </a:lstStyle>
          <a:p>
            <a:pPr algn="l">
              <a:defRPr sz="900" b="1">
                <a:solidFill>
                  <a:srgbClr val="5D6872"/>
                </a:solidFill>
                <a:latin typeface="Arial"/>
                <a:ea typeface="Arial"/>
                <a:cs typeface="Arial"/>
              </a:defRPr>
            </a:pPr>
            <a:r>
              <a:rPr lang="de-AT" sz="900" b="1" noProof="0" dirty="0">
                <a:solidFill>
                  <a:srgbClr val="5D6872"/>
                </a:solidFill>
                <a:latin typeface="Arial"/>
                <a:ea typeface="Arial"/>
                <a:cs typeface="Arial"/>
              </a:rPr>
              <a:t>SPRING SECURITY / KNOWLEDGE SHARING</a:t>
            </a:r>
          </a:p>
        </p:txBody>
      </p:sp>
      <p:sp>
        <p:nvSpPr>
          <p:cNvPr id="4" name="Gerader Verbinder 3">
            <a:extLst>
              <a:ext uri="{FF2B5EF4-FFF2-40B4-BE49-F238E27FC236}">
                <a16:creationId xmlns:a16="http://schemas.microsoft.com/office/drawing/2014/main" id="{2FB4023F-20F4-4CB5-A653-5EC9EE8EFC18}"/>
              </a:ext>
            </a:extLst>
          </p:cNvPr>
          <p:cNvSpPr>
            <a:spLocks noGrp="1"/>
          </p:cNvSpPr>
          <p:nvPr/>
        </p:nvSpPr>
        <p:spPr>
          <a:xfrm>
            <a:off x="552450" y="6219825"/>
            <a:ext cx="11087100" cy="0"/>
          </a:xfrm>
          <a:prstGeom prst="line">
            <a:avLst/>
          </a:prstGeom>
          <a:noFill/>
          <a:ln w="9525">
            <a:solidFill>
              <a:srgbClr val="D6D4CD"/>
            </a:solidFill>
            <a:prstDash val="solid"/>
          </a:ln>
        </p:spPr>
        <p:txBody>
          <a:bodyPr/>
          <a:lstStyle/>
          <a:p>
            <a:endParaRPr lang="de-AT" noProof="0" dirty="0"/>
          </a:p>
        </p:txBody>
      </p:sp>
      <p:sp>
        <p:nvSpPr>
          <p:cNvPr id="5" name="Rechteck 4">
            <a:extLst>
              <a:ext uri="{FF2B5EF4-FFF2-40B4-BE49-F238E27FC236}">
                <a16:creationId xmlns:a16="http://schemas.microsoft.com/office/drawing/2014/main" id="{77A11ACC-699C-42CB-9CBE-50BC44A96470}"/>
              </a:ext>
            </a:extLst>
          </p:cNvPr>
          <p:cNvSpPr>
            <a:spLocks noGrp="1"/>
          </p:cNvSpPr>
          <p:nvPr/>
        </p:nvSpPr>
        <p:spPr>
          <a:xfrm>
            <a:off x="11220450" y="6410325"/>
            <a:ext cx="419100" cy="190500"/>
          </a:xfrm>
          <a:prstGeom prst="rect">
            <a:avLst/>
          </a:prstGeom>
          <a:noFill/>
          <a:ln w="0">
            <a:noFill/>
            <a:prstDash val="solid"/>
          </a:ln>
        </p:spPr>
        <p:txBody>
          <a:bodyPr wrap="square" lIns="0" tIns="0" rIns="0" bIns="0" anchor="ctr">
            <a:normAutofit/>
          </a:bodyPr>
          <a:lstStyle>
            <a:defPPr algn="r">
              <a:defRPr sz="900" b="0">
                <a:solidFill>
                  <a:srgbClr val="5D6872"/>
                </a:solidFill>
                <a:latin typeface="Arial"/>
                <a:ea typeface="Arial"/>
                <a:cs typeface="Arial"/>
              </a:defRPr>
            </a:defPPr>
            <a:lvl1pPr algn="r">
              <a:defRPr sz="900" b="0">
                <a:solidFill>
                  <a:srgbClr val="5D6872"/>
                </a:solidFill>
                <a:latin typeface="Arial"/>
                <a:ea typeface="Arial"/>
                <a:cs typeface="Arial"/>
              </a:defRPr>
            </a:lvl1pPr>
            <a:lvl2pPr algn="r">
              <a:defRPr sz="900" b="0">
                <a:solidFill>
                  <a:srgbClr val="5D6872"/>
                </a:solidFill>
                <a:latin typeface="Arial"/>
                <a:ea typeface="Arial"/>
                <a:cs typeface="Arial"/>
              </a:defRPr>
            </a:lvl2pPr>
            <a:lvl3pPr algn="r">
              <a:defRPr sz="900" b="0">
                <a:solidFill>
                  <a:srgbClr val="5D6872"/>
                </a:solidFill>
                <a:latin typeface="Arial"/>
                <a:ea typeface="Arial"/>
                <a:cs typeface="Arial"/>
              </a:defRPr>
            </a:lvl3pPr>
            <a:lvl4pPr algn="r">
              <a:defRPr sz="900" b="0">
                <a:solidFill>
                  <a:srgbClr val="5D6872"/>
                </a:solidFill>
                <a:latin typeface="Arial"/>
                <a:ea typeface="Arial"/>
                <a:cs typeface="Arial"/>
              </a:defRPr>
            </a:lvl4pPr>
            <a:lvl5pPr algn="r">
              <a:defRPr sz="900" b="0">
                <a:solidFill>
                  <a:srgbClr val="5D6872"/>
                </a:solidFill>
                <a:latin typeface="Arial"/>
                <a:ea typeface="Arial"/>
                <a:cs typeface="Arial"/>
              </a:defRPr>
            </a:lvl5pPr>
            <a:lvl6pPr algn="r">
              <a:defRPr sz="900" b="0">
                <a:solidFill>
                  <a:srgbClr val="5D6872"/>
                </a:solidFill>
                <a:latin typeface="Arial"/>
                <a:ea typeface="Arial"/>
                <a:cs typeface="Arial"/>
              </a:defRPr>
            </a:lvl6pPr>
            <a:lvl7pPr algn="r">
              <a:defRPr sz="900" b="0">
                <a:solidFill>
                  <a:srgbClr val="5D6872"/>
                </a:solidFill>
                <a:latin typeface="Arial"/>
                <a:ea typeface="Arial"/>
                <a:cs typeface="Arial"/>
              </a:defRPr>
            </a:lvl7pPr>
            <a:lvl8pPr algn="r">
              <a:defRPr sz="900" b="0">
                <a:solidFill>
                  <a:srgbClr val="5D6872"/>
                </a:solidFill>
                <a:latin typeface="Arial"/>
                <a:ea typeface="Arial"/>
                <a:cs typeface="Arial"/>
              </a:defRPr>
            </a:lvl8pPr>
            <a:lvl9pPr algn="r">
              <a:defRPr sz="900" b="0">
                <a:solidFill>
                  <a:srgbClr val="5D6872"/>
                </a:solidFill>
                <a:latin typeface="Arial"/>
                <a:ea typeface="Arial"/>
                <a:cs typeface="Arial"/>
              </a:defRPr>
            </a:lvl9pPr>
          </a:lstStyle>
          <a:p>
            <a:pPr algn="r">
              <a:defRPr sz="900" b="0">
                <a:solidFill>
                  <a:srgbClr val="5D6872"/>
                </a:solidFill>
                <a:latin typeface="Arial"/>
                <a:ea typeface="Arial"/>
                <a:cs typeface="Arial"/>
              </a:defRPr>
            </a:pPr>
            <a:r>
              <a:rPr lang="de-AT" sz="900" b="0" noProof="0" dirty="0">
                <a:solidFill>
                  <a:srgbClr val="5D6872"/>
                </a:solidFill>
                <a:latin typeface="Arial"/>
                <a:ea typeface="Arial"/>
                <a:cs typeface="Arial"/>
              </a:rPr>
              <a:t>17</a:t>
            </a:r>
          </a:p>
        </p:txBody>
      </p:sp>
      <p:sp>
        <p:nvSpPr>
          <p:cNvPr id="6" name="Rechteck 5">
            <a:extLst>
              <a:ext uri="{FF2B5EF4-FFF2-40B4-BE49-F238E27FC236}">
                <a16:creationId xmlns:a16="http://schemas.microsoft.com/office/drawing/2014/main" id="{49296947-AC6E-4B55-BF77-C82DB7DA2628}"/>
              </a:ext>
            </a:extLst>
          </p:cNvPr>
          <p:cNvSpPr>
            <a:spLocks noGrp="1"/>
          </p:cNvSpPr>
          <p:nvPr/>
        </p:nvSpPr>
        <p:spPr>
          <a:xfrm>
            <a:off x="742950" y="1447800"/>
            <a:ext cx="523875" cy="590550"/>
          </a:xfrm>
          <a:prstGeom prst="rect">
            <a:avLst/>
          </a:prstGeom>
          <a:noFill/>
          <a:ln w="0">
            <a:noFill/>
            <a:prstDash val="solid"/>
          </a:ln>
        </p:spPr>
        <p:txBody>
          <a:bodyPr wrap="square" lIns="0" tIns="0" rIns="0" bIns="0" anchor="ctr">
            <a:normAutofit/>
          </a:bodyPr>
          <a:lstStyle>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a:pPr algn="l">
              <a:defRPr sz="2025" b="1">
                <a:solidFill>
                  <a:srgbClr val="C55A2B"/>
                </a:solidFill>
                <a:latin typeface="Arial"/>
                <a:ea typeface="Arial"/>
                <a:cs typeface="Arial"/>
              </a:defRPr>
            </a:pPr>
            <a:r>
              <a:rPr lang="de-AT" sz="2025" b="1" noProof="0" dirty="0">
                <a:solidFill>
                  <a:srgbClr val="C55A2B"/>
                </a:solidFill>
                <a:latin typeface="Arial"/>
                <a:ea typeface="Arial"/>
                <a:cs typeface="Arial"/>
              </a:rPr>
              <a:t>01</a:t>
            </a:r>
          </a:p>
        </p:txBody>
      </p:sp>
      <p:sp>
        <p:nvSpPr>
          <p:cNvPr id="7" name="Rechteck 6">
            <a:extLst>
              <a:ext uri="{FF2B5EF4-FFF2-40B4-BE49-F238E27FC236}">
                <a16:creationId xmlns:a16="http://schemas.microsoft.com/office/drawing/2014/main" id="{99C720E0-79D5-4BCD-BCDC-D9AE4A194B3E}"/>
              </a:ext>
            </a:extLst>
          </p:cNvPr>
          <p:cNvSpPr>
            <a:spLocks noGrp="1"/>
          </p:cNvSpPr>
          <p:nvPr/>
        </p:nvSpPr>
        <p:spPr>
          <a:xfrm>
            <a:off x="1543050" y="1447800"/>
            <a:ext cx="9382125" cy="476250"/>
          </a:xfrm>
          <a:prstGeom prst="rect">
            <a:avLst/>
          </a:prstGeom>
          <a:noFill/>
          <a:ln w="0">
            <a:noFill/>
            <a:prstDash val="solid"/>
          </a:ln>
        </p:spPr>
        <p:txBody>
          <a:bodyPr wrap="square" lIns="0" tIns="0" rIns="0" bIns="0" anchor="ctr">
            <a:normAutofit/>
          </a:bodyPr>
          <a:lstStyle>
            <a:defPPr algn="l">
              <a:defRPr sz="2175" b="1">
                <a:solidFill>
                  <a:srgbClr val="202935"/>
                </a:solidFill>
                <a:latin typeface="Arial"/>
                <a:ea typeface="Arial"/>
                <a:cs typeface="Arial"/>
              </a:defRPr>
            </a:defPPr>
            <a:lvl1pPr algn="l">
              <a:defRPr sz="2175" b="1">
                <a:solidFill>
                  <a:srgbClr val="202935"/>
                </a:solidFill>
                <a:latin typeface="Arial"/>
                <a:ea typeface="Arial"/>
                <a:cs typeface="Arial"/>
              </a:defRPr>
            </a:lvl1pPr>
            <a:lvl2pPr algn="l">
              <a:defRPr sz="2175" b="1">
                <a:solidFill>
                  <a:srgbClr val="202935"/>
                </a:solidFill>
                <a:latin typeface="Arial"/>
                <a:ea typeface="Arial"/>
                <a:cs typeface="Arial"/>
              </a:defRPr>
            </a:lvl2pPr>
            <a:lvl3pPr algn="l">
              <a:defRPr sz="2175" b="1">
                <a:solidFill>
                  <a:srgbClr val="202935"/>
                </a:solidFill>
                <a:latin typeface="Arial"/>
                <a:ea typeface="Arial"/>
                <a:cs typeface="Arial"/>
              </a:defRPr>
            </a:lvl3pPr>
            <a:lvl4pPr algn="l">
              <a:defRPr sz="2175" b="1">
                <a:solidFill>
                  <a:srgbClr val="202935"/>
                </a:solidFill>
                <a:latin typeface="Arial"/>
                <a:ea typeface="Arial"/>
                <a:cs typeface="Arial"/>
              </a:defRPr>
            </a:lvl4pPr>
            <a:lvl5pPr algn="l">
              <a:defRPr sz="2175" b="1">
                <a:solidFill>
                  <a:srgbClr val="202935"/>
                </a:solidFill>
                <a:latin typeface="Arial"/>
                <a:ea typeface="Arial"/>
                <a:cs typeface="Arial"/>
              </a:defRPr>
            </a:lvl5pPr>
            <a:lvl6pPr algn="l">
              <a:defRPr sz="2175" b="1">
                <a:solidFill>
                  <a:srgbClr val="202935"/>
                </a:solidFill>
                <a:latin typeface="Arial"/>
                <a:ea typeface="Arial"/>
                <a:cs typeface="Arial"/>
              </a:defRPr>
            </a:lvl6pPr>
            <a:lvl7pPr algn="l">
              <a:defRPr sz="2175" b="1">
                <a:solidFill>
                  <a:srgbClr val="202935"/>
                </a:solidFill>
                <a:latin typeface="Arial"/>
                <a:ea typeface="Arial"/>
                <a:cs typeface="Arial"/>
              </a:defRPr>
            </a:lvl7pPr>
            <a:lvl8pPr algn="l">
              <a:defRPr sz="2175" b="1">
                <a:solidFill>
                  <a:srgbClr val="202935"/>
                </a:solidFill>
                <a:latin typeface="Arial"/>
                <a:ea typeface="Arial"/>
                <a:cs typeface="Arial"/>
              </a:defRPr>
            </a:lvl8pPr>
            <a:lvl9pPr algn="l">
              <a:defRPr sz="2175" b="1">
                <a:solidFill>
                  <a:srgbClr val="202935"/>
                </a:solidFill>
                <a:latin typeface="Arial"/>
                <a:ea typeface="Arial"/>
                <a:cs typeface="Arial"/>
              </a:defRPr>
            </a:lvl9pPr>
          </a:lstStyle>
          <a:p>
            <a:pPr algn="l">
              <a:defRPr sz="2175" b="1">
                <a:solidFill>
                  <a:srgbClr val="202935"/>
                </a:solidFill>
                <a:latin typeface="Arial"/>
                <a:ea typeface="Arial"/>
                <a:cs typeface="Arial"/>
              </a:defRPr>
            </a:pPr>
            <a:r>
              <a:rPr lang="de-AT" sz="2175" b="1" noProof="0" dirty="0">
                <a:solidFill>
                  <a:srgbClr val="202935"/>
                </a:solidFill>
                <a:latin typeface="Arial"/>
                <a:ea typeface="Arial"/>
                <a:cs typeface="Arial"/>
              </a:rPr>
              <a:t>Versionen kennen und patchen</a:t>
            </a:r>
          </a:p>
        </p:txBody>
      </p:sp>
      <p:sp>
        <p:nvSpPr>
          <p:cNvPr id="8" name="Rechteck 7">
            <a:extLst>
              <a:ext uri="{FF2B5EF4-FFF2-40B4-BE49-F238E27FC236}">
                <a16:creationId xmlns:a16="http://schemas.microsoft.com/office/drawing/2014/main" id="{B80FF0EE-3482-4B34-9B34-73CE1BFBDF7B}"/>
              </a:ext>
            </a:extLst>
          </p:cNvPr>
          <p:cNvSpPr>
            <a:spLocks noGrp="1"/>
          </p:cNvSpPr>
          <p:nvPr/>
        </p:nvSpPr>
        <p:spPr>
          <a:xfrm>
            <a:off x="1543050" y="1905000"/>
            <a:ext cx="9382125" cy="390525"/>
          </a:xfrm>
          <a:prstGeom prst="rect">
            <a:avLst/>
          </a:prstGeom>
          <a:noFill/>
          <a:ln w="0">
            <a:noFill/>
            <a:prstDash val="solid"/>
          </a:ln>
        </p:spPr>
        <p:txBody>
          <a:bodyPr wrap="square" lIns="0" tIns="0" rIns="0" bIns="0" anchor="ctr">
            <a:normAutofit/>
          </a:bodyPr>
          <a:lstStyle>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a:pPr algn="l">
              <a:defRPr sz="1575" b="0">
                <a:solidFill>
                  <a:srgbClr val="5D6872"/>
                </a:solidFill>
                <a:latin typeface="Arial"/>
                <a:ea typeface="Arial"/>
                <a:cs typeface="Arial"/>
              </a:defRPr>
            </a:pPr>
            <a:r>
              <a:rPr lang="de-AT" sz="1575" b="0" noProof="0" dirty="0" err="1">
                <a:solidFill>
                  <a:srgbClr val="5D6872"/>
                </a:solidFill>
                <a:latin typeface="Arial"/>
                <a:ea typeface="Arial"/>
                <a:cs typeface="Arial"/>
              </a:rPr>
              <a:t>Dependencies</a:t>
            </a:r>
            <a:r>
              <a:rPr lang="de-AT" sz="1575" b="0" noProof="0" dirty="0">
                <a:solidFill>
                  <a:srgbClr val="5D6872"/>
                </a:solidFill>
                <a:latin typeface="Arial"/>
                <a:ea typeface="Arial"/>
                <a:cs typeface="Arial"/>
              </a:rPr>
              <a:t> und </a:t>
            </a:r>
            <a:r>
              <a:rPr lang="de-AT" sz="1575" b="0" noProof="0" dirty="0" err="1">
                <a:solidFill>
                  <a:srgbClr val="5D6872"/>
                </a:solidFill>
                <a:latin typeface="Arial"/>
                <a:ea typeface="Arial"/>
                <a:cs typeface="Arial"/>
              </a:rPr>
              <a:t>Runtime</a:t>
            </a:r>
            <a:r>
              <a:rPr lang="de-AT" sz="1575" b="0" noProof="0" dirty="0">
                <a:solidFill>
                  <a:srgbClr val="5D6872"/>
                </a:solidFill>
                <a:latin typeface="Arial"/>
                <a:ea typeface="Arial"/>
                <a:cs typeface="Arial"/>
              </a:rPr>
              <a:t> im Blick behalten</a:t>
            </a:r>
          </a:p>
        </p:txBody>
      </p:sp>
      <p:sp>
        <p:nvSpPr>
          <p:cNvPr id="9" name="Gerader Verbinder 8">
            <a:extLst>
              <a:ext uri="{FF2B5EF4-FFF2-40B4-BE49-F238E27FC236}">
                <a16:creationId xmlns:a16="http://schemas.microsoft.com/office/drawing/2014/main" id="{D31D4E2B-4043-4D4E-B26B-C028EEAA4DEA}"/>
              </a:ext>
            </a:extLst>
          </p:cNvPr>
          <p:cNvSpPr>
            <a:spLocks noGrp="1"/>
          </p:cNvSpPr>
          <p:nvPr/>
        </p:nvSpPr>
        <p:spPr>
          <a:xfrm>
            <a:off x="762000" y="2438400"/>
            <a:ext cx="10191750" cy="0"/>
          </a:xfrm>
          <a:prstGeom prst="line">
            <a:avLst/>
          </a:prstGeom>
          <a:noFill/>
          <a:ln w="9525">
            <a:solidFill>
              <a:srgbClr val="D6D4CD"/>
            </a:solidFill>
            <a:prstDash val="solid"/>
          </a:ln>
        </p:spPr>
        <p:txBody>
          <a:bodyPr/>
          <a:lstStyle/>
          <a:p>
            <a:endParaRPr lang="de-AT" noProof="0" dirty="0"/>
          </a:p>
        </p:txBody>
      </p:sp>
      <p:sp>
        <p:nvSpPr>
          <p:cNvPr id="10" name="Rechteck 9">
            <a:extLst>
              <a:ext uri="{FF2B5EF4-FFF2-40B4-BE49-F238E27FC236}">
                <a16:creationId xmlns:a16="http://schemas.microsoft.com/office/drawing/2014/main" id="{3684DC21-65DE-4691-8067-BB522CBAD125}"/>
              </a:ext>
            </a:extLst>
          </p:cNvPr>
          <p:cNvSpPr>
            <a:spLocks noGrp="1"/>
          </p:cNvSpPr>
          <p:nvPr/>
        </p:nvSpPr>
        <p:spPr>
          <a:xfrm>
            <a:off x="742950" y="2543175"/>
            <a:ext cx="523875" cy="590550"/>
          </a:xfrm>
          <a:prstGeom prst="rect">
            <a:avLst/>
          </a:prstGeom>
          <a:noFill/>
          <a:ln w="0">
            <a:noFill/>
            <a:prstDash val="solid"/>
          </a:ln>
        </p:spPr>
        <p:txBody>
          <a:bodyPr wrap="square" lIns="0" tIns="0" rIns="0" bIns="0" anchor="ctr">
            <a:normAutofit/>
          </a:bodyPr>
          <a:lstStyle>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a:pPr algn="l">
              <a:defRPr sz="2025" b="1">
                <a:solidFill>
                  <a:srgbClr val="C55A2B"/>
                </a:solidFill>
                <a:latin typeface="Arial"/>
                <a:ea typeface="Arial"/>
                <a:cs typeface="Arial"/>
              </a:defRPr>
            </a:pPr>
            <a:r>
              <a:rPr lang="de-AT" sz="2025" b="1" noProof="0" dirty="0">
                <a:solidFill>
                  <a:srgbClr val="C55A2B"/>
                </a:solidFill>
                <a:latin typeface="Arial"/>
                <a:ea typeface="Arial"/>
                <a:cs typeface="Arial"/>
              </a:rPr>
              <a:t>02</a:t>
            </a:r>
          </a:p>
        </p:txBody>
      </p:sp>
      <p:sp>
        <p:nvSpPr>
          <p:cNvPr id="11" name="Rechteck 10">
            <a:extLst>
              <a:ext uri="{FF2B5EF4-FFF2-40B4-BE49-F238E27FC236}">
                <a16:creationId xmlns:a16="http://schemas.microsoft.com/office/drawing/2014/main" id="{2F6EE245-8E2B-4313-A90B-2C1AA11DDEBF}"/>
              </a:ext>
            </a:extLst>
          </p:cNvPr>
          <p:cNvSpPr>
            <a:spLocks noGrp="1"/>
          </p:cNvSpPr>
          <p:nvPr/>
        </p:nvSpPr>
        <p:spPr>
          <a:xfrm>
            <a:off x="1543050" y="2543175"/>
            <a:ext cx="9382125" cy="476250"/>
          </a:xfrm>
          <a:prstGeom prst="rect">
            <a:avLst/>
          </a:prstGeom>
          <a:noFill/>
          <a:ln w="0">
            <a:noFill/>
            <a:prstDash val="solid"/>
          </a:ln>
        </p:spPr>
        <p:txBody>
          <a:bodyPr wrap="square" lIns="0" tIns="0" rIns="0" bIns="0" anchor="ctr">
            <a:normAutofit/>
          </a:bodyPr>
          <a:lstStyle>
            <a:defPPr algn="l">
              <a:defRPr sz="2175" b="1">
                <a:solidFill>
                  <a:srgbClr val="202935"/>
                </a:solidFill>
                <a:latin typeface="Arial"/>
                <a:ea typeface="Arial"/>
                <a:cs typeface="Arial"/>
              </a:defRPr>
            </a:defPPr>
            <a:lvl1pPr algn="l">
              <a:defRPr sz="2175" b="1">
                <a:solidFill>
                  <a:srgbClr val="202935"/>
                </a:solidFill>
                <a:latin typeface="Arial"/>
                <a:ea typeface="Arial"/>
                <a:cs typeface="Arial"/>
              </a:defRPr>
            </a:lvl1pPr>
            <a:lvl2pPr algn="l">
              <a:defRPr sz="2175" b="1">
                <a:solidFill>
                  <a:srgbClr val="202935"/>
                </a:solidFill>
                <a:latin typeface="Arial"/>
                <a:ea typeface="Arial"/>
                <a:cs typeface="Arial"/>
              </a:defRPr>
            </a:lvl2pPr>
            <a:lvl3pPr algn="l">
              <a:defRPr sz="2175" b="1">
                <a:solidFill>
                  <a:srgbClr val="202935"/>
                </a:solidFill>
                <a:latin typeface="Arial"/>
                <a:ea typeface="Arial"/>
                <a:cs typeface="Arial"/>
              </a:defRPr>
            </a:lvl3pPr>
            <a:lvl4pPr algn="l">
              <a:defRPr sz="2175" b="1">
                <a:solidFill>
                  <a:srgbClr val="202935"/>
                </a:solidFill>
                <a:latin typeface="Arial"/>
                <a:ea typeface="Arial"/>
                <a:cs typeface="Arial"/>
              </a:defRPr>
            </a:lvl4pPr>
            <a:lvl5pPr algn="l">
              <a:defRPr sz="2175" b="1">
                <a:solidFill>
                  <a:srgbClr val="202935"/>
                </a:solidFill>
                <a:latin typeface="Arial"/>
                <a:ea typeface="Arial"/>
                <a:cs typeface="Arial"/>
              </a:defRPr>
            </a:lvl5pPr>
            <a:lvl6pPr algn="l">
              <a:defRPr sz="2175" b="1">
                <a:solidFill>
                  <a:srgbClr val="202935"/>
                </a:solidFill>
                <a:latin typeface="Arial"/>
                <a:ea typeface="Arial"/>
                <a:cs typeface="Arial"/>
              </a:defRPr>
            </a:lvl6pPr>
            <a:lvl7pPr algn="l">
              <a:defRPr sz="2175" b="1">
                <a:solidFill>
                  <a:srgbClr val="202935"/>
                </a:solidFill>
                <a:latin typeface="Arial"/>
                <a:ea typeface="Arial"/>
                <a:cs typeface="Arial"/>
              </a:defRPr>
            </a:lvl7pPr>
            <a:lvl8pPr algn="l">
              <a:defRPr sz="2175" b="1">
                <a:solidFill>
                  <a:srgbClr val="202935"/>
                </a:solidFill>
                <a:latin typeface="Arial"/>
                <a:ea typeface="Arial"/>
                <a:cs typeface="Arial"/>
              </a:defRPr>
            </a:lvl8pPr>
            <a:lvl9pPr algn="l">
              <a:defRPr sz="2175" b="1">
                <a:solidFill>
                  <a:srgbClr val="202935"/>
                </a:solidFill>
                <a:latin typeface="Arial"/>
                <a:ea typeface="Arial"/>
                <a:cs typeface="Arial"/>
              </a:defRPr>
            </a:lvl9pPr>
          </a:lstStyle>
          <a:p>
            <a:pPr algn="l">
              <a:defRPr sz="2175" b="1">
                <a:solidFill>
                  <a:srgbClr val="202935"/>
                </a:solidFill>
                <a:latin typeface="Arial"/>
                <a:ea typeface="Arial"/>
                <a:cs typeface="Arial"/>
              </a:defRPr>
            </a:pPr>
            <a:r>
              <a:rPr lang="de-AT" sz="2175" b="1" noProof="0" dirty="0">
                <a:solidFill>
                  <a:srgbClr val="202935"/>
                </a:solidFill>
                <a:latin typeface="Arial"/>
                <a:ea typeface="Arial"/>
                <a:cs typeface="Arial"/>
              </a:rPr>
              <a:t>Management Endpoints schützen</a:t>
            </a:r>
          </a:p>
        </p:txBody>
      </p:sp>
      <p:sp>
        <p:nvSpPr>
          <p:cNvPr id="12" name="Rechteck 11">
            <a:extLst>
              <a:ext uri="{FF2B5EF4-FFF2-40B4-BE49-F238E27FC236}">
                <a16:creationId xmlns:a16="http://schemas.microsoft.com/office/drawing/2014/main" id="{A0A37BD1-06E9-4237-8D97-E026D5D2E542}"/>
              </a:ext>
            </a:extLst>
          </p:cNvPr>
          <p:cNvSpPr>
            <a:spLocks noGrp="1"/>
          </p:cNvSpPr>
          <p:nvPr/>
        </p:nvSpPr>
        <p:spPr>
          <a:xfrm>
            <a:off x="1543050" y="3000375"/>
            <a:ext cx="9382125" cy="390525"/>
          </a:xfrm>
          <a:prstGeom prst="rect">
            <a:avLst/>
          </a:prstGeom>
          <a:noFill/>
          <a:ln w="0">
            <a:noFill/>
            <a:prstDash val="solid"/>
          </a:ln>
        </p:spPr>
        <p:txBody>
          <a:bodyPr wrap="square" lIns="0" tIns="0" rIns="0" bIns="0" anchor="ctr">
            <a:normAutofit/>
          </a:bodyPr>
          <a:lstStyle>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a:pPr algn="l">
              <a:defRPr sz="1575" b="0">
                <a:solidFill>
                  <a:srgbClr val="5D6872"/>
                </a:solidFill>
                <a:latin typeface="Arial"/>
                <a:ea typeface="Arial"/>
                <a:cs typeface="Arial"/>
              </a:defRPr>
            </a:pPr>
            <a:r>
              <a:rPr lang="de-AT" sz="1575" b="0" noProof="0" dirty="0">
                <a:solidFill>
                  <a:srgbClr val="5D6872"/>
                </a:solidFill>
                <a:latin typeface="Arial"/>
                <a:ea typeface="Arial"/>
                <a:cs typeface="Arial"/>
              </a:rPr>
              <a:t>Erreichbarkeit und Rechte prüfen</a:t>
            </a:r>
          </a:p>
        </p:txBody>
      </p:sp>
      <p:sp>
        <p:nvSpPr>
          <p:cNvPr id="13" name="Gerader Verbinder 12">
            <a:extLst>
              <a:ext uri="{FF2B5EF4-FFF2-40B4-BE49-F238E27FC236}">
                <a16:creationId xmlns:a16="http://schemas.microsoft.com/office/drawing/2014/main" id="{7B1E1A96-50BE-4756-A646-7EC8F1AB889D}"/>
              </a:ext>
            </a:extLst>
          </p:cNvPr>
          <p:cNvSpPr>
            <a:spLocks noGrp="1"/>
          </p:cNvSpPr>
          <p:nvPr/>
        </p:nvSpPr>
        <p:spPr>
          <a:xfrm>
            <a:off x="762000" y="3533775"/>
            <a:ext cx="10191750" cy="0"/>
          </a:xfrm>
          <a:prstGeom prst="line">
            <a:avLst/>
          </a:prstGeom>
          <a:noFill/>
          <a:ln w="9525">
            <a:solidFill>
              <a:srgbClr val="D6D4CD"/>
            </a:solidFill>
            <a:prstDash val="solid"/>
          </a:ln>
        </p:spPr>
        <p:txBody>
          <a:bodyPr/>
          <a:lstStyle/>
          <a:p>
            <a:endParaRPr lang="de-AT" noProof="0" dirty="0"/>
          </a:p>
        </p:txBody>
      </p:sp>
      <p:sp>
        <p:nvSpPr>
          <p:cNvPr id="14" name="Rechteck 13">
            <a:extLst>
              <a:ext uri="{FF2B5EF4-FFF2-40B4-BE49-F238E27FC236}">
                <a16:creationId xmlns:a16="http://schemas.microsoft.com/office/drawing/2014/main" id="{D4FA23F9-915A-4313-92D0-9F114897CE39}"/>
              </a:ext>
            </a:extLst>
          </p:cNvPr>
          <p:cNvSpPr>
            <a:spLocks noGrp="1"/>
          </p:cNvSpPr>
          <p:nvPr/>
        </p:nvSpPr>
        <p:spPr>
          <a:xfrm>
            <a:off x="742950" y="3638550"/>
            <a:ext cx="523875" cy="590550"/>
          </a:xfrm>
          <a:prstGeom prst="rect">
            <a:avLst/>
          </a:prstGeom>
          <a:noFill/>
          <a:ln w="0">
            <a:noFill/>
            <a:prstDash val="solid"/>
          </a:ln>
        </p:spPr>
        <p:txBody>
          <a:bodyPr wrap="square" lIns="0" tIns="0" rIns="0" bIns="0" anchor="ctr">
            <a:normAutofit/>
          </a:bodyPr>
          <a:lstStyle>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a:pPr algn="l">
              <a:defRPr sz="2025" b="1">
                <a:solidFill>
                  <a:srgbClr val="C55A2B"/>
                </a:solidFill>
                <a:latin typeface="Arial"/>
                <a:ea typeface="Arial"/>
                <a:cs typeface="Arial"/>
              </a:defRPr>
            </a:pPr>
            <a:r>
              <a:rPr lang="de-AT" sz="2025" b="1" noProof="0" dirty="0">
                <a:solidFill>
                  <a:srgbClr val="C55A2B"/>
                </a:solidFill>
                <a:latin typeface="Arial"/>
                <a:ea typeface="Arial"/>
                <a:cs typeface="Arial"/>
              </a:rPr>
              <a:t>03</a:t>
            </a:r>
          </a:p>
        </p:txBody>
      </p:sp>
      <p:sp>
        <p:nvSpPr>
          <p:cNvPr id="15" name="Rechteck 14">
            <a:extLst>
              <a:ext uri="{FF2B5EF4-FFF2-40B4-BE49-F238E27FC236}">
                <a16:creationId xmlns:a16="http://schemas.microsoft.com/office/drawing/2014/main" id="{DCD0725E-2668-4938-BBD4-8F378769472D}"/>
              </a:ext>
            </a:extLst>
          </p:cNvPr>
          <p:cNvSpPr>
            <a:spLocks noGrp="1"/>
          </p:cNvSpPr>
          <p:nvPr/>
        </p:nvSpPr>
        <p:spPr>
          <a:xfrm>
            <a:off x="1543050" y="3638550"/>
            <a:ext cx="9382125" cy="476250"/>
          </a:xfrm>
          <a:prstGeom prst="rect">
            <a:avLst/>
          </a:prstGeom>
          <a:noFill/>
          <a:ln w="0">
            <a:noFill/>
            <a:prstDash val="solid"/>
          </a:ln>
        </p:spPr>
        <p:txBody>
          <a:bodyPr wrap="square" lIns="0" tIns="0" rIns="0" bIns="0" anchor="ctr">
            <a:normAutofit/>
          </a:bodyPr>
          <a:lstStyle>
            <a:defPPr algn="l">
              <a:defRPr sz="2175" b="1">
                <a:solidFill>
                  <a:srgbClr val="202935"/>
                </a:solidFill>
                <a:latin typeface="Arial"/>
                <a:ea typeface="Arial"/>
                <a:cs typeface="Arial"/>
              </a:defRPr>
            </a:defPPr>
            <a:lvl1pPr algn="l">
              <a:defRPr sz="2175" b="1">
                <a:solidFill>
                  <a:srgbClr val="202935"/>
                </a:solidFill>
                <a:latin typeface="Arial"/>
                <a:ea typeface="Arial"/>
                <a:cs typeface="Arial"/>
              </a:defRPr>
            </a:lvl1pPr>
            <a:lvl2pPr algn="l">
              <a:defRPr sz="2175" b="1">
                <a:solidFill>
                  <a:srgbClr val="202935"/>
                </a:solidFill>
                <a:latin typeface="Arial"/>
                <a:ea typeface="Arial"/>
                <a:cs typeface="Arial"/>
              </a:defRPr>
            </a:lvl2pPr>
            <a:lvl3pPr algn="l">
              <a:defRPr sz="2175" b="1">
                <a:solidFill>
                  <a:srgbClr val="202935"/>
                </a:solidFill>
                <a:latin typeface="Arial"/>
                <a:ea typeface="Arial"/>
                <a:cs typeface="Arial"/>
              </a:defRPr>
            </a:lvl3pPr>
            <a:lvl4pPr algn="l">
              <a:defRPr sz="2175" b="1">
                <a:solidFill>
                  <a:srgbClr val="202935"/>
                </a:solidFill>
                <a:latin typeface="Arial"/>
                <a:ea typeface="Arial"/>
                <a:cs typeface="Arial"/>
              </a:defRPr>
            </a:lvl4pPr>
            <a:lvl5pPr algn="l">
              <a:defRPr sz="2175" b="1">
                <a:solidFill>
                  <a:srgbClr val="202935"/>
                </a:solidFill>
                <a:latin typeface="Arial"/>
                <a:ea typeface="Arial"/>
                <a:cs typeface="Arial"/>
              </a:defRPr>
            </a:lvl5pPr>
            <a:lvl6pPr algn="l">
              <a:defRPr sz="2175" b="1">
                <a:solidFill>
                  <a:srgbClr val="202935"/>
                </a:solidFill>
                <a:latin typeface="Arial"/>
                <a:ea typeface="Arial"/>
                <a:cs typeface="Arial"/>
              </a:defRPr>
            </a:lvl6pPr>
            <a:lvl7pPr algn="l">
              <a:defRPr sz="2175" b="1">
                <a:solidFill>
                  <a:srgbClr val="202935"/>
                </a:solidFill>
                <a:latin typeface="Arial"/>
                <a:ea typeface="Arial"/>
                <a:cs typeface="Arial"/>
              </a:defRPr>
            </a:lvl7pPr>
            <a:lvl8pPr algn="l">
              <a:defRPr sz="2175" b="1">
                <a:solidFill>
                  <a:srgbClr val="202935"/>
                </a:solidFill>
                <a:latin typeface="Arial"/>
                <a:ea typeface="Arial"/>
                <a:cs typeface="Arial"/>
              </a:defRPr>
            </a:lvl8pPr>
            <a:lvl9pPr algn="l">
              <a:defRPr sz="2175" b="1">
                <a:solidFill>
                  <a:srgbClr val="202935"/>
                </a:solidFill>
                <a:latin typeface="Arial"/>
                <a:ea typeface="Arial"/>
                <a:cs typeface="Arial"/>
              </a:defRPr>
            </a:lvl9pPr>
          </a:lstStyle>
          <a:p>
            <a:pPr algn="l">
              <a:defRPr sz="2175" b="1">
                <a:solidFill>
                  <a:srgbClr val="202935"/>
                </a:solidFill>
                <a:latin typeface="Arial"/>
                <a:ea typeface="Arial"/>
                <a:cs typeface="Arial"/>
              </a:defRPr>
            </a:pPr>
            <a:r>
              <a:rPr lang="de-AT" sz="2175" b="1" noProof="0" dirty="0">
                <a:solidFill>
                  <a:srgbClr val="202935"/>
                </a:solidFill>
                <a:latin typeface="Arial"/>
                <a:ea typeface="Arial"/>
                <a:cs typeface="Arial"/>
              </a:rPr>
              <a:t>Datenfluss prüfen</a:t>
            </a:r>
          </a:p>
        </p:txBody>
      </p:sp>
      <p:sp>
        <p:nvSpPr>
          <p:cNvPr id="16" name="Rechteck 15">
            <a:extLst>
              <a:ext uri="{FF2B5EF4-FFF2-40B4-BE49-F238E27FC236}">
                <a16:creationId xmlns:a16="http://schemas.microsoft.com/office/drawing/2014/main" id="{494F9E48-4BBE-416E-9CDE-2DC8D15E058B}"/>
              </a:ext>
            </a:extLst>
          </p:cNvPr>
          <p:cNvSpPr>
            <a:spLocks noGrp="1"/>
          </p:cNvSpPr>
          <p:nvPr/>
        </p:nvSpPr>
        <p:spPr>
          <a:xfrm>
            <a:off x="1543050" y="4095750"/>
            <a:ext cx="9382125" cy="390525"/>
          </a:xfrm>
          <a:prstGeom prst="rect">
            <a:avLst/>
          </a:prstGeom>
          <a:noFill/>
          <a:ln w="0">
            <a:noFill/>
            <a:prstDash val="solid"/>
          </a:ln>
        </p:spPr>
        <p:txBody>
          <a:bodyPr wrap="square" lIns="0" tIns="0" rIns="0" bIns="0" anchor="ctr">
            <a:normAutofit/>
          </a:bodyPr>
          <a:lstStyle>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a:pPr algn="l">
              <a:defRPr sz="1575" b="0">
                <a:solidFill>
                  <a:srgbClr val="5D6872"/>
                </a:solidFill>
                <a:latin typeface="Arial"/>
                <a:ea typeface="Arial"/>
                <a:cs typeface="Arial"/>
              </a:defRPr>
            </a:pPr>
            <a:r>
              <a:rPr lang="de-AT" sz="1575" b="0" noProof="0" dirty="0">
                <a:solidFill>
                  <a:srgbClr val="5D6872"/>
                </a:solidFill>
                <a:latin typeface="Arial"/>
                <a:ea typeface="Arial"/>
                <a:cs typeface="Arial"/>
              </a:rPr>
              <a:t>Headers, Input und SQL bis zum Ziel verfolgen</a:t>
            </a:r>
          </a:p>
        </p:txBody>
      </p:sp>
      <p:sp>
        <p:nvSpPr>
          <p:cNvPr id="17" name="Gerader Verbinder 16">
            <a:extLst>
              <a:ext uri="{FF2B5EF4-FFF2-40B4-BE49-F238E27FC236}">
                <a16:creationId xmlns:a16="http://schemas.microsoft.com/office/drawing/2014/main" id="{C89D2555-B762-444D-BD9B-0AE0D87EA64A}"/>
              </a:ext>
            </a:extLst>
          </p:cNvPr>
          <p:cNvSpPr>
            <a:spLocks noGrp="1"/>
          </p:cNvSpPr>
          <p:nvPr/>
        </p:nvSpPr>
        <p:spPr>
          <a:xfrm>
            <a:off x="762000" y="4629150"/>
            <a:ext cx="10191750" cy="0"/>
          </a:xfrm>
          <a:prstGeom prst="line">
            <a:avLst/>
          </a:prstGeom>
          <a:noFill/>
          <a:ln w="9525">
            <a:solidFill>
              <a:srgbClr val="D6D4CD"/>
            </a:solidFill>
            <a:prstDash val="solid"/>
          </a:ln>
        </p:spPr>
        <p:txBody>
          <a:bodyPr/>
          <a:lstStyle/>
          <a:p>
            <a:endParaRPr lang="de-AT" noProof="0" dirty="0"/>
          </a:p>
        </p:txBody>
      </p:sp>
      <p:sp>
        <p:nvSpPr>
          <p:cNvPr id="18" name="Rechteck 17">
            <a:extLst>
              <a:ext uri="{FF2B5EF4-FFF2-40B4-BE49-F238E27FC236}">
                <a16:creationId xmlns:a16="http://schemas.microsoft.com/office/drawing/2014/main" id="{68F4789E-F4CD-4DAC-8BB2-6DC935200A20}"/>
              </a:ext>
            </a:extLst>
          </p:cNvPr>
          <p:cNvSpPr>
            <a:spLocks noGrp="1"/>
          </p:cNvSpPr>
          <p:nvPr/>
        </p:nvSpPr>
        <p:spPr>
          <a:xfrm>
            <a:off x="742950" y="4733925"/>
            <a:ext cx="523875" cy="590550"/>
          </a:xfrm>
          <a:prstGeom prst="rect">
            <a:avLst/>
          </a:prstGeom>
          <a:noFill/>
          <a:ln w="0">
            <a:noFill/>
            <a:prstDash val="solid"/>
          </a:ln>
        </p:spPr>
        <p:txBody>
          <a:bodyPr wrap="square" lIns="0" tIns="0" rIns="0" bIns="0" anchor="ctr">
            <a:normAutofit/>
          </a:bodyPr>
          <a:lstStyle>
            <a:defPPr algn="l">
              <a:defRPr sz="2025" b="1">
                <a:solidFill>
                  <a:srgbClr val="C55A2B"/>
                </a:solidFill>
                <a:latin typeface="Arial"/>
                <a:ea typeface="Arial"/>
                <a:cs typeface="Arial"/>
              </a:defRPr>
            </a:defPPr>
            <a:lvl1pPr algn="l">
              <a:defRPr sz="2025" b="1">
                <a:solidFill>
                  <a:srgbClr val="C55A2B"/>
                </a:solidFill>
                <a:latin typeface="Arial"/>
                <a:ea typeface="Arial"/>
                <a:cs typeface="Arial"/>
              </a:defRPr>
            </a:lvl1pPr>
            <a:lvl2pPr algn="l">
              <a:defRPr sz="2025" b="1">
                <a:solidFill>
                  <a:srgbClr val="C55A2B"/>
                </a:solidFill>
                <a:latin typeface="Arial"/>
                <a:ea typeface="Arial"/>
                <a:cs typeface="Arial"/>
              </a:defRPr>
            </a:lvl2pPr>
            <a:lvl3pPr algn="l">
              <a:defRPr sz="2025" b="1">
                <a:solidFill>
                  <a:srgbClr val="C55A2B"/>
                </a:solidFill>
                <a:latin typeface="Arial"/>
                <a:ea typeface="Arial"/>
                <a:cs typeface="Arial"/>
              </a:defRPr>
            </a:lvl3pPr>
            <a:lvl4pPr algn="l">
              <a:defRPr sz="2025" b="1">
                <a:solidFill>
                  <a:srgbClr val="C55A2B"/>
                </a:solidFill>
                <a:latin typeface="Arial"/>
                <a:ea typeface="Arial"/>
                <a:cs typeface="Arial"/>
              </a:defRPr>
            </a:lvl4pPr>
            <a:lvl5pPr algn="l">
              <a:defRPr sz="2025" b="1">
                <a:solidFill>
                  <a:srgbClr val="C55A2B"/>
                </a:solidFill>
                <a:latin typeface="Arial"/>
                <a:ea typeface="Arial"/>
                <a:cs typeface="Arial"/>
              </a:defRPr>
            </a:lvl5pPr>
            <a:lvl6pPr algn="l">
              <a:defRPr sz="2025" b="1">
                <a:solidFill>
                  <a:srgbClr val="C55A2B"/>
                </a:solidFill>
                <a:latin typeface="Arial"/>
                <a:ea typeface="Arial"/>
                <a:cs typeface="Arial"/>
              </a:defRPr>
            </a:lvl6pPr>
            <a:lvl7pPr algn="l">
              <a:defRPr sz="2025" b="1">
                <a:solidFill>
                  <a:srgbClr val="C55A2B"/>
                </a:solidFill>
                <a:latin typeface="Arial"/>
                <a:ea typeface="Arial"/>
                <a:cs typeface="Arial"/>
              </a:defRPr>
            </a:lvl7pPr>
            <a:lvl8pPr algn="l">
              <a:defRPr sz="2025" b="1">
                <a:solidFill>
                  <a:srgbClr val="C55A2B"/>
                </a:solidFill>
                <a:latin typeface="Arial"/>
                <a:ea typeface="Arial"/>
                <a:cs typeface="Arial"/>
              </a:defRPr>
            </a:lvl8pPr>
            <a:lvl9pPr algn="l">
              <a:defRPr sz="2025" b="1">
                <a:solidFill>
                  <a:srgbClr val="C55A2B"/>
                </a:solidFill>
                <a:latin typeface="Arial"/>
                <a:ea typeface="Arial"/>
                <a:cs typeface="Arial"/>
              </a:defRPr>
            </a:lvl9pPr>
          </a:lstStyle>
          <a:p>
            <a:pPr algn="l">
              <a:defRPr sz="2025" b="1">
                <a:solidFill>
                  <a:srgbClr val="C55A2B"/>
                </a:solidFill>
                <a:latin typeface="Arial"/>
                <a:ea typeface="Arial"/>
                <a:cs typeface="Arial"/>
              </a:defRPr>
            </a:pPr>
            <a:r>
              <a:rPr lang="de-AT" sz="2025" b="1" noProof="0" dirty="0">
                <a:solidFill>
                  <a:srgbClr val="C55A2B"/>
                </a:solidFill>
                <a:latin typeface="Arial"/>
                <a:ea typeface="Arial"/>
                <a:cs typeface="Arial"/>
              </a:rPr>
              <a:t>04</a:t>
            </a:r>
          </a:p>
        </p:txBody>
      </p:sp>
      <p:sp>
        <p:nvSpPr>
          <p:cNvPr id="19" name="Rechteck 18">
            <a:extLst>
              <a:ext uri="{FF2B5EF4-FFF2-40B4-BE49-F238E27FC236}">
                <a16:creationId xmlns:a16="http://schemas.microsoft.com/office/drawing/2014/main" id="{1BA14DD3-7AD8-4038-8B28-2F8BDAF3007E}"/>
              </a:ext>
            </a:extLst>
          </p:cNvPr>
          <p:cNvSpPr>
            <a:spLocks noGrp="1"/>
          </p:cNvSpPr>
          <p:nvPr/>
        </p:nvSpPr>
        <p:spPr>
          <a:xfrm>
            <a:off x="1543050" y="4733925"/>
            <a:ext cx="9382125" cy="476250"/>
          </a:xfrm>
          <a:prstGeom prst="rect">
            <a:avLst/>
          </a:prstGeom>
          <a:noFill/>
          <a:ln w="0">
            <a:noFill/>
            <a:prstDash val="solid"/>
          </a:ln>
        </p:spPr>
        <p:txBody>
          <a:bodyPr wrap="square" lIns="0" tIns="0" rIns="0" bIns="0" anchor="ctr">
            <a:normAutofit/>
          </a:bodyPr>
          <a:lstStyle>
            <a:defPPr algn="l">
              <a:defRPr sz="2175" b="1">
                <a:solidFill>
                  <a:srgbClr val="202935"/>
                </a:solidFill>
                <a:latin typeface="Arial"/>
                <a:ea typeface="Arial"/>
                <a:cs typeface="Arial"/>
              </a:defRPr>
            </a:defPPr>
            <a:lvl1pPr algn="l">
              <a:defRPr sz="2175" b="1">
                <a:solidFill>
                  <a:srgbClr val="202935"/>
                </a:solidFill>
                <a:latin typeface="Arial"/>
                <a:ea typeface="Arial"/>
                <a:cs typeface="Arial"/>
              </a:defRPr>
            </a:lvl1pPr>
            <a:lvl2pPr algn="l">
              <a:defRPr sz="2175" b="1">
                <a:solidFill>
                  <a:srgbClr val="202935"/>
                </a:solidFill>
                <a:latin typeface="Arial"/>
                <a:ea typeface="Arial"/>
                <a:cs typeface="Arial"/>
              </a:defRPr>
            </a:lvl2pPr>
            <a:lvl3pPr algn="l">
              <a:defRPr sz="2175" b="1">
                <a:solidFill>
                  <a:srgbClr val="202935"/>
                </a:solidFill>
                <a:latin typeface="Arial"/>
                <a:ea typeface="Arial"/>
                <a:cs typeface="Arial"/>
              </a:defRPr>
            </a:lvl3pPr>
            <a:lvl4pPr algn="l">
              <a:defRPr sz="2175" b="1">
                <a:solidFill>
                  <a:srgbClr val="202935"/>
                </a:solidFill>
                <a:latin typeface="Arial"/>
                <a:ea typeface="Arial"/>
                <a:cs typeface="Arial"/>
              </a:defRPr>
            </a:lvl4pPr>
            <a:lvl5pPr algn="l">
              <a:defRPr sz="2175" b="1">
                <a:solidFill>
                  <a:srgbClr val="202935"/>
                </a:solidFill>
                <a:latin typeface="Arial"/>
                <a:ea typeface="Arial"/>
                <a:cs typeface="Arial"/>
              </a:defRPr>
            </a:lvl5pPr>
            <a:lvl6pPr algn="l">
              <a:defRPr sz="2175" b="1">
                <a:solidFill>
                  <a:srgbClr val="202935"/>
                </a:solidFill>
                <a:latin typeface="Arial"/>
                <a:ea typeface="Arial"/>
                <a:cs typeface="Arial"/>
              </a:defRPr>
            </a:lvl6pPr>
            <a:lvl7pPr algn="l">
              <a:defRPr sz="2175" b="1">
                <a:solidFill>
                  <a:srgbClr val="202935"/>
                </a:solidFill>
                <a:latin typeface="Arial"/>
                <a:ea typeface="Arial"/>
                <a:cs typeface="Arial"/>
              </a:defRPr>
            </a:lvl7pPr>
            <a:lvl8pPr algn="l">
              <a:defRPr sz="2175" b="1">
                <a:solidFill>
                  <a:srgbClr val="202935"/>
                </a:solidFill>
                <a:latin typeface="Arial"/>
                <a:ea typeface="Arial"/>
                <a:cs typeface="Arial"/>
              </a:defRPr>
            </a:lvl8pPr>
            <a:lvl9pPr algn="l">
              <a:defRPr sz="2175" b="1">
                <a:solidFill>
                  <a:srgbClr val="202935"/>
                </a:solidFill>
                <a:latin typeface="Arial"/>
                <a:ea typeface="Arial"/>
                <a:cs typeface="Arial"/>
              </a:defRPr>
            </a:lvl9pPr>
          </a:lstStyle>
          <a:p>
            <a:pPr algn="l">
              <a:defRPr sz="2175" b="1">
                <a:solidFill>
                  <a:srgbClr val="202935"/>
                </a:solidFill>
                <a:latin typeface="Arial"/>
                <a:ea typeface="Arial"/>
                <a:cs typeface="Arial"/>
              </a:defRPr>
            </a:pPr>
            <a:r>
              <a:rPr lang="de-AT" sz="2175" b="1" noProof="0" dirty="0">
                <a:solidFill>
                  <a:srgbClr val="202935"/>
                </a:solidFill>
                <a:latin typeface="Arial"/>
                <a:ea typeface="Arial"/>
                <a:cs typeface="Arial"/>
              </a:rPr>
              <a:t>Auth-Flows nicht selbst verkürzen</a:t>
            </a:r>
          </a:p>
        </p:txBody>
      </p:sp>
      <p:sp>
        <p:nvSpPr>
          <p:cNvPr id="20" name="Rechteck 19">
            <a:extLst>
              <a:ext uri="{FF2B5EF4-FFF2-40B4-BE49-F238E27FC236}">
                <a16:creationId xmlns:a16="http://schemas.microsoft.com/office/drawing/2014/main" id="{8EEC617C-BC90-4B4B-B791-A4714BEA6382}"/>
              </a:ext>
            </a:extLst>
          </p:cNvPr>
          <p:cNvSpPr>
            <a:spLocks noGrp="1"/>
          </p:cNvSpPr>
          <p:nvPr/>
        </p:nvSpPr>
        <p:spPr>
          <a:xfrm>
            <a:off x="1543050" y="5191125"/>
            <a:ext cx="9382125" cy="390525"/>
          </a:xfrm>
          <a:prstGeom prst="rect">
            <a:avLst/>
          </a:prstGeom>
          <a:noFill/>
          <a:ln w="0">
            <a:noFill/>
            <a:prstDash val="solid"/>
          </a:ln>
        </p:spPr>
        <p:txBody>
          <a:bodyPr wrap="square" lIns="0" tIns="0" rIns="0" bIns="0" anchor="ctr">
            <a:normAutofit/>
          </a:bodyPr>
          <a:lstStyle>
            <a:defPPr algn="l">
              <a:defRPr sz="1575" b="0">
                <a:solidFill>
                  <a:srgbClr val="5D6872"/>
                </a:solidFill>
                <a:latin typeface="Arial"/>
                <a:ea typeface="Arial"/>
                <a:cs typeface="Arial"/>
              </a:defRPr>
            </a:defPPr>
            <a:lvl1pPr algn="l">
              <a:defRPr sz="1575" b="0">
                <a:solidFill>
                  <a:srgbClr val="5D6872"/>
                </a:solidFill>
                <a:latin typeface="Arial"/>
                <a:ea typeface="Arial"/>
                <a:cs typeface="Arial"/>
              </a:defRPr>
            </a:lvl1pPr>
            <a:lvl2pPr algn="l">
              <a:defRPr sz="1575" b="0">
                <a:solidFill>
                  <a:srgbClr val="5D6872"/>
                </a:solidFill>
                <a:latin typeface="Arial"/>
                <a:ea typeface="Arial"/>
                <a:cs typeface="Arial"/>
              </a:defRPr>
            </a:lvl2pPr>
            <a:lvl3pPr algn="l">
              <a:defRPr sz="1575" b="0">
                <a:solidFill>
                  <a:srgbClr val="5D6872"/>
                </a:solidFill>
                <a:latin typeface="Arial"/>
                <a:ea typeface="Arial"/>
                <a:cs typeface="Arial"/>
              </a:defRPr>
            </a:lvl3pPr>
            <a:lvl4pPr algn="l">
              <a:defRPr sz="1575" b="0">
                <a:solidFill>
                  <a:srgbClr val="5D6872"/>
                </a:solidFill>
                <a:latin typeface="Arial"/>
                <a:ea typeface="Arial"/>
                <a:cs typeface="Arial"/>
              </a:defRPr>
            </a:lvl4pPr>
            <a:lvl5pPr algn="l">
              <a:defRPr sz="1575" b="0">
                <a:solidFill>
                  <a:srgbClr val="5D6872"/>
                </a:solidFill>
                <a:latin typeface="Arial"/>
                <a:ea typeface="Arial"/>
                <a:cs typeface="Arial"/>
              </a:defRPr>
            </a:lvl5pPr>
            <a:lvl6pPr algn="l">
              <a:defRPr sz="1575" b="0">
                <a:solidFill>
                  <a:srgbClr val="5D6872"/>
                </a:solidFill>
                <a:latin typeface="Arial"/>
                <a:ea typeface="Arial"/>
                <a:cs typeface="Arial"/>
              </a:defRPr>
            </a:lvl6pPr>
            <a:lvl7pPr algn="l">
              <a:defRPr sz="1575" b="0">
                <a:solidFill>
                  <a:srgbClr val="5D6872"/>
                </a:solidFill>
                <a:latin typeface="Arial"/>
                <a:ea typeface="Arial"/>
                <a:cs typeface="Arial"/>
              </a:defRPr>
            </a:lvl7pPr>
            <a:lvl8pPr algn="l">
              <a:defRPr sz="1575" b="0">
                <a:solidFill>
                  <a:srgbClr val="5D6872"/>
                </a:solidFill>
                <a:latin typeface="Arial"/>
                <a:ea typeface="Arial"/>
                <a:cs typeface="Arial"/>
              </a:defRPr>
            </a:lvl8pPr>
            <a:lvl9pPr algn="l">
              <a:defRPr sz="1575" b="0">
                <a:solidFill>
                  <a:srgbClr val="5D6872"/>
                </a:solidFill>
                <a:latin typeface="Arial"/>
                <a:ea typeface="Arial"/>
                <a:cs typeface="Arial"/>
              </a:defRPr>
            </a:lvl9pPr>
          </a:lstStyle>
          <a:p>
            <a:pPr algn="l">
              <a:defRPr sz="1575" b="0">
                <a:solidFill>
                  <a:srgbClr val="5D6872"/>
                </a:solidFill>
                <a:latin typeface="Arial"/>
                <a:ea typeface="Arial"/>
                <a:cs typeface="Arial"/>
              </a:defRPr>
            </a:pPr>
            <a:r>
              <a:rPr lang="de-AT" sz="1575" b="0" noProof="0" dirty="0">
                <a:solidFill>
                  <a:srgbClr val="5D6872"/>
                </a:solidFill>
                <a:latin typeface="Arial"/>
                <a:ea typeface="Arial"/>
                <a:cs typeface="Arial"/>
              </a:rPr>
              <a:t>Standard-Komponenten und Rate Limits nutzen</a:t>
            </a:r>
          </a:p>
        </p:txBody>
      </p:sp>
    </p:spTree>
    <p:extLst>
      <p:ext uri="{BB962C8B-B14F-4D97-AF65-F5344CB8AC3E}">
        <p14:creationId xmlns:p14="http://schemas.microsoft.com/office/powerpoint/2010/main" val="1634324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5F0"/>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367A099B-2C5D-4659-A982-D4B3DB4E5431}"/>
              </a:ext>
            </a:extLst>
          </p:cNvPr>
          <p:cNvSpPr>
            <a:spLocks noGrp="1"/>
          </p:cNvSpPr>
          <p:nvPr/>
        </p:nvSpPr>
        <p:spPr>
          <a:xfrm>
            <a:off x="800100" y="1466850"/>
            <a:ext cx="85725" cy="3105150"/>
          </a:xfrm>
          <a:prstGeom prst="rect">
            <a:avLst/>
          </a:prstGeom>
          <a:solidFill>
            <a:srgbClr val="C55A2B"/>
          </a:solidFill>
          <a:ln w="0">
            <a:noFill/>
            <a:prstDash val="solid"/>
          </a:ln>
        </p:spPr>
        <p:txBody>
          <a:bodyPr/>
          <a:lstStyle/>
          <a:p>
            <a:endParaRPr lang="de-AT" noProof="0" dirty="0"/>
          </a:p>
        </p:txBody>
      </p:sp>
      <p:sp>
        <p:nvSpPr>
          <p:cNvPr id="2" name="Rechteck 1">
            <a:extLst>
              <a:ext uri="{FF2B5EF4-FFF2-40B4-BE49-F238E27FC236}">
                <a16:creationId xmlns:a16="http://schemas.microsoft.com/office/drawing/2014/main" id="{2EBBAB20-02CA-42A0-BE72-86EB8F2F90D5}"/>
              </a:ext>
            </a:extLst>
          </p:cNvPr>
          <p:cNvSpPr>
            <a:spLocks noGrp="1"/>
          </p:cNvSpPr>
          <p:nvPr/>
        </p:nvSpPr>
        <p:spPr>
          <a:xfrm>
            <a:off x="1238250" y="1666875"/>
            <a:ext cx="9334500" cy="1276350"/>
          </a:xfrm>
          <a:prstGeom prst="rect">
            <a:avLst/>
          </a:prstGeom>
          <a:noFill/>
          <a:ln w="0">
            <a:noFill/>
            <a:prstDash val="solid"/>
          </a:ln>
        </p:spPr>
        <p:txBody>
          <a:bodyPr wrap="square" lIns="0" tIns="0" rIns="0" bIns="0" anchor="ctr">
            <a:normAutofit/>
          </a:bodyPr>
          <a:lstStyle>
            <a:defPPr algn="l">
              <a:defRPr sz="5400" b="1">
                <a:solidFill>
                  <a:srgbClr val="202935"/>
                </a:solidFill>
                <a:latin typeface="Arial"/>
                <a:ea typeface="Arial"/>
                <a:cs typeface="Arial"/>
              </a:defRPr>
            </a:defPPr>
            <a:lvl1pPr algn="l">
              <a:defRPr sz="5400" b="1">
                <a:solidFill>
                  <a:srgbClr val="202935"/>
                </a:solidFill>
                <a:latin typeface="Arial"/>
                <a:ea typeface="Arial"/>
                <a:cs typeface="Arial"/>
              </a:defRPr>
            </a:lvl1pPr>
            <a:lvl2pPr algn="l">
              <a:defRPr sz="5400" b="1">
                <a:solidFill>
                  <a:srgbClr val="202935"/>
                </a:solidFill>
                <a:latin typeface="Arial"/>
                <a:ea typeface="Arial"/>
                <a:cs typeface="Arial"/>
              </a:defRPr>
            </a:lvl2pPr>
            <a:lvl3pPr algn="l">
              <a:defRPr sz="5400" b="1">
                <a:solidFill>
                  <a:srgbClr val="202935"/>
                </a:solidFill>
                <a:latin typeface="Arial"/>
                <a:ea typeface="Arial"/>
                <a:cs typeface="Arial"/>
              </a:defRPr>
            </a:lvl3pPr>
            <a:lvl4pPr algn="l">
              <a:defRPr sz="5400" b="1">
                <a:solidFill>
                  <a:srgbClr val="202935"/>
                </a:solidFill>
                <a:latin typeface="Arial"/>
                <a:ea typeface="Arial"/>
                <a:cs typeface="Arial"/>
              </a:defRPr>
            </a:lvl4pPr>
            <a:lvl5pPr algn="l">
              <a:defRPr sz="5400" b="1">
                <a:solidFill>
                  <a:srgbClr val="202935"/>
                </a:solidFill>
                <a:latin typeface="Arial"/>
                <a:ea typeface="Arial"/>
                <a:cs typeface="Arial"/>
              </a:defRPr>
            </a:lvl5pPr>
            <a:lvl6pPr algn="l">
              <a:defRPr sz="5400" b="1">
                <a:solidFill>
                  <a:srgbClr val="202935"/>
                </a:solidFill>
                <a:latin typeface="Arial"/>
                <a:ea typeface="Arial"/>
                <a:cs typeface="Arial"/>
              </a:defRPr>
            </a:lvl6pPr>
            <a:lvl7pPr algn="l">
              <a:defRPr sz="5400" b="1">
                <a:solidFill>
                  <a:srgbClr val="202935"/>
                </a:solidFill>
                <a:latin typeface="Arial"/>
                <a:ea typeface="Arial"/>
                <a:cs typeface="Arial"/>
              </a:defRPr>
            </a:lvl7pPr>
            <a:lvl8pPr algn="l">
              <a:defRPr sz="5400" b="1">
                <a:solidFill>
                  <a:srgbClr val="202935"/>
                </a:solidFill>
                <a:latin typeface="Arial"/>
                <a:ea typeface="Arial"/>
                <a:cs typeface="Arial"/>
              </a:defRPr>
            </a:lvl8pPr>
            <a:lvl9pPr algn="l">
              <a:defRPr sz="5400" b="1">
                <a:solidFill>
                  <a:srgbClr val="202935"/>
                </a:solidFill>
                <a:latin typeface="Arial"/>
                <a:ea typeface="Arial"/>
                <a:cs typeface="Arial"/>
              </a:defRPr>
            </a:lvl9pPr>
          </a:lstStyle>
          <a:p>
            <a:pPr algn="l">
              <a:defRPr sz="5400" b="1">
                <a:solidFill>
                  <a:srgbClr val="202935"/>
                </a:solidFill>
                <a:latin typeface="Arial"/>
                <a:ea typeface="Arial"/>
                <a:cs typeface="Arial"/>
              </a:defRPr>
            </a:pPr>
            <a:r>
              <a:rPr lang="de-AT" sz="5400" b="1" noProof="0" dirty="0">
                <a:solidFill>
                  <a:srgbClr val="202935"/>
                </a:solidFill>
                <a:latin typeface="Arial"/>
                <a:ea typeface="Arial"/>
                <a:cs typeface="Arial"/>
              </a:rPr>
              <a:t>Fragen?</a:t>
            </a:r>
          </a:p>
        </p:txBody>
      </p:sp>
      <p:sp>
        <p:nvSpPr>
          <p:cNvPr id="3" name="Rechteck 2">
            <a:extLst>
              <a:ext uri="{FF2B5EF4-FFF2-40B4-BE49-F238E27FC236}">
                <a16:creationId xmlns:a16="http://schemas.microsoft.com/office/drawing/2014/main" id="{24916C2D-ECC0-4E65-9232-02C225714ED0}"/>
              </a:ext>
            </a:extLst>
          </p:cNvPr>
          <p:cNvSpPr>
            <a:spLocks noGrp="1"/>
          </p:cNvSpPr>
          <p:nvPr/>
        </p:nvSpPr>
        <p:spPr>
          <a:xfrm>
            <a:off x="1238250" y="3333750"/>
            <a:ext cx="9525000" cy="857250"/>
          </a:xfrm>
          <a:prstGeom prst="rect">
            <a:avLst/>
          </a:prstGeom>
          <a:noFill/>
          <a:ln w="0">
            <a:noFill/>
            <a:prstDash val="solid"/>
          </a:ln>
        </p:spPr>
        <p:txBody>
          <a:bodyPr wrap="square" lIns="0" tIns="0" rIns="0" bIns="0" anchor="ctr">
            <a:normAutofit/>
          </a:bodyPr>
          <a:lstStyle>
            <a:defPPr algn="l">
              <a:defRPr sz="2175" b="0">
                <a:solidFill>
                  <a:srgbClr val="5D6872"/>
                </a:solidFill>
                <a:latin typeface="Arial"/>
                <a:ea typeface="Arial"/>
                <a:cs typeface="Arial"/>
              </a:defRPr>
            </a:defPPr>
            <a:lvl1pPr algn="l">
              <a:defRPr sz="2175" b="0">
                <a:solidFill>
                  <a:srgbClr val="5D6872"/>
                </a:solidFill>
                <a:latin typeface="Arial"/>
                <a:ea typeface="Arial"/>
                <a:cs typeface="Arial"/>
              </a:defRPr>
            </a:lvl1pPr>
            <a:lvl2pPr algn="l">
              <a:defRPr sz="2175" b="0">
                <a:solidFill>
                  <a:srgbClr val="5D6872"/>
                </a:solidFill>
                <a:latin typeface="Arial"/>
                <a:ea typeface="Arial"/>
                <a:cs typeface="Arial"/>
              </a:defRPr>
            </a:lvl2pPr>
            <a:lvl3pPr algn="l">
              <a:defRPr sz="2175" b="0">
                <a:solidFill>
                  <a:srgbClr val="5D6872"/>
                </a:solidFill>
                <a:latin typeface="Arial"/>
                <a:ea typeface="Arial"/>
                <a:cs typeface="Arial"/>
              </a:defRPr>
            </a:lvl3pPr>
            <a:lvl4pPr algn="l">
              <a:defRPr sz="2175" b="0">
                <a:solidFill>
                  <a:srgbClr val="5D6872"/>
                </a:solidFill>
                <a:latin typeface="Arial"/>
                <a:ea typeface="Arial"/>
                <a:cs typeface="Arial"/>
              </a:defRPr>
            </a:lvl4pPr>
            <a:lvl5pPr algn="l">
              <a:defRPr sz="2175" b="0">
                <a:solidFill>
                  <a:srgbClr val="5D6872"/>
                </a:solidFill>
                <a:latin typeface="Arial"/>
                <a:ea typeface="Arial"/>
                <a:cs typeface="Arial"/>
              </a:defRPr>
            </a:lvl5pPr>
            <a:lvl6pPr algn="l">
              <a:defRPr sz="2175" b="0">
                <a:solidFill>
                  <a:srgbClr val="5D6872"/>
                </a:solidFill>
                <a:latin typeface="Arial"/>
                <a:ea typeface="Arial"/>
                <a:cs typeface="Arial"/>
              </a:defRPr>
            </a:lvl6pPr>
            <a:lvl7pPr algn="l">
              <a:defRPr sz="2175" b="0">
                <a:solidFill>
                  <a:srgbClr val="5D6872"/>
                </a:solidFill>
                <a:latin typeface="Arial"/>
                <a:ea typeface="Arial"/>
                <a:cs typeface="Arial"/>
              </a:defRPr>
            </a:lvl7pPr>
            <a:lvl8pPr algn="l">
              <a:defRPr sz="2175" b="0">
                <a:solidFill>
                  <a:srgbClr val="5D6872"/>
                </a:solidFill>
                <a:latin typeface="Arial"/>
                <a:ea typeface="Arial"/>
                <a:cs typeface="Arial"/>
              </a:defRPr>
            </a:lvl8pPr>
            <a:lvl9pPr algn="l">
              <a:defRPr sz="2175" b="0">
                <a:solidFill>
                  <a:srgbClr val="5D6872"/>
                </a:solidFill>
                <a:latin typeface="Arial"/>
                <a:ea typeface="Arial"/>
                <a:cs typeface="Arial"/>
              </a:defRPr>
            </a:lvl9pPr>
          </a:lstStyle>
          <a:p>
            <a:pPr algn="l">
              <a:defRPr sz="2175" b="0">
                <a:solidFill>
                  <a:srgbClr val="5D6872"/>
                </a:solidFill>
                <a:latin typeface="Arial"/>
                <a:ea typeface="Arial"/>
                <a:cs typeface="Arial"/>
              </a:defRPr>
            </a:pPr>
            <a:r>
              <a:rPr lang="de-AT" sz="2175" b="0" noProof="0" dirty="0">
                <a:solidFill>
                  <a:srgbClr val="5D6872"/>
                </a:solidFill>
                <a:latin typeface="Arial"/>
                <a:ea typeface="Arial"/>
                <a:cs typeface="Arial"/>
              </a:rPr>
              <a:t>Architektur · Experimente · Schutzmaßnahmen</a:t>
            </a:r>
          </a:p>
        </p:txBody>
      </p:sp>
    </p:spTree>
    <p:extLst>
      <p:ext uri="{BB962C8B-B14F-4D97-AF65-F5344CB8AC3E}">
        <p14:creationId xmlns:p14="http://schemas.microsoft.com/office/powerpoint/2010/main" val="32246038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2207</Words>
  <Application>Microsoft Office PowerPoint</Application>
  <DocSecurity>0</DocSecurity>
  <PresentationFormat>Breitbild</PresentationFormat>
  <Paragraphs>228</Paragraphs>
  <Slides>18</Slides>
  <Notes>18</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18</vt:i4>
      </vt:variant>
    </vt:vector>
  </HeadingPairs>
  <TitlesOfParts>
    <vt:vector size="21" baseType="lpstr">
      <vt:lpstr>Aptos</vt:lpstr>
      <vt:lpstr>Arial</vt:lpstr>
      <vt:lpstr>ChatGPT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Petrushin Andrey</cp:lastModifiedBy>
  <cp:revision>4</cp:revision>
  <dcterms:created xsi:type="dcterms:W3CDTF">2026-10-27T21:16:35Z</dcterms:created>
  <dcterms:modified xsi:type="dcterms:W3CDTF">2026-10-28T18:17:28Z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bf82bc-87e3-4d7a-bcfc-cfd2742f5efa_Enabled">
    <vt:lpwstr>true</vt:lpwstr>
  </property>
  <property fmtid="{D5CDD505-2E9C-101B-9397-08002B2CF9AE}" pid="3" name="MSIP_Label_44bf82bc-87e3-4d7a-bcfc-cfd2742f5efa_SetDate">
    <vt:lpwstr>2026-10-27T21:36:31Z</vt:lpwstr>
  </property>
  <property fmtid="{D5CDD505-2E9C-101B-9397-08002B2CF9AE}" pid="4" name="MSIP_Label_44bf82bc-87e3-4d7a-bcfc-cfd2742f5efa_Method">
    <vt:lpwstr>Privileged</vt:lpwstr>
  </property>
  <property fmtid="{D5CDD505-2E9C-101B-9397-08002B2CF9AE}" pid="5" name="MSIP_Label_44bf82bc-87e3-4d7a-bcfc-cfd2742f5efa_Name">
    <vt:lpwstr>Öffentlich TLP - WHITE</vt:lpwstr>
  </property>
  <property fmtid="{D5CDD505-2E9C-101B-9397-08002B2CF9AE}" pid="6" name="MSIP_Label_44bf82bc-87e3-4d7a-bcfc-cfd2742f5efa_SiteId">
    <vt:lpwstr>2df2bcec-2017-4339-b493-e3d7b3a460c8</vt:lpwstr>
  </property>
  <property fmtid="{D5CDD505-2E9C-101B-9397-08002B2CF9AE}" pid="7" name="MSIP_Label_44bf82bc-87e3-4d7a-bcfc-cfd2742f5efa_ActionId">
    <vt:lpwstr>22706fc2-c830-4680-bae2-df7afb536405</vt:lpwstr>
  </property>
  <property fmtid="{D5CDD505-2E9C-101B-9397-08002B2CF9AE}" pid="8" name="MSIP_Label_44bf82bc-87e3-4d7a-bcfc-cfd2742f5efa_ContentBits">
    <vt:lpwstr>1</vt:lpwstr>
  </property>
  <property fmtid="{D5CDD505-2E9C-101B-9397-08002B2CF9AE}" pid="9" name="MSIP_Label_44bf82bc-87e3-4d7a-bcfc-cfd2742f5efa_Tag">
    <vt:lpwstr>10, 0, 1, 1</vt:lpwstr>
  </property>
  <property fmtid="{D5CDD505-2E9C-101B-9397-08002B2CF9AE}" pid="10" name="ClassificationContentMarkingHeaderLocations">
    <vt:lpwstr>ChatGPT:3</vt:lpwstr>
  </property>
  <property fmtid="{D5CDD505-2E9C-101B-9397-08002B2CF9AE}" pid="11" name="ClassificationContentMarkingHeaderText">
    <vt:lpwstr>TLP:CLEAR</vt:lpwstr>
  </property>
</Properties>
</file>