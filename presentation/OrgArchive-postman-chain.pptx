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6cb6077cd48a5" /><Relationship Type="http://schemas.openxmlformats.org/officeDocument/2006/relationships/extended-properties" Target="/docProps/app.xml" Id="R70d39abebafa41b9" /><Relationship Type="http://schemas.openxmlformats.org/officeDocument/2006/relationships/officeDocument" Target="/ppt/presentation.xml" Id="R9d48d4ac34a946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e3672836894570"/>
  </p:sldMasterIdLst>
  <p:notesMasterIdLst>
    <p:notesMasterId xmlns:r="http://schemas.openxmlformats.org/officeDocument/2006/relationships" r:id="Rab1735995716411c"/>
  </p:notesMasterIdLst>
  <p:sldIdLst>
    <p:sldId xmlns:r="http://schemas.openxmlformats.org/officeDocument/2006/relationships" id="256" r:id="Rc873badeac334929"/>
    <p:sldId xmlns:r="http://schemas.openxmlformats.org/officeDocument/2006/relationships" id="257" r:id="Rc7f8aa5be0384517"/>
    <p:sldId xmlns:r="http://schemas.openxmlformats.org/officeDocument/2006/relationships" id="258" r:id="Rd47a25626c8148f2"/>
    <p:sldId xmlns:r="http://schemas.openxmlformats.org/officeDocument/2006/relationships" id="259" r:id="R415f6a0ea6a94513"/>
    <p:sldId xmlns:r="http://schemas.openxmlformats.org/officeDocument/2006/relationships" id="260" r:id="R8010a61aa97949e8"/>
    <p:sldId xmlns:r="http://schemas.openxmlformats.org/officeDocument/2006/relationships" id="261" r:id="R1f94e0e914094c0c"/>
    <p:sldId xmlns:r="http://schemas.openxmlformats.org/officeDocument/2006/relationships" id="262" r:id="Rccb54795f1044b40"/>
    <p:sldId xmlns:r="http://schemas.openxmlformats.org/officeDocument/2006/relationships" id="263" r:id="Rc4184bc038a94b5c"/>
    <p:sldId xmlns:r="http://schemas.openxmlformats.org/officeDocument/2006/relationships" id="264" r:id="R08f2bbc0b7ca4be1"/>
    <p:sldId xmlns:r="http://schemas.openxmlformats.org/officeDocument/2006/relationships" id="265" r:id="Rcfb586f072a64e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15ef48a7614323" /><Relationship Type="http://schemas.openxmlformats.org/officeDocument/2006/relationships/slideMaster" Target="/ppt/slideMasters/slideMaster1.xml" Id="Re1e3672836894570" /><Relationship Type="http://schemas.openxmlformats.org/officeDocument/2006/relationships/notesMaster" Target="/ppt/notesMasters/notesMaster1.xml" Id="Rab1735995716411c" /><Relationship Type="http://schemas.openxmlformats.org/officeDocument/2006/relationships/presProps" Target="/ppt/presProps.xml" Id="R676a452d427e4e0a" /><Relationship Type="http://schemas.openxmlformats.org/officeDocument/2006/relationships/tableStyles" Target="/ppt/tableStyles.xml" Id="Rdf636ea187934e51" /><Relationship Type="http://schemas.openxmlformats.org/officeDocument/2006/relationships/slide" Target="/ppt/slides/slide1.xml" Id="Rc873badeac334929" /><Relationship Type="http://schemas.openxmlformats.org/officeDocument/2006/relationships/slide" Target="/ppt/slides/slide2.xml" Id="Rc7f8aa5be0384517" /><Relationship Type="http://schemas.openxmlformats.org/officeDocument/2006/relationships/slide" Target="/ppt/slides/slide3.xml" Id="Rd47a25626c8148f2" /><Relationship Type="http://schemas.openxmlformats.org/officeDocument/2006/relationships/slide" Target="/ppt/slides/slide4.xml" Id="R415f6a0ea6a94513" /><Relationship Type="http://schemas.openxmlformats.org/officeDocument/2006/relationships/slide" Target="/ppt/slides/slide5.xml" Id="R8010a61aa97949e8" /><Relationship Type="http://schemas.openxmlformats.org/officeDocument/2006/relationships/slide" Target="/ppt/slides/slide6.xml" Id="R1f94e0e914094c0c" /><Relationship Type="http://schemas.openxmlformats.org/officeDocument/2006/relationships/slide" Target="/ppt/slides/slide7.xml" Id="Rccb54795f1044b40" /><Relationship Type="http://schemas.openxmlformats.org/officeDocument/2006/relationships/slide" Target="/ppt/slides/slide8.xml" Id="Rc4184bc038a94b5c" /><Relationship Type="http://schemas.openxmlformats.org/officeDocument/2006/relationships/slide" Target="/ppt/slides/slide9.xml" Id="R08f2bbc0b7ca4be1" /><Relationship Type="http://schemas.openxmlformats.org/officeDocument/2006/relationships/slide" Target="/ppt/slides/slide10.xml" Id="Rcfb586f072a64e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9fb820225b4e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6e41350524700" /><Relationship Type="http://schemas.openxmlformats.org/officeDocument/2006/relationships/notesMaster" Target="/ppt/notesMasters/notesMaster1.xml" Id="Rc6a25b4bf6d849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7dc394e74d4955" /><Relationship Type="http://schemas.openxmlformats.org/officeDocument/2006/relationships/notesMaster" Target="/ppt/notesMasters/notesMaster1.xml" Id="R55d21b0a347645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fb7bf43a074079" /><Relationship Type="http://schemas.openxmlformats.org/officeDocument/2006/relationships/notesMaster" Target="/ppt/notesMasters/notesMaster1.xml" Id="Rb6d7f79a89d046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4929955a934d69" /><Relationship Type="http://schemas.openxmlformats.org/officeDocument/2006/relationships/notesMaster" Target="/ppt/notesMasters/notesMaster1.xml" Id="R1268b92b49524c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2fe49e616548ec" /><Relationship Type="http://schemas.openxmlformats.org/officeDocument/2006/relationships/notesMaster" Target="/ppt/notesMasters/notesMaster1.xml" Id="Rc17d4c4d3b2b49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81779202f94baf" /><Relationship Type="http://schemas.openxmlformats.org/officeDocument/2006/relationships/notesMaster" Target="/ppt/notesMasters/notesMaster1.xml" Id="R54063e86389e44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33e78133b0407b" /><Relationship Type="http://schemas.openxmlformats.org/officeDocument/2006/relationships/notesMaster" Target="/ppt/notesMasters/notesMaster1.xml" Id="R525553a4803540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c28d0438fd4157" /><Relationship Type="http://schemas.openxmlformats.org/officeDocument/2006/relationships/notesMaster" Target="/ppt/notesMasters/notesMaster1.xml" Id="R40a2395d48594f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fcd3ccd6134633" /><Relationship Type="http://schemas.openxmlformats.org/officeDocument/2006/relationships/notesMaster" Target="/ppt/notesMasters/notesMaster1.xml" Id="R5cd1e8461b194d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f813a798a946ed" /><Relationship Type="http://schemas.openxmlformats.org/officeDocument/2006/relationships/notesMaster" Target="/ppt/notesMasters/notesMaster1.xml" Id="Rc3472eed2e77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de-DE"/>
              <a:t>OrgArchive ist ein fiktiver Dienst für Notizen und Dokumente mehrerer Organisationen. Zuerst erkläre ich Architektur und zwei konkrete CVEs; danach führe ich die 16 Anfragen in Postman aus.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de-DE"/>
              <a:t>Von außen ist nur das Gateway auf Port 8080 erreichbar. Es leitet API-Anfragen an den internen Archive Service weiter. Dieser authentifiziert mit HTTP Basic gegen BCrypt-Hashes in MariaDB. Dort liegen auch Notizen und Dokumente.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de-DE"/>
              <a:t>`GET /` zeigt für die Vorführung eine öffentliche API-Übersicht; `POST /signup` ist ebenfalls öffentlich. Die übrigen Endpunkte verlangen eine Anmeldung. Für `/users` und `/organizations` ist zusätzlich eine Admin-Rolle vorgesehen. Die Angaben `access` im Gateway sind nur Text, keine Sicherheitsregeln. Ohne diesen Index könnte man Routen etwa in API-Dokumentation, Client-Code, beobachtetem Netzwerkverkehr oder durch gezielte Anfragen finden. Eine vollständige Liste folgt daraus nicht automatisch. Das Wissen um einen Pfad darf keinen Zugriff gewähren.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de-DE"/>
              <a:t>`@EnableMethodSecurity` ist aktiv. `AdminQuery&lt;F,R&gt;.list` trägt `@PreAuthorize("hasRole('ADMIN')")`; die konkreten Controller überschreiben die Methode ohne eigene Annotation. Spring Security 6.4.3 erkennt diese geerbte Regel auf dem generischen Interface nicht zuverlässig. Der HTTP-Filter verlangt weiterhin Authentifizierung. Ein frisch registrierter `ROLE_USER` kann so die Benutzerliste lesen, erhält aber keine Admin-Rolle. Spring Security 6.4.4 behebt den Fehler. Quelle: https://spring.io/security/cve-2025-22223/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de-DE"/>
              <a:t>Die normale Benutzerliste enthält keine Passwort-Hashes. Mit `debug=true` liefert sie BCrypt-Hashes, was ein Fehler der Anwendung ist. Bobs schwaches Laborpasswort wird anhand seines Hashes offline gefunden; das ist kein Bruch von BCrypt. Die direkte Route `/users/bob` besitzt ihre eigene Admin-Annotation und antwortet für den Besucher mit 403.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de-DE"/>
              <a:t>Die Registrierung erzeugt ein normales Konto in einer neuen Organisation. Eigene Notizen sind abrufbar, fremde Notizen liefern 403. Bob und Maija gehören zu `atlas-consulting` und teilen Notizen; Renaud gehört zu `harbor-delivery`. Eine gewöhnliche Dokumentsuche nach einer fremden Organisation liefert eine leere Liste.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de-DE"/>
              <a:t>Der Archive Service liest Bobs Organisation aus dem gespeicherten Benutzerkonto und bindet sie als JDBC-Parameter. Daneben erzeugt Spring AIs `MariaDBFilterExpressionConverter` einen SQL-Ausdruck aus dem vom Client gelieferten Metadatenfilter. Die Anwendung hängt diesen Ausdruck als SQL-Text hinter `AND` an. Der Request-Parameter `query` wird in dieser Demo nicht benutzt; relevant ist `organization`.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de-DE"/>
              <a:t>In Spring AI MariaDB Store 1.0.3 wird der Filterwert ohne korrektes Escaping in den SQL-Ausdruck eingesetzt. Der Wert `atlas-consulting' OR '1'='1` verändert dadurch die Bedingung. Da SQL `AND` vor `OR` auswertet, kann der neue `OR`-Teil die Organisationsgrenze umgehen. Die Antwort enthält Dokumente anderer Organisationen. Version 1.0.4 behebt den Fehler. Quelle: https://spring.io/security/cve-2026-22730/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de-DE"/>
              <a:t>`/documents/search-safe` bindet beide Werte als JDBC-Parameter und liefert für denselben manipulierten Wert eine leere Liste. Das ist ein eigener Vergleichsendpunkt, kein gepatchter Spring-AI-Code. Zusätzlich gehören die Bibliotheken aktualisiert, die Rollenprüfung direkt an die konkrete Methode und Passwort-Hashes nicht in API-Antworten.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de-DE"/>
              <a:t>Anfragen 1–6: Index, anonyme 401-Antworten, Registrierung und Notizengrenze. 7–12: Rollen-Bypass, Debug-Hash, lokale Passwortsuche und geteilte Notizen. 13–16: normale Suche, fremde Organisation, SQL-Injektion und sichere Vergleichsabfrage. Nach diesem Slide direkt in Postman wechseln.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e067d7e9a4a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42b2f2bfed49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b2e28c9e346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41612dd8ff41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e872c3eed4c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acfdb785e4b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8F45DC-828E-48E6-BB50-8032F8E681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133BA3-697B-472E-9616-0943C776F0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75AE9F-7B6B-417E-99C1-CC4519D9D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CAB5CC-8C50-49BF-8A98-81A2F7AA4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5F0B20-BFA8-43F4-9AB4-0F8A6C044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7C2981-4871-4220-845D-8F1C4F536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0B2038-A3C8-4827-A464-C3DD941172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DEF493-5448-4523-ADB8-B32B439C52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EBA6C5-BDE6-49B7-8305-2049BC5CEF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81ABFA-90DB-4851-AAB6-2C9A88C5EE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2fe6cd8d34459" /><Relationship Type="http://schemas.openxmlformats.org/officeDocument/2006/relationships/slideLayout" Target="/ppt/slideLayouts/slideLayout1.xml" Id="R42b51d3309884bd1" /><Relationship Type="http://schemas.openxmlformats.org/officeDocument/2006/relationships/slideLayout" Target="/ppt/slideLayouts/slideLayout2.xml" Id="Rc0c9b8df83bb4180" /><Relationship Type="http://schemas.openxmlformats.org/officeDocument/2006/relationships/slideLayout" Target="/ppt/slideLayouts/slideLayout3.xml" Id="Ref837c77a72b4e1b" /><Relationship Type="http://schemas.openxmlformats.org/officeDocument/2006/relationships/slideLayout" Target="/ppt/slideLayouts/slideLayout4.xml" Id="R7e641379c68240bb" /><Relationship Type="http://schemas.openxmlformats.org/officeDocument/2006/relationships/slideLayout" Target="/ppt/slideLayouts/slideLayout5.xml" Id="R1064df755cea4bf5" /><Relationship Type="http://schemas.openxmlformats.org/officeDocument/2006/relationships/slideLayout" Target="/ppt/slideLayouts/slideLayout6.xml" Id="Rca61ff51807546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b51d3309884bd1"/>
    <p:sldLayoutId xmlns:r="http://schemas.openxmlformats.org/officeDocument/2006/relationships" id="2147483650" r:id="Rc0c9b8df83bb4180"/>
    <p:sldLayoutId xmlns:r="http://schemas.openxmlformats.org/officeDocument/2006/relationships" id="2147483651" r:id="Ref837c77a72b4e1b"/>
    <p:sldLayoutId xmlns:r="http://schemas.openxmlformats.org/officeDocument/2006/relationships" id="2147483652" r:id="R7e641379c68240bb"/>
    <p:sldLayoutId xmlns:r="http://schemas.openxmlformats.org/officeDocument/2006/relationships" id="2147483653" r:id="R1064df755cea4bf5"/>
    <p:sldLayoutId xmlns:r="http://schemas.openxmlformats.org/officeDocument/2006/relationships" id="2147483654" r:id="Rca61ff51807546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03d7063bf40de" /><Relationship Type="http://schemas.openxmlformats.org/officeDocument/2006/relationships/notesSlide" Target="/ppt/notesSlides/notesSlide1.xml" Id="R63f902ba65fc45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349a92b6d4eaa" /><Relationship Type="http://schemas.openxmlformats.org/officeDocument/2006/relationships/notesSlide" Target="/ppt/notesSlides/notesSlide2.xml" Id="R138ff495fc134b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1f1eb503814932" /><Relationship Type="http://schemas.openxmlformats.org/officeDocument/2006/relationships/notesSlide" Target="/ppt/notesSlides/notesSlide3.xml" Id="Rb1c3883f6bf640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3356b954f443a" /><Relationship Type="http://schemas.openxmlformats.org/officeDocument/2006/relationships/notesSlide" Target="/ppt/notesSlides/notesSlide4.xml" Id="R896940cc46fb4d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da5ca89b94dfe" /><Relationship Type="http://schemas.openxmlformats.org/officeDocument/2006/relationships/notesSlide" Target="/ppt/notesSlides/notesSlide5.xml" Id="R539055091ecf4e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58a272e5594f97" /><Relationship Type="http://schemas.openxmlformats.org/officeDocument/2006/relationships/notesSlide" Target="/ppt/notesSlides/notesSlide6.xml" Id="R1f03a898804746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86be9929c4574" /><Relationship Type="http://schemas.openxmlformats.org/officeDocument/2006/relationships/notesSlide" Target="/ppt/notesSlides/notesSlide7.xml" Id="R439d0d6adfdf40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20dedfd934681" /><Relationship Type="http://schemas.openxmlformats.org/officeDocument/2006/relationships/notesSlide" Target="/ppt/notesSlides/notesSlide8.xml" Id="Raa2f0d87e80344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1b0e7eb384285" /><Relationship Type="http://schemas.openxmlformats.org/officeDocument/2006/relationships/notesSlide" Target="/ppt/notesSlides/notesSlide9.xml" Id="R76e632eb6e0640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cbc7a672d412f" /><Relationship Type="http://schemas.openxmlformats.org/officeDocument/2006/relationships/notesSlide" Target="/ppt/notesSlides/notesSlide10.xml" Id="R55a21574aa1745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120DD-0451-4307-9572-15356B64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DEB32-B0A2-4A8D-BC5E-526D9DD9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  <a:lvl1pPr>
              <a:defRPr sz="4050" b="1">
                <a:solidFill>
                  <a:srgbClr val="FFFFFF"/>
                </a:solidFill>
              </a:defRPr>
            </a:lvl1pPr>
            <a:lvl2pPr>
              <a:defRPr sz="4050" b="1">
                <a:solidFill>
                  <a:srgbClr val="FFFFFF"/>
                </a:solidFill>
              </a:defRPr>
            </a:lvl2pPr>
            <a:lvl3pPr>
              <a:defRPr sz="4050" b="1">
                <a:solidFill>
                  <a:srgbClr val="FFFFFF"/>
                </a:solidFill>
              </a:defRPr>
            </a:lvl3pPr>
            <a:lvl4pPr>
              <a:defRPr sz="4050" b="1">
                <a:solidFill>
                  <a:srgbClr val="FFFFFF"/>
                </a:solidFill>
              </a:defRPr>
            </a:lvl4pPr>
            <a:lvl5pPr>
              <a:defRPr sz="4050" b="1">
                <a:solidFill>
                  <a:srgbClr val="FFFFFF"/>
                </a:solidFill>
              </a:defRPr>
            </a:lvl5pPr>
            <a:lvl6pPr>
              <a:defRPr sz="4050" b="1">
                <a:solidFill>
                  <a:srgbClr val="FFFFFF"/>
                </a:solidFill>
              </a:defRPr>
            </a:lvl6pPr>
            <a:lvl7pPr>
              <a:defRPr sz="4050" b="1">
                <a:solidFill>
                  <a:srgbClr val="FFFFFF"/>
                </a:solidFill>
              </a:defRPr>
            </a:lvl7pPr>
            <a:lvl8pPr>
              <a:defRPr sz="4050" b="1">
                <a:solidFill>
                  <a:srgbClr val="FFFFFF"/>
                </a:solidFill>
              </a:defRPr>
            </a:lvl8pPr>
            <a:lvl9pPr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OrgArchive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D23E9-CC55-484D-AF69-D56745CC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Two CVEs in an organization archive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D3ADD-B84F-434F-AD3A-85D2C36A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Architecture first, live Postman demo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248CF-EDDF-44C6-9182-6A3004BA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Spring Security 6.4.3 · Spring AI MariaDB Store 1.0.3</a:t>
            </a:r>
          </a:p>
        </p:txBody>
      </p:sp>
    </p:spTree>
    <p:extLst>
      <p:ext uri="{BB962C8B-B14F-4D97-AF65-F5344CB8AC3E}">
        <p14:creationId xmlns:p14="http://schemas.microsoft.com/office/powerpoint/2010/main" val="85948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8356D-528C-4F82-93EA-4574B132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0ACAC-ADEE-46A5-B15E-7F22E779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Service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80ED6-410A-4315-AF1D-3330F8CF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Only the gateway is exposed on port 8080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EA826-BF2B-46DC-AA6D-DDBCA548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Postman  →  edge gateway :8080  →  archive service :8081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1505B-D03F-4318-B3B9-4A5A90F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Archive service  →  MariaDB users and BCrypt hashes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FEE15-7AB6-418B-8B41-9F307133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Archive service  →  MariaDB notes and documents</a:t>
            </a:r>
          </a:p>
        </p:txBody>
      </p:sp>
    </p:spTree>
    <p:extLst>
      <p:ext uri="{BB962C8B-B14F-4D97-AF65-F5344CB8AC3E}">
        <p14:creationId xmlns:p14="http://schemas.microsoft.com/office/powerpoint/2010/main" val="1152646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79CF9-804A-48AD-A1B7-2E40A355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320BD-7C7C-4508-8CC6-25E37903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API surface and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3A321-8D92-409C-A4ED-3DD84C18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GET / is a public index for this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0898A-C95C-4E56-8E08-A6D1BC6E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GET /, POST /signup: public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77331-6C27-4720-B842-9FA85FCD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GET /users, /users/{name}, /organizations: admin intent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5E1CA-505B-48CC-AA9F-FA2F8991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GET /notes: USER; /organizations/{org}/notes: member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F812F-8C95-4317-AD4A-44E14AAB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POST /documents/search[-safe|-debug]: USER</a:t>
            </a:r>
          </a:p>
        </p:txBody>
      </p:sp>
    </p:spTree>
    <p:extLst>
      <p:ext uri="{BB962C8B-B14F-4D97-AF65-F5344CB8AC3E}">
        <p14:creationId xmlns:p14="http://schemas.microsoft.com/office/powerpoint/2010/main" val="1530296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8026C-5A7E-4DB1-89FA-6A8207E3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4AEF7-B666-457A-BD82-7E4DF515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CVE-2025-22223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BD153-BF09-4E4D-A7DE-08CBD6CF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Spring Security 6.4.3 misses an inherited role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22F59-716A-4C68-A2CD-697254FB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@EnableMethodSecurity is enabled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15D2B-7908-4EEB-A251-2A7D7A36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AdminQuery&lt;F,R&gt;.list has @PreAuthorize("hasRole('ADMIN')")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244F6-F0C9-4BEB-B1FE-10200834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Controller overrides list without its own annotation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81DA5-AA39-40C3-8245-56BF2C6A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HTTP login remains; regular USER reaches /users</a:t>
            </a:r>
          </a:p>
        </p:txBody>
      </p:sp>
    </p:spTree>
    <p:extLst>
      <p:ext uri="{BB962C8B-B14F-4D97-AF65-F5344CB8AC3E}">
        <p14:creationId xmlns:p14="http://schemas.microsoft.com/office/powerpoint/2010/main" val="886379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B1F89-2867-4D47-B34A-5108116E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2AFA6-002C-44AA-9A5D-914D3715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Hash exposure and account pivot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CBD85-CFB7-4975-A333-7A19B12B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Application mistakes amplify the role bypass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4ADD1-B9E9-4CA0-BAC2-62863754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GET /users?debug=true includes BCrypt hashes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FA901-6C71-4CDE-820B-7758DEA8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Bob has a weak lab password, found offline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DC77F-3AB0-409B-BFFF-FB76D63C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Visitor stays USER; GET /users/bob returns 403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A71F4-98AD-4E58-A412-4083AB2B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Bob’s login opens his organization’s records</a:t>
            </a:r>
          </a:p>
        </p:txBody>
      </p:sp>
    </p:spTree>
    <p:extLst>
      <p:ext uri="{BB962C8B-B14F-4D97-AF65-F5344CB8AC3E}">
        <p14:creationId xmlns:p14="http://schemas.microsoft.com/office/powerpoint/2010/main" val="2012049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9FF50-79E8-45CA-8C32-533C985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D56C2-BED0-43DA-AF1F-150FB1CD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Organization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72F10-EB5D-4C40-889D-3E4F1E9D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Notes and documents use the signed-in account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6CD46-8D33-45B3-86AE-B7C7F724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Trial user: own notes 200, foreign notes 403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FF9EE-29C2-4695-895F-86180658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Bob and Maija share atlas-consulting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9886E-A807-4B87-9081-C948C294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Renaud sees separate harbor-delivery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38E58-DBE4-43B9-98C2-D95145DA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Plain foreign document search returns []</a:t>
            </a:r>
          </a:p>
        </p:txBody>
      </p:sp>
    </p:spTree>
    <p:extLst>
      <p:ext uri="{BB962C8B-B14F-4D97-AF65-F5344CB8AC3E}">
        <p14:creationId xmlns:p14="http://schemas.microsoft.com/office/powerpoint/2010/main" val="750896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C6E60-6135-4426-8E43-3F3AFA1D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DBE61-E1B6-40BA-BAB4-95860C5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Search query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00031-1624-4C5A-909F-E3DF8D0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Server scope plus a generated metadata expression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27B44-7417-4FFD-B0D6-2DC7069D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Bob’s stored organization is bound as a JDBC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61254-C726-4284-8FB6-619EBB71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Request.organization enters Spring AI’s converter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40C59-C1B4-42B0-9731-4292E955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SQL combines scope = ? AND &lt;converter output&gt;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AF3C3-25EE-4062-82AB-38256F46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A plain foreign organization filter returns no rows</a:t>
            </a:r>
          </a:p>
        </p:txBody>
      </p:sp>
    </p:spTree>
    <p:extLst>
      <p:ext uri="{BB962C8B-B14F-4D97-AF65-F5344CB8AC3E}">
        <p14:creationId xmlns:p14="http://schemas.microsoft.com/office/powerpoint/2010/main" val="1180317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752B1-2D41-4472-A7A5-03B2FD1B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448D3-6FE7-4B69-B36B-22CBF35B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CVE-2026-22730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F87B9-F101-4AB5-B800-349062D8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Spring AI 1.0.3 emits an unescaped filter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649BA-AC3B-4785-A833-E4F2B6FD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Input: atlas-consulting' OR '1'='1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6C5CB-95CB-449C-86AE-F8E1C9B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The quote enters SQL through the converter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2A5B8-4770-4678-B4B2-99234C3D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Scope = ? AND filter OR true; AND runs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91B9F-133F-4004-BCEE-4D74DE88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Documents from other organizations appear</a:t>
            </a:r>
          </a:p>
        </p:txBody>
      </p:sp>
    </p:spTree>
    <p:extLst>
      <p:ext uri="{BB962C8B-B14F-4D97-AF65-F5344CB8AC3E}">
        <p14:creationId xmlns:p14="http://schemas.microsoft.com/office/powerpoint/2010/main" val="537247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E8E68-D8BB-459D-BFA8-99D95E8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F3D44-7A23-48C0-AB32-AEEF2D6C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Safe comparison and fixes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1AA38-CA82-4633-8290-F5067C63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Bind values, update libraries, remove hash exposure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9D961-AA1E-485C-9835-EA352F6F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/documents/search-safe binds both SQL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6E061-E5CD-4B43-88C5-D981F60A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The injected input returns no rows in that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C6758-3C8C-4C58-B744-FE8122C8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Fix: Security 6.4.4; Spring AI 1.0.4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4763B-CCAD-4D64-A1F8-EAA52678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Put admin rule on method; omit debug hashes</a:t>
            </a:r>
          </a:p>
        </p:txBody>
      </p:sp>
    </p:spTree>
    <p:extLst>
      <p:ext uri="{BB962C8B-B14F-4D97-AF65-F5344CB8AC3E}">
        <p14:creationId xmlns:p14="http://schemas.microsoft.com/office/powerpoint/2010/main" val="532486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626AF-F180-46EE-AD2E-A210D935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EC6BA"/>
                </a:solidFill>
              </a:defRPr>
            </a:defPPr>
            <a:lvl1pPr>
              <a:defRPr sz="1350" b="1">
                <a:solidFill>
                  <a:srgbClr val="5EC6BA"/>
                </a:solidFill>
              </a:defRPr>
            </a:lvl1pPr>
            <a:lvl2pPr>
              <a:defRPr sz="1350" b="1">
                <a:solidFill>
                  <a:srgbClr val="5EC6BA"/>
                </a:solidFill>
              </a:defRPr>
            </a:lvl2pPr>
            <a:lvl3pPr>
              <a:defRPr sz="1350" b="1">
                <a:solidFill>
                  <a:srgbClr val="5EC6BA"/>
                </a:solidFill>
              </a:defRPr>
            </a:lvl3pPr>
            <a:lvl4pPr>
              <a:defRPr sz="1350" b="1">
                <a:solidFill>
                  <a:srgbClr val="5EC6BA"/>
                </a:solidFill>
              </a:defRPr>
            </a:lvl4pPr>
            <a:lvl5pPr>
              <a:defRPr sz="1350" b="1">
                <a:solidFill>
                  <a:srgbClr val="5EC6BA"/>
                </a:solidFill>
              </a:defRPr>
            </a:lvl5pPr>
            <a:lvl6pPr>
              <a:defRPr sz="1350" b="1">
                <a:solidFill>
                  <a:srgbClr val="5EC6BA"/>
                </a:solidFill>
              </a:defRPr>
            </a:lvl6pPr>
            <a:lvl7pPr>
              <a:defRPr sz="1350" b="1">
                <a:solidFill>
                  <a:srgbClr val="5EC6BA"/>
                </a:solidFill>
              </a:defRPr>
            </a:lvl7pPr>
            <a:lvl8pPr>
              <a:defRPr sz="1350" b="1">
                <a:solidFill>
                  <a:srgbClr val="5EC6BA"/>
                </a:solidFill>
              </a:defRPr>
            </a:lvl8pPr>
            <a:lvl9pPr>
              <a:defRPr sz="1350" b="1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EC6BA"/>
                </a:solidFill>
              </a:defRPr>
            </a:pPr>
            <a:r>
              <a:rPr sz="1350" b="1">
                <a:solidFill>
                  <a:srgbClr val="5EC6BA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6D99E-04CE-4AAE-A534-B8031990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Postman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CE7EA-5911-4F0E-ADD3-C76E34D3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EC6BA"/>
                </a:solidFill>
              </a:defRPr>
            </a:defPPr>
            <a:lvl1pPr>
              <a:defRPr sz="1800" b="0">
                <a:solidFill>
                  <a:srgbClr val="5EC6BA"/>
                </a:solidFill>
              </a:defRPr>
            </a:lvl1pPr>
            <a:lvl2pPr>
              <a:defRPr sz="1800" b="0">
                <a:solidFill>
                  <a:srgbClr val="5EC6BA"/>
                </a:solidFill>
              </a:defRPr>
            </a:lvl2pPr>
            <a:lvl3pPr>
              <a:defRPr sz="1800" b="0">
                <a:solidFill>
                  <a:srgbClr val="5EC6BA"/>
                </a:solidFill>
              </a:defRPr>
            </a:lvl3pPr>
            <a:lvl4pPr>
              <a:defRPr sz="1800" b="0">
                <a:solidFill>
                  <a:srgbClr val="5EC6BA"/>
                </a:solidFill>
              </a:defRPr>
            </a:lvl4pPr>
            <a:lvl5pPr>
              <a:defRPr sz="1800" b="0">
                <a:solidFill>
                  <a:srgbClr val="5EC6BA"/>
                </a:solidFill>
              </a:defRPr>
            </a:lvl5pPr>
            <a:lvl6pPr>
              <a:defRPr sz="1800" b="0">
                <a:solidFill>
                  <a:srgbClr val="5EC6BA"/>
                </a:solidFill>
              </a:defRPr>
            </a:lvl6pPr>
            <a:lvl7pPr>
              <a:defRPr sz="1800" b="0">
                <a:solidFill>
                  <a:srgbClr val="5EC6BA"/>
                </a:solidFill>
              </a:defRPr>
            </a:lvl7pPr>
            <a:lvl8pPr>
              <a:defRPr sz="1800" b="0">
                <a:solidFill>
                  <a:srgbClr val="5EC6BA"/>
                </a:solidFill>
              </a:defRPr>
            </a:lvl8pPr>
            <a:lvl9pPr>
              <a:defRPr sz="1800" b="0">
                <a:solidFill>
                  <a:srgbClr val="5EC6B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EC6BA"/>
                </a:solidFill>
              </a:defRPr>
            </a:pPr>
            <a:r>
              <a:rPr sz="1800" b="0">
                <a:solidFill>
                  <a:srgbClr val="5EC6BA"/>
                </a:solidFill>
              </a:rPr>
              <a:t>Sixteen requests and one local password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E1009-9E0A-4489-A8B7-3187D3C7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1–6  API index, signup and notes isolation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9E752-20F6-4746-9CA1-FB382767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7–12  Role bypass, hash recovery, shared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E86CA-8EFD-49CF-AE23-D09354E9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7E0EC"/>
                </a:solidFill>
              </a:defRPr>
            </a:defPPr>
            <a:lvl1pPr>
              <a:defRPr sz="1575" b="0">
                <a:solidFill>
                  <a:srgbClr val="D7E0EC"/>
                </a:solidFill>
              </a:defRPr>
            </a:lvl1pPr>
            <a:lvl2pPr>
              <a:defRPr sz="1575" b="0">
                <a:solidFill>
                  <a:srgbClr val="D7E0EC"/>
                </a:solidFill>
              </a:defRPr>
            </a:lvl2pPr>
            <a:lvl3pPr>
              <a:defRPr sz="1575" b="0">
                <a:solidFill>
                  <a:srgbClr val="D7E0EC"/>
                </a:solidFill>
              </a:defRPr>
            </a:lvl3pPr>
            <a:lvl4pPr>
              <a:defRPr sz="1575" b="0">
                <a:solidFill>
                  <a:srgbClr val="D7E0EC"/>
                </a:solidFill>
              </a:defRPr>
            </a:lvl4pPr>
            <a:lvl5pPr>
              <a:defRPr sz="1575" b="0">
                <a:solidFill>
                  <a:srgbClr val="D7E0EC"/>
                </a:solidFill>
              </a:defRPr>
            </a:lvl5pPr>
            <a:lvl6pPr>
              <a:defRPr sz="1575" b="0">
                <a:solidFill>
                  <a:srgbClr val="D7E0EC"/>
                </a:solidFill>
              </a:defRPr>
            </a:lvl6pPr>
            <a:lvl7pPr>
              <a:defRPr sz="1575" b="0">
                <a:solidFill>
                  <a:srgbClr val="D7E0EC"/>
                </a:solidFill>
              </a:defRPr>
            </a:lvl7pPr>
            <a:lvl8pPr>
              <a:defRPr sz="1575" b="0">
                <a:solidFill>
                  <a:srgbClr val="D7E0EC"/>
                </a:solidFill>
              </a:defRPr>
            </a:lvl8pPr>
            <a:lvl9pPr>
              <a:defRPr sz="1575" b="0">
                <a:solidFill>
                  <a:srgbClr val="D7E0E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7E0EC"/>
                </a:solidFill>
              </a:defRPr>
            </a:pPr>
            <a:r>
              <a:rPr sz="1575" b="0">
                <a:solidFill>
                  <a:srgbClr val="D7E0EC"/>
                </a:solidFill>
              </a:rPr>
              <a:t>13–16  Plain, foreign, injected and safe searches</a:t>
            </a:r>
          </a:p>
        </p:txBody>
      </p:sp>
    </p:spTree>
    <p:extLst>
      <p:ext uri="{BB962C8B-B14F-4D97-AF65-F5344CB8AC3E}">
        <p14:creationId xmlns:p14="http://schemas.microsoft.com/office/powerpoint/2010/main" val="2069608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2026-10-30T18:09:25.4490000Z</dcterms:created>
  <dcterms:modified xsi:type="dcterms:W3CDTF">2026-10-30T18:09:25.4490000Z</dcterms:modified>
</coreProperties>
</file>