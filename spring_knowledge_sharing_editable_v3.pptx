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340c8bdde741bf" /><Relationship Type="http://schemas.openxmlformats.org/officeDocument/2006/relationships/extended-properties" Target="/docProps/app.xml" Id="R4c3ec1b05e2f40e2" /><Relationship Type="http://schemas.openxmlformats.org/officeDocument/2006/relationships/officeDocument" Target="/ppt/presentation.xml" Id="Rad6b18e04e214de2" /></Relationships>
</file>

<file path=ppt/presentation.xml><?xml version="1.0" encoding="utf-8"?>
<p:presentation xmlns:p="http://schemas.openxmlformats.org/presentationml/2006/main">
  <p:sldMasterIdLst>
    <p:sldMasterId xmlns:r="http://schemas.openxmlformats.org/officeDocument/2006/relationships" id="2147483648" r:id="Rb5379dbc57264e03"/>
  </p:sldMasterIdLst>
  <p:notesMasterIdLst>
    <p:notesMasterId xmlns:r="http://schemas.openxmlformats.org/officeDocument/2006/relationships" r:id="Re475d34a90e84a12"/>
  </p:notesMasterIdLst>
  <p:sldIdLst>
    <p:sldId xmlns:r="http://schemas.openxmlformats.org/officeDocument/2006/relationships" id="256" r:id="R5f612cfbf9504a5e"/>
    <p:sldId xmlns:r="http://schemas.openxmlformats.org/officeDocument/2006/relationships" id="257" r:id="Rdcf1cd84cd684b83"/>
    <p:sldId xmlns:r="http://schemas.openxmlformats.org/officeDocument/2006/relationships" id="258" r:id="R7a63d696936c4f9c"/>
    <p:sldId xmlns:r="http://schemas.openxmlformats.org/officeDocument/2006/relationships" id="259" r:id="Recaa519e520d4c75"/>
    <p:sldId xmlns:r="http://schemas.openxmlformats.org/officeDocument/2006/relationships" id="260" r:id="R760343e16c2c4023"/>
    <p:sldId xmlns:r="http://schemas.openxmlformats.org/officeDocument/2006/relationships" id="261" r:id="R29b5268e964a4fe7"/>
    <p:sldId xmlns:r="http://schemas.openxmlformats.org/officeDocument/2006/relationships" id="262" r:id="Rc5c976bacb494ac4"/>
    <p:sldId xmlns:r="http://schemas.openxmlformats.org/officeDocument/2006/relationships" id="263" r:id="R797b93e15b084214"/>
    <p:sldId xmlns:r="http://schemas.openxmlformats.org/officeDocument/2006/relationships" id="264" r:id="R1f37fa011e104f8b"/>
    <p:sldId xmlns:r="http://schemas.openxmlformats.org/officeDocument/2006/relationships" id="265" r:id="R83a0c62d6c7a4364"/>
    <p:sldId xmlns:r="http://schemas.openxmlformats.org/officeDocument/2006/relationships" id="266" r:id="Rd6470002e2024e5c"/>
    <p:sldId xmlns:r="http://schemas.openxmlformats.org/officeDocument/2006/relationships" id="267" r:id="R2cd49b0987274891"/>
    <p:sldId xmlns:r="http://schemas.openxmlformats.org/officeDocument/2006/relationships" id="268" r:id="Rb796ef17fb784f21"/>
    <p:sldId xmlns:r="http://schemas.openxmlformats.org/officeDocument/2006/relationships" id="269" r:id="Ra68b0503d2c049c7"/>
    <p:sldId xmlns:r="http://schemas.openxmlformats.org/officeDocument/2006/relationships" id="270" r:id="Rc9a9c8207b6d415a"/>
    <p:sldId xmlns:r="http://schemas.openxmlformats.org/officeDocument/2006/relationships" id="271" r:id="R5ff8742186d74bb8"/>
    <p:sldId xmlns:r="http://schemas.openxmlformats.org/officeDocument/2006/relationships" id="272" r:id="R25b79ad90ed6418d"/>
    <p:sldId xmlns:r="http://schemas.openxmlformats.org/officeDocument/2006/relationships" id="273" r:id="Rc9543ab148dd46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db798dc51243e0" /><Relationship Type="http://schemas.openxmlformats.org/officeDocument/2006/relationships/slideMaster" Target="/ppt/slideMasters/slideMaster1.xml" Id="Rb5379dbc57264e03" /><Relationship Type="http://schemas.openxmlformats.org/officeDocument/2006/relationships/notesMaster" Target="/ppt/notesMasters/notesMaster1.xml" Id="Re475d34a90e84a12" /><Relationship Type="http://schemas.openxmlformats.org/officeDocument/2006/relationships/presProps" Target="/ppt/presProps.xml" Id="R867d8b2e8bb84d9c" /><Relationship Type="http://schemas.openxmlformats.org/officeDocument/2006/relationships/tableStyles" Target="/ppt/tableStyles.xml" Id="R0f57bc928d6d4de9" /><Relationship Type="http://schemas.openxmlformats.org/officeDocument/2006/relationships/slide" Target="/ppt/slides/slide1.xml" Id="R5f612cfbf9504a5e" /><Relationship Type="http://schemas.openxmlformats.org/officeDocument/2006/relationships/slide" Target="/ppt/slides/slide2.xml" Id="Rdcf1cd84cd684b83" /><Relationship Type="http://schemas.openxmlformats.org/officeDocument/2006/relationships/slide" Target="/ppt/slides/slide3.xml" Id="R7a63d696936c4f9c" /><Relationship Type="http://schemas.openxmlformats.org/officeDocument/2006/relationships/slide" Target="/ppt/slides/slide4.xml" Id="Recaa519e520d4c75" /><Relationship Type="http://schemas.openxmlformats.org/officeDocument/2006/relationships/slide" Target="/ppt/slides/slide5.xml" Id="R760343e16c2c4023" /><Relationship Type="http://schemas.openxmlformats.org/officeDocument/2006/relationships/slide" Target="/ppt/slides/slide6.xml" Id="R29b5268e964a4fe7" /><Relationship Type="http://schemas.openxmlformats.org/officeDocument/2006/relationships/slide" Target="/ppt/slides/slide7.xml" Id="Rc5c976bacb494ac4" /><Relationship Type="http://schemas.openxmlformats.org/officeDocument/2006/relationships/slide" Target="/ppt/slides/slide8.xml" Id="R797b93e15b084214" /><Relationship Type="http://schemas.openxmlformats.org/officeDocument/2006/relationships/slide" Target="/ppt/slides/slide9.xml" Id="R1f37fa011e104f8b" /><Relationship Type="http://schemas.openxmlformats.org/officeDocument/2006/relationships/slide" Target="/ppt/slides/slide10.xml" Id="R83a0c62d6c7a4364" /><Relationship Type="http://schemas.openxmlformats.org/officeDocument/2006/relationships/slide" Target="/ppt/slides/slide11.xml" Id="Rd6470002e2024e5c" /><Relationship Type="http://schemas.openxmlformats.org/officeDocument/2006/relationships/slide" Target="/ppt/slides/slide12.xml" Id="R2cd49b0987274891" /><Relationship Type="http://schemas.openxmlformats.org/officeDocument/2006/relationships/slide" Target="/ppt/slides/slide13.xml" Id="Rb796ef17fb784f21" /><Relationship Type="http://schemas.openxmlformats.org/officeDocument/2006/relationships/slide" Target="/ppt/slides/slide14.xml" Id="Ra68b0503d2c049c7" /><Relationship Type="http://schemas.openxmlformats.org/officeDocument/2006/relationships/slide" Target="/ppt/slides/slide15.xml" Id="Rc9a9c8207b6d415a" /><Relationship Type="http://schemas.openxmlformats.org/officeDocument/2006/relationships/slide" Target="/ppt/slides/slide16.xml" Id="R5ff8742186d74bb8" /><Relationship Type="http://schemas.openxmlformats.org/officeDocument/2006/relationships/slide" Target="/ppt/slides/slide17.xml" Id="R25b79ad90ed6418d" /><Relationship Type="http://schemas.openxmlformats.org/officeDocument/2006/relationships/slide" Target="/ppt/slides/slide18.xml" Id="Rc9543ab148dd46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6fa96c28fd49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8e8652453e4530" /><Relationship Type="http://schemas.openxmlformats.org/officeDocument/2006/relationships/notesMaster" Target="/ppt/notesMasters/notesMaster1.xml" Id="R25354904329d42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e1f98fa6ed44ae" /><Relationship Type="http://schemas.openxmlformats.org/officeDocument/2006/relationships/notesMaster" Target="/ppt/notesMasters/notesMaster1.xml" Id="R9d14b56c97014e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868426c0cd4993" /><Relationship Type="http://schemas.openxmlformats.org/officeDocument/2006/relationships/notesMaster" Target="/ppt/notesMasters/notesMaster1.xml" Id="Rb1857c47b5f442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95e1efa1204f1a" /><Relationship Type="http://schemas.openxmlformats.org/officeDocument/2006/relationships/notesMaster" Target="/ppt/notesMasters/notesMaster1.xml" Id="R7e312d3507ff43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8005bc11b14c62" /><Relationship Type="http://schemas.openxmlformats.org/officeDocument/2006/relationships/notesMaster" Target="/ppt/notesMasters/notesMaster1.xml" Id="R4eaf8bc6c3cd4a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7f4bbc839f4b35" /><Relationship Type="http://schemas.openxmlformats.org/officeDocument/2006/relationships/notesMaster" Target="/ppt/notesMasters/notesMaster1.xml" Id="Raaf403b2699647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4a7b2d8753430a" /><Relationship Type="http://schemas.openxmlformats.org/officeDocument/2006/relationships/notesMaster" Target="/ppt/notesMasters/notesMaster1.xml" Id="R6bb365356afa49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2df5e0f91d4e78" /><Relationship Type="http://schemas.openxmlformats.org/officeDocument/2006/relationships/notesMaster" Target="/ppt/notesMasters/notesMaster1.xml" Id="R57ed945f163640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272f0e36d74633" /><Relationship Type="http://schemas.openxmlformats.org/officeDocument/2006/relationships/notesMaster" Target="/ppt/notesMasters/notesMaster1.xml" Id="R3dc67124ac3540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f07ab21e084a17" /><Relationship Type="http://schemas.openxmlformats.org/officeDocument/2006/relationships/notesMaster" Target="/ppt/notesMasters/notesMaster1.xml" Id="Rfa4f708836e046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79e545ad5a4d9e" /><Relationship Type="http://schemas.openxmlformats.org/officeDocument/2006/relationships/notesMaster" Target="/ppt/notesMasters/notesMaster1.xml" Id="R91119d1c1cd64d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c8a239eef245ab" /><Relationship Type="http://schemas.openxmlformats.org/officeDocument/2006/relationships/notesMaster" Target="/ppt/notesMasters/notesMaster1.xml" Id="Re2fe8947d43f44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53d2a84d6b4a0b" /><Relationship Type="http://schemas.openxmlformats.org/officeDocument/2006/relationships/notesMaster" Target="/ppt/notesMasters/notesMaster1.xml" Id="Rc5886e76a6c345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a5663e702a4d18" /><Relationship Type="http://schemas.openxmlformats.org/officeDocument/2006/relationships/notesMaster" Target="/ppt/notesMasters/notesMaster1.xml" Id="R2beb0dffb86648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40dd1d8ed84afc" /><Relationship Type="http://schemas.openxmlformats.org/officeDocument/2006/relationships/notesMaster" Target="/ppt/notesMasters/notesMaster1.xml" Id="Rb54f724ad4a74b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62db659c2140b3" /><Relationship Type="http://schemas.openxmlformats.org/officeDocument/2006/relationships/notesMaster" Target="/ppt/notesMasters/notesMaster1.xml" Id="Ra8dd97a8f42d4f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ba01af5aa3447b" /><Relationship Type="http://schemas.openxmlformats.org/officeDocument/2006/relationships/notesMaster" Target="/ppt/notesMasters/notesMaster1.xml" Id="Rb722990cb38a4a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7ef28082b841af" /><Relationship Type="http://schemas.openxmlformats.org/officeDocument/2006/relationships/notesMaster" Target="/ppt/notesMasters/notesMaster1.xml" Id="R9b57765f45514b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Guten Tag zusammen. Heute möchte ich euch ein kleines Security-Experiment zeigen. Ich habe ein Spring Demo-System untersucht, in dem mehrere Schwächen zusammenkommen. Mich hat interessiert, was ein Angreifer Schritt für Schritt beobachten und erreichen kann. Ich zeige die Architektur, vier Experimente und die Ergebnisse direkt im Terminal. Danach möchte ich mit euch darüber sprechen, welche Prüfungen für unsere Entwicklung hilfreich sind.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die Frage: Warum sind Dependency Updates überhaupt wichtig? Der Anwendungscode kann gleich bleiben, und trotzdem kann sich das Risiko ändern. Zum Beispiel wird eine Schwachstelle in einer Library, einem Framework oder einer Runtime veröffentlicht. Dann reicht die Information „wir nutzen diese Technologie“ noch nicht. Wir müssen wissen, welche Version tatsächlich läuft und ob die betroffene Funktion von außen erreichbar ist. Erst dann können wir die Priorität und den nächsten Schritt sinnvoll beurteilen.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aktuelles Beispiel ist PHP. Am 21. Oktober 2026 hat das PHP-Projekt Updates für zwei kritische Schwachstellen veröffentlicht. Je nach Einsatz konnten sie Remote Code Execution ermöglichen. Ich möchte die PHP-Technik heute nicht im Detail erklären. Für diese Präsentation ist der praktische Prozess wichtig: Welche Versionen laufen? Wo ist PHP eingesetzt? Welche Systeme sind über das Web erreichbar? Und wie schnell können wir aktualisieren? Diese Fragen gelten auch für andere Plattformen.</a:t>
            </a:r>
          </a:p>
          <a:p xmlns:a="http://schemas.openxmlformats.org/drawingml/2006/main">
            <a:r>
              <a:t/>
            </a:r>
          </a:p>
          <a:p xmlns:a="http://schemas.openxmlformats.org/drawingml/2006/main">
            <a:r>
              <a:t>Quelle: https://www.php.net/archive/2026.php#2026-10-21-5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uns basieren viele Projekte auf Java und Spring. Deshalb habe ich für den praktischen Teil ein Spring Demo-System gewählt. Es ist eine kontrollierte Umgebung und keine Aussage über unsere produktiven Systeme. Ich möchte zeigen, welche Fragen wir bei einer Schwachstelle stellen können: Wo steht die betroffene Komponente? Ist der Weg von außen erreichbar? Und was kann nach dem ersten erfolgreichen Schritt passieren?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 zum Ablauf: Ich beginne mit der Geschichte und der Idee des Demo-Systems. Dann sehen wir uns die drei Services und den normalen Datenfluss an. Danach kommen vier Experimente. Bei jedem Experiment erkläre ich zuerst den Mechanismus und wechsle dann kurz in das Terminal. Am Ende fasse ich die Beobachtungen zusammen und nenne die Punkte, die ich für die Entwicklung wichtig finde.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Demo-System hat eine kleine Spielgeschichte. In der fiktiven Organisation MATO gibt es ein Archiv. Ein AI Assistant hat versehentlich eine Konfigurationsdatei in ein öffentliches Repository gestellt. Darin findet man die Adresse des Gateway. Von dort beginnt die Untersuchung. Im Projekt gibt es vier Flags. Das sind nur Marker: Sie zeigen, dass eine Stufe erreicht wurde. Für uns ist nicht das Spiel selbst wichtig, sondern der Weg durch die Services und die Frage, welche Schwäche welchen Zugang ermöglicht.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Idee war, eine kleine, kontrollierte Umgebung zu bauen. Ein Service verwaltet Benutzer, persönliche Notizen und Dokumente. Ein Gateway leitet die Archiv-Anfragen weiter. Ein weiterer Service hat einen eigenen Login- und OTP-Bereich. So kann ich nicht nur einzelne Fehler isoliert zeigen, sondern auch beobachten, was nach einem Datenabfluss möglich wird. Ich nutze absichtlich einfache Testdaten. Die Ergebnisse sind reproduzierbar und betreffen nur dieses Demo-System.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sehen wir die Architektur. Links steht die externe Anfrage. Der edge-gateway auf Port 8080 ist der öffentliche Zugang zum Archiv. Er leitet /users, /notes und /documents/search an den internen archive-service weiter. Dieser Service speichert seine Daten in MariaDB. Unten ist command-control. Dieser Service ist im Demo ebenfalls direkt erreichbar, aber er läuft unabhängig vom Gateway. Er enthält Login, OTP und einen mit JWT geschützten Endpunkt. Für die Experimente ist wichtig, an welchen Stellen externe Eingaben eine interne Entscheidung beeinflussen.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Bevor ich die Schwächen zeige, schauen wir auf den normalen Ablauf. Die öffentliche /users-Antwort enthält nur allgemeine Informationen. Für /notes muss man sich mit Basic Auth anmelden; dann sieht man die eigenen Notizen. Bei /documents/search wird ein department-Wert als Filter verwendet. Im separaten command-control braucht man für den letzten Endpunkt einen gültigen JWT. Diese vier Antworten dienen als Vergleich. Nach jedem Experiment prüfen wir, was sich gegenüber diesem Ausgangszustand geändert hat. Wichtig: Der department-Filter ist im Demo keine vollständig durchgesetzte Benutzerberechtigung.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Meine Forschungsfrage war: Wie weit kommt man, wenn in einer Anwendung mehrere Schwächen zusammenkommen? Ich habe für jeden Schritt denselben Ablauf benutzt. Zuerst halte ich den Startzugang fest. Dann ändere ich genau einen Input. Danach beobachte ich die Antwort und frage, ob daraus ein weiterer Schritt möglich wird. So lässt sich die Kette nachvollziehen. Gleichzeitig kann man sauber trennen, welche Schwäche aus einer Dependency kommt und welche durch den Anwendungscode oder die Konfiguration entsteht.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erste Experiment beginnt beim Gateway. Der Gateway Actuator ist in diesem Demo ohne Authentifizierung erreichbar und erlaubt das Anlegen einer Route. In einem Filterwert steckt ein SpEL-Ausdruck. Spring wertet diesen Ausdruck bereits beim Erstellen der Route aus. Dadurch wird ein Runtime Setting geändert, bevor jemand die neue Route überhaupt benutzt. Danach schickt der Gateway bei Archiv-Anfragen einen Debug Header.</a:t>
            </a:r>
          </a:p>
          <a:p xmlns:a="http://schemas.openxmlformats.org/drawingml/2006/main">
            <a:r>
              <a:t/>
            </a:r>
          </a:p>
          <a:p xmlns:a="http://schemas.openxmlformats.org/drawingml/2006/main">
            <a:r>
              <a:t>[TERMINAL: Jetzt zu Live Demo 1 wechseln. Zuerst die normale /users-Antwort zeigen, dann die Route registrieren und den geänderten Modus und die passwordHash-Felder hervorheben. Danach zu Slide 12 zurückkehren.]</a:t>
            </a:r>
          </a:p>
          <a:p xmlns:a="http://schemas.openxmlformats.org/drawingml/2006/main">
            <a:r>
              <a:t/>
            </a:r>
          </a:p>
          <a:p xmlns:a="http://schemas.openxmlformats.org/drawingml/2006/main">
            <a:r>
              <a:t>Quelle: https://spring.io/security/cve-2025-41243/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sind zurück bei der Antwort von /users. Links sehen wir den normalen Modus: allgemeine Felder, aber keine Password Hashes. Rechts sehen wir den Debug-Modus. Der Gateway liest das geänderte Setting und fügt X-Debug-Trace hinzu. Der Archive Service vertraut diesem Header und liefert mehr Felder aus. Die SpEL-Schwachstelle und diese Vertrauensentscheidung wirken hier zusammen. Das Ergebnis ist nicht nur eine veränderte Konfiguration, sondern ein Datenabfluss, den wir im nächsten Experiment verwenden können.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Aus dem ersten Experiment haben wir einen BCrypt Hash. Ein Hash ist nicht direkt das Passwort. Aber eines der Test-Passwörter ist schwach und steht in einer kurzen Wordlist. Nach einem lokalen Vergleich finden wir dieses Passwort. Damit können wir uns am Archiv mit Basic Auth anmelden und die Notizen dieses Benutzers lesen. Eine Notiz gibt den Hinweis auf die Document Search. Wichtig ist: Dieser Schritt ist keine eigene CVE. Er zeigt, dass eine Hash-Leak durch ein schwaches Passwort viel größere Folgen haben kann.</a:t>
            </a:r>
          </a:p>
          <a:p xmlns:a="http://schemas.openxmlformats.org/drawingml/2006/main">
            <a:r>
              <a:t/>
            </a:r>
          </a:p>
          <a:p xmlns:a="http://schemas.openxmlformats.org/drawingml/2006/main">
            <a:r>
              <a:t>[TERMINAL: Jetzt Live Demo 2 zeigen. Wordlist-Vergleich und anschließend GET /notes mit Basic Auth. Die gefundene Notiz hervorheben. Danach zu Slide 14 zurückkehren.]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dritten Experiment betrachten wir die Document Search. Der Client sendet einen department-Wert. Der Archive Service gibt ihn an den MariaDB Filter Converter von Spring AI weiter. In der verwendeten Version wird dieser Wert in einen SQL-Teil eingebaut, ohne dass ein enthaltenes Anführungszeichen korrekt behandelt wird. So verändert der Input die WHERE-Bedingung und die Suche liefert zusätzliche Dokumente. Ich möchte hier vor allem den Datenfluss zeigen: Wo entsteht der String, wo wird er umgewandelt, und wo beeinflusst er die Datenbank-Abfrage?</a:t>
            </a:r>
          </a:p>
          <a:p xmlns:a="http://schemas.openxmlformats.org/drawingml/2006/main">
            <a:r>
              <a:t/>
            </a:r>
          </a:p>
          <a:p xmlns:a="http://schemas.openxmlformats.org/drawingml/2006/main">
            <a:r>
              <a:t>[TERMINAL: Jetzt Live Demo 3 zeigen. Erst einen normalen Suchaufruf, dann den geänderten Filter. Die unterschiedliche Zahl und Art der Dokumente zeigen. Danach zu Slide 15 zurückkehren.]</a:t>
            </a:r>
          </a:p>
          <a:p xmlns:a="http://schemas.openxmlformats.org/drawingml/2006/main">
            <a:r>
              <a:t/>
            </a:r>
          </a:p>
          <a:p xmlns:a="http://schemas.openxmlformats.org/drawingml/2006/main">
            <a:r>
              <a:t>Quelle: https://spring.io/security/cve-2026-22730/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letzte Teil läuft im separaten command-control Service. Der Login Controller nutzt UserDetailsService und PasswordEncoder direkt. Er verwendet den konfigurierten AuthenticationManager nicht. Wenn ein Benutzer nicht existiert, kommt die Antwort schnell. Bei einem vorhandenen Benutzer läuft BCrypt, und die Antwort dauert länger. Das kann den Benutzernamen verraten. Außerdem hat der OTP-Endpunkt nur vier Ziffern und keine Rate Limit. Viele Versuche können in kurzer Zeit einen gültigen Code finden. Dieser Code liefert einen JWT für den letzten Endpunkt. Eine wichtige Einschränkung des Demo-Codes: Der OTP-Endpunkt verlangt keinen Nachweis eines erfolgreichen Login. Timing und Passwort sind für diesen Schritt technisch nicht zwingend nötig.</a:t>
            </a:r>
          </a:p>
          <a:p xmlns:a="http://schemas.openxmlformats.org/drawingml/2006/main">
            <a:r>
              <a:t/>
            </a:r>
          </a:p>
          <a:p xmlns:a="http://schemas.openxmlformats.org/drawingml/2006/main">
            <a:r>
              <a:t>[TERMINAL: Jetzt Live Demo 4 zeigen. Timing-Messwerte vergleichen, OTP-Fortschritt, gültigen JWT und die letzte Antwort zeigen. Danach zu Slide 16 zurückkehren.]</a:t>
            </a:r>
          </a:p>
          <a:p xmlns:a="http://schemas.openxmlformats.org/drawingml/2006/main">
            <a:r>
              <a:t/>
            </a:r>
          </a:p>
          <a:p xmlns:a="http://schemas.openxmlformats.org/drawingml/2006/main">
            <a:r>
              <a:t>Verwandte Spring Security Advisory: https://spring.io/security/cve-2025-22234/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sehen wir die ganze Untersuchung noch einmal. Der Gateway-Fehler verändert ein Setting. Dadurch erscheinen Password Hashes in der Antwort. Ein schwaches Passwort ermöglicht den Zugriff auf private Notizen. Danach zeigt die Suche wegen SQL Injection zusätzliche Dokumente. Im separaten Service sehen wir schließlich Login Timing und einen OTP-Endpunkt ohne Rate Limit. Der End-to-End-Test erreicht alle vier Marker. Dabei möchte ich eine Grenze klar benennen: Der aktuelle OTP-Endpunkt ist unabhängig von einem erfolgreichen Login. Deshalb ist die Geschichte eine Folge von Experimenten, aber nicht an jeder Stelle eine technisch erzwungene Kette.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mich bleiben vier praktische Punkte. Erstens müssen wir wissen, welche Versionen von Dependencies und Runtime wirklich laufen, und Updates einplanen. Zweitens sollten Management Endpoints nur dort erreichbar sein, wo sie gebraucht werden. Drittens sollten wir Datenflüsse bis zum Ende prüfen: Ein Header oder ein Input-Wert kann an einer späteren Stelle viel mehr bewirken als erwartet. Viertens ist Authentication besonders empfindlich. Standard-Flows und Rate Limits sind wichtig, auch wenn ein eigener Controller zunächst einfacher aussieht. Das sind allgemeine Engineering-Fragen; diese Demo macht keine Aussage über die Sicherheit unserer konkreten Anwendungen.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Vielen Dank. Ich freue mich auf eure Fragen. Wir können über die Architektur, die einzelnen Experimente oder über die möglichen Schutzmaßnahmen sprechen. Wenn ihr möchtet, kann ich auch noch einmal einen bestimmten Terminal-Schritt zeigen.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4a5ebec59c43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73ed690e794c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b825d1a35547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913018002745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f6208bacd843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a9caa44a654a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C08A6E-9032-4FEB-869C-0FF57221CA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9FE57C-470F-4E37-82C2-25AB8113F5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9CF4BE-0DF2-4F52-B483-59F78D9876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A36538-FAB3-4017-98DB-5E76E8E8A9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5BAF69-B628-415C-BAE4-F749FE9E6A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B6B4AD-2F4D-457B-9C18-CA63256BDC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98BDEA-D080-4AA3-A651-9B1353794A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5F203E-21CA-4765-A52A-5F6016ACA6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BCB776-3961-425B-AAFE-BF83EE8C97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3E1210-7322-4CD6-BA12-CCBAE7DE51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7faec784d644b5" /><Relationship Type="http://schemas.openxmlformats.org/officeDocument/2006/relationships/slideLayout" Target="/ppt/slideLayouts/slideLayout1.xml" Id="R5cd61b65014a4d80" /><Relationship Type="http://schemas.openxmlformats.org/officeDocument/2006/relationships/slideLayout" Target="/ppt/slideLayouts/slideLayout2.xml" Id="R7db1cb0275264040" /><Relationship Type="http://schemas.openxmlformats.org/officeDocument/2006/relationships/slideLayout" Target="/ppt/slideLayouts/slideLayout3.xml" Id="Rf86d35fcd23c4b83" /><Relationship Type="http://schemas.openxmlformats.org/officeDocument/2006/relationships/slideLayout" Target="/ppt/slideLayouts/slideLayout4.xml" Id="R52aa40fca3764178" /><Relationship Type="http://schemas.openxmlformats.org/officeDocument/2006/relationships/slideLayout" Target="/ppt/slideLayouts/slideLayout5.xml" Id="R570d7b814cce4a3a" /><Relationship Type="http://schemas.openxmlformats.org/officeDocument/2006/relationships/slideLayout" Target="/ppt/slideLayouts/slideLayout6.xml" Id="R9f6e34ad742545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d61b65014a4d80"/>
    <p:sldLayoutId xmlns:r="http://schemas.openxmlformats.org/officeDocument/2006/relationships" id="2147483650" r:id="R7db1cb0275264040"/>
    <p:sldLayoutId xmlns:r="http://schemas.openxmlformats.org/officeDocument/2006/relationships" id="2147483651" r:id="Rf86d35fcd23c4b83"/>
    <p:sldLayoutId xmlns:r="http://schemas.openxmlformats.org/officeDocument/2006/relationships" id="2147483652" r:id="R52aa40fca3764178"/>
    <p:sldLayoutId xmlns:r="http://schemas.openxmlformats.org/officeDocument/2006/relationships" id="2147483653" r:id="R570d7b814cce4a3a"/>
    <p:sldLayoutId xmlns:r="http://schemas.openxmlformats.org/officeDocument/2006/relationships" id="2147483654" r:id="R9f6e34ad742545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cd1df398a241df" /><Relationship Type="http://schemas.openxmlformats.org/officeDocument/2006/relationships/notesSlide" Target="/ppt/notesSlides/notesSlide1.xml" Id="R9d83ffe0f79445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5f8f15ee8346b3" /><Relationship Type="http://schemas.openxmlformats.org/officeDocument/2006/relationships/notesSlide" Target="/ppt/notesSlides/notesSlide2.xml" Id="Rf5d0fac55d3f4a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8adbfd13af4d4a" /><Relationship Type="http://schemas.openxmlformats.org/officeDocument/2006/relationships/notesSlide" Target="/ppt/notesSlides/notesSlide3.xml" Id="Re4773b8400ed42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b707455f64480c" /><Relationship Type="http://schemas.openxmlformats.org/officeDocument/2006/relationships/notesSlide" Target="/ppt/notesSlides/notesSlide4.xml" Id="Rfa02f35bc4f346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231b92018d4ee3" /><Relationship Type="http://schemas.openxmlformats.org/officeDocument/2006/relationships/notesSlide" Target="/ppt/notesSlides/notesSlide5.xml" Id="R89277868f9f54f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6f31e1303544d3" /><Relationship Type="http://schemas.openxmlformats.org/officeDocument/2006/relationships/notesSlide" Target="/ppt/notesSlides/notesSlide6.xml" Id="R1a79b96c5da742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329380e2ac4145" /><Relationship Type="http://schemas.openxmlformats.org/officeDocument/2006/relationships/notesSlide" Target="/ppt/notesSlides/notesSlide7.xml" Id="R141a6691a1d940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7671c94a6a44a9" /><Relationship Type="http://schemas.openxmlformats.org/officeDocument/2006/relationships/notesSlide" Target="/ppt/notesSlides/notesSlide8.xml" Id="Rd58906bc968b47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ca2dfb03ab4218" /><Relationship Type="http://schemas.openxmlformats.org/officeDocument/2006/relationships/notesSlide" Target="/ppt/notesSlides/notesSlide9.xml" Id="Ra5bc4be9d66f46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766f2c4fb44ce8" /><Relationship Type="http://schemas.openxmlformats.org/officeDocument/2006/relationships/notesSlide" Target="/ppt/notesSlides/notesSlide10.xml" Id="R073805d2c7fe4b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905f5e785b486f" /><Relationship Type="http://schemas.openxmlformats.org/officeDocument/2006/relationships/notesSlide" Target="/ppt/notesSlides/notesSlide11.xml" Id="Rbd8c7e6ad5c942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ddccf7f8634b9e" /><Relationship Type="http://schemas.openxmlformats.org/officeDocument/2006/relationships/notesSlide" Target="/ppt/notesSlides/notesSlide12.xml" Id="R1ae10a679ccc4e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89cb8c1725468b" /><Relationship Type="http://schemas.openxmlformats.org/officeDocument/2006/relationships/notesSlide" Target="/ppt/notesSlides/notesSlide13.xml" Id="R4f2113a3d13546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6be7ff4d7ab4e5c" /><Relationship Type="http://schemas.openxmlformats.org/officeDocument/2006/relationships/notesSlide" Target="/ppt/notesSlides/notesSlide14.xml" Id="Rfd0cf9dbb07141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784df2bdc864c80" /><Relationship Type="http://schemas.openxmlformats.org/officeDocument/2006/relationships/notesSlide" Target="/ppt/notesSlides/notesSlide15.xml" Id="R21d0a0c82e624b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c8d066860d4321" /><Relationship Type="http://schemas.openxmlformats.org/officeDocument/2006/relationships/notesSlide" Target="/ppt/notesSlides/notesSlide16.xml" Id="Ra159b34242d646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fdb3698084d4fb0" /><Relationship Type="http://schemas.openxmlformats.org/officeDocument/2006/relationships/notesSlide" Target="/ppt/notesSlides/notesSlide17.xml" Id="R548079df9a9744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0bf619a506a4a2a" /><Relationship Type="http://schemas.openxmlformats.org/officeDocument/2006/relationships/notesSlide" Target="/ppt/notesSlides/notesSlide18.xml" Id="Rd3fb6750267349e3"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6959DB-8DDE-441A-A6F9-75822E7AB92B}"/>
              </a:ext>
            </a:extLst>
          </p:cNvPr>
          <p:cNvSpPr>
            <a:spLocks xmlns:a="http://schemas.openxmlformats.org/drawingml/2006/main" noGrp="1"/>
          </p:cNvSpPr>
          <p:nvPr/>
        </p:nvSpPr>
        <p:spPr>
          <a:xfrm xmlns:a="http://schemas.openxmlformats.org/drawingml/2006/main">
            <a:off x="647700" y="1190625"/>
            <a:ext cx="85725" cy="347662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717E6E-D429-42A4-841B-E0B93D74CA7B}"/>
              </a:ext>
            </a:extLst>
          </p:cNvPr>
          <p:cNvSpPr>
            <a:spLocks xmlns:a="http://schemas.openxmlformats.org/drawingml/2006/main" noGrp="1"/>
          </p:cNvSpPr>
          <p:nvPr/>
        </p:nvSpPr>
        <p:spPr>
          <a:xfrm xmlns:a="http://schemas.openxmlformats.org/drawingml/2006/main">
            <a:off x="1066800" y="1219200"/>
            <a:ext cx="1009650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425" b="1">
                <a:solidFill>
                  <a:srgbClr val="202935"/>
                </a:solidFill>
                <a:latin typeface="Arial"/>
                <a:ea typeface="Arial"/>
                <a:cs typeface="Arial"/>
              </a:defRPr>
            </a:defPPr>
            <a:lvl1pPr algn="l">
              <a:defRPr sz="4425" b="1">
                <a:solidFill>
                  <a:srgbClr val="202935"/>
                </a:solidFill>
                <a:latin typeface="Arial"/>
                <a:ea typeface="Arial"/>
                <a:cs typeface="Arial"/>
              </a:defRPr>
            </a:lvl1pPr>
            <a:lvl2pPr algn="l">
              <a:defRPr sz="4425" b="1">
                <a:solidFill>
                  <a:srgbClr val="202935"/>
                </a:solidFill>
                <a:latin typeface="Arial"/>
                <a:ea typeface="Arial"/>
                <a:cs typeface="Arial"/>
              </a:defRPr>
            </a:lvl2pPr>
            <a:lvl3pPr algn="l">
              <a:defRPr sz="4425" b="1">
                <a:solidFill>
                  <a:srgbClr val="202935"/>
                </a:solidFill>
                <a:latin typeface="Arial"/>
                <a:ea typeface="Arial"/>
                <a:cs typeface="Arial"/>
              </a:defRPr>
            </a:lvl3pPr>
            <a:lvl4pPr algn="l">
              <a:defRPr sz="4425" b="1">
                <a:solidFill>
                  <a:srgbClr val="202935"/>
                </a:solidFill>
                <a:latin typeface="Arial"/>
                <a:ea typeface="Arial"/>
                <a:cs typeface="Arial"/>
              </a:defRPr>
            </a:lvl4pPr>
            <a:lvl5pPr algn="l">
              <a:defRPr sz="4425" b="1">
                <a:solidFill>
                  <a:srgbClr val="202935"/>
                </a:solidFill>
                <a:latin typeface="Arial"/>
                <a:ea typeface="Arial"/>
                <a:cs typeface="Arial"/>
              </a:defRPr>
            </a:lvl5pPr>
            <a:lvl6pPr algn="l">
              <a:defRPr sz="4425" b="1">
                <a:solidFill>
                  <a:srgbClr val="202935"/>
                </a:solidFill>
                <a:latin typeface="Arial"/>
                <a:ea typeface="Arial"/>
                <a:cs typeface="Arial"/>
              </a:defRPr>
            </a:lvl6pPr>
            <a:lvl7pPr algn="l">
              <a:defRPr sz="4425" b="1">
                <a:solidFill>
                  <a:srgbClr val="202935"/>
                </a:solidFill>
                <a:latin typeface="Arial"/>
                <a:ea typeface="Arial"/>
                <a:cs typeface="Arial"/>
              </a:defRPr>
            </a:lvl7pPr>
            <a:lvl8pPr algn="l">
              <a:defRPr sz="4425" b="1">
                <a:solidFill>
                  <a:srgbClr val="202935"/>
                </a:solidFill>
                <a:latin typeface="Arial"/>
                <a:ea typeface="Arial"/>
                <a:cs typeface="Arial"/>
              </a:defRPr>
            </a:lvl8pPr>
            <a:lvl9pPr algn="l">
              <a:defRPr sz="4425" b="1">
                <a:solidFill>
                  <a:srgbClr val="202935"/>
                </a:solidFill>
                <a:latin typeface="Arial"/>
                <a:ea typeface="Arial"/>
                <a:cs typeface="Arial"/>
              </a:defRPr>
            </a:lvl9pPr>
          </a:lstStyle>
          <a:p xmlns:a="http://schemas.openxmlformats.org/drawingml/2006/main">
            <a:pPr algn="l">
              <a:defRPr sz="4425" b="1">
                <a:solidFill>
                  <a:srgbClr val="202935"/>
                </a:solidFill>
                <a:latin typeface="Arial"/>
                <a:ea typeface="Arial"/>
                <a:cs typeface="Arial"/>
              </a:defRPr>
            </a:pPr>
            <a:r>
              <a:rPr sz="4425" b="1">
                <a:solidFill>
                  <a:srgbClr val="202935"/>
                </a:solidFill>
                <a:latin typeface="Arial"/>
                <a:ea typeface="Arial"/>
                <a:cs typeface="Arial"/>
              </a:rPr>
              <a:t>Wenn Schwachstellen</a:t>
            </a:r>
          </a:p>
          <a:p xmlns:a="http://schemas.openxmlformats.org/drawingml/2006/main">
            <a:pPr algn="l">
              <a:defRPr sz="4425" b="1">
                <a:solidFill>
                  <a:srgbClr val="202935"/>
                </a:solidFill>
                <a:latin typeface="Arial"/>
                <a:ea typeface="Arial"/>
                <a:cs typeface="Arial"/>
              </a:defRPr>
            </a:pPr>
            <a:r>
              <a:rPr sz="4425" b="1">
                <a:solidFill>
                  <a:srgbClr val="202935"/>
                </a:solidFill>
                <a:latin typeface="Arial"/>
                <a:ea typeface="Arial"/>
                <a:cs typeface="Arial"/>
              </a:rPr>
              <a:t>zusammenwirken</a:t>
            </a:r>
          </a:p>
        </p:txBody>
      </p:sp>
      <p:sp>
        <p:nvSpPr>
          <p:cNvPr id="3" name="">
            <a:extLst xmlns:a="http://schemas.openxmlformats.org/drawingml/2006/main">
              <a:ext uri="{FF2B5EF4-FFF2-40B4-BE49-F238E27FC236}">
                <a16:creationId xmlns:a16="http://schemas.microsoft.com/office/drawing/2014/main" id="{422945BF-673F-442F-8B72-AA9C04013E66}"/>
              </a:ext>
            </a:extLst>
          </p:cNvPr>
          <p:cNvSpPr>
            <a:spLocks xmlns:a="http://schemas.openxmlformats.org/drawingml/2006/main" noGrp="1"/>
          </p:cNvSpPr>
          <p:nvPr/>
        </p:nvSpPr>
        <p:spPr>
          <a:xfrm xmlns:a="http://schemas.openxmlformats.org/drawingml/2006/main">
            <a:off x="1085850" y="3190875"/>
            <a:ext cx="876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5D6872"/>
                </a:solidFill>
                <a:latin typeface="Arial"/>
                <a:ea typeface="Arial"/>
                <a:cs typeface="Arial"/>
              </a:defRPr>
            </a:defPPr>
            <a:lvl1pPr algn="l">
              <a:defRPr sz="2175" b="0">
                <a:solidFill>
                  <a:srgbClr val="5D6872"/>
                </a:solidFill>
                <a:latin typeface="Arial"/>
                <a:ea typeface="Arial"/>
                <a:cs typeface="Arial"/>
              </a:defRPr>
            </a:lvl1pPr>
            <a:lvl2pPr algn="l">
              <a:defRPr sz="2175" b="0">
                <a:solidFill>
                  <a:srgbClr val="5D6872"/>
                </a:solidFill>
                <a:latin typeface="Arial"/>
                <a:ea typeface="Arial"/>
                <a:cs typeface="Arial"/>
              </a:defRPr>
            </a:lvl2pPr>
            <a:lvl3pPr algn="l">
              <a:defRPr sz="2175" b="0">
                <a:solidFill>
                  <a:srgbClr val="5D6872"/>
                </a:solidFill>
                <a:latin typeface="Arial"/>
                <a:ea typeface="Arial"/>
                <a:cs typeface="Arial"/>
              </a:defRPr>
            </a:lvl3pPr>
            <a:lvl4pPr algn="l">
              <a:defRPr sz="2175" b="0">
                <a:solidFill>
                  <a:srgbClr val="5D6872"/>
                </a:solidFill>
                <a:latin typeface="Arial"/>
                <a:ea typeface="Arial"/>
                <a:cs typeface="Arial"/>
              </a:defRPr>
            </a:lvl4pPr>
            <a:lvl5pPr algn="l">
              <a:defRPr sz="2175" b="0">
                <a:solidFill>
                  <a:srgbClr val="5D6872"/>
                </a:solidFill>
                <a:latin typeface="Arial"/>
                <a:ea typeface="Arial"/>
                <a:cs typeface="Arial"/>
              </a:defRPr>
            </a:lvl5pPr>
            <a:lvl6pPr algn="l">
              <a:defRPr sz="2175" b="0">
                <a:solidFill>
                  <a:srgbClr val="5D6872"/>
                </a:solidFill>
                <a:latin typeface="Arial"/>
                <a:ea typeface="Arial"/>
                <a:cs typeface="Arial"/>
              </a:defRPr>
            </a:lvl6pPr>
            <a:lvl7pPr algn="l">
              <a:defRPr sz="2175" b="0">
                <a:solidFill>
                  <a:srgbClr val="5D6872"/>
                </a:solidFill>
                <a:latin typeface="Arial"/>
                <a:ea typeface="Arial"/>
                <a:cs typeface="Arial"/>
              </a:defRPr>
            </a:lvl7pPr>
            <a:lvl8pPr algn="l">
              <a:defRPr sz="2175" b="0">
                <a:solidFill>
                  <a:srgbClr val="5D6872"/>
                </a:solidFill>
                <a:latin typeface="Arial"/>
                <a:ea typeface="Arial"/>
                <a:cs typeface="Arial"/>
              </a:defRPr>
            </a:lvl8pPr>
            <a:lvl9pPr algn="l">
              <a:defRPr sz="2175" b="0">
                <a:solidFill>
                  <a:srgbClr val="5D6872"/>
                </a:solidFill>
                <a:latin typeface="Arial"/>
                <a:ea typeface="Arial"/>
                <a:cs typeface="Arial"/>
              </a:defRPr>
            </a:lvl9pPr>
          </a:lstStyle>
          <a:p xmlns:a="http://schemas.openxmlformats.org/drawingml/2006/main">
            <a:pPr algn="l">
              <a:defRPr sz="2175" b="0">
                <a:solidFill>
                  <a:srgbClr val="5D6872"/>
                </a:solidFill>
                <a:latin typeface="Arial"/>
                <a:ea typeface="Arial"/>
                <a:cs typeface="Arial"/>
              </a:defRPr>
            </a:pPr>
            <a:r>
              <a:rPr sz="2175" b="0">
                <a:solidFill>
                  <a:srgbClr val="5D6872"/>
                </a:solidFill>
                <a:latin typeface="Arial"/>
                <a:ea typeface="Arial"/>
                <a:cs typeface="Arial"/>
              </a:rPr>
              <a:t>Eine Untersuchung an einem Spring Demo-System</a:t>
            </a:r>
          </a:p>
        </p:txBody>
      </p:sp>
      <p:sp>
        <p:nvSpPr>
          <p:cNvPr id="4" name="">
            <a:extLst xmlns:a="http://schemas.openxmlformats.org/drawingml/2006/main">
              <a:ext uri="{FF2B5EF4-FFF2-40B4-BE49-F238E27FC236}">
                <a16:creationId xmlns:a16="http://schemas.microsoft.com/office/drawing/2014/main" id="{AFCBC19C-0135-451F-8851-440B3D9E74DB}"/>
              </a:ext>
            </a:extLst>
          </p:cNvPr>
          <p:cNvSpPr>
            <a:spLocks xmlns:a="http://schemas.openxmlformats.org/drawingml/2006/main" noGrp="1"/>
          </p:cNvSpPr>
          <p:nvPr/>
        </p:nvSpPr>
        <p:spPr>
          <a:xfrm xmlns:a="http://schemas.openxmlformats.org/drawingml/2006/main">
            <a:off x="1085850" y="4276725"/>
            <a:ext cx="9334500" cy="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5" name="">
            <a:extLst xmlns:a="http://schemas.openxmlformats.org/drawingml/2006/main">
              <a:ext uri="{FF2B5EF4-FFF2-40B4-BE49-F238E27FC236}">
                <a16:creationId xmlns:a16="http://schemas.microsoft.com/office/drawing/2014/main" id="{A17753B3-C3C5-4559-AD2E-19C7E94E246E}"/>
              </a:ext>
            </a:extLst>
          </p:cNvPr>
          <p:cNvSpPr>
            <a:spLocks xmlns:a="http://schemas.openxmlformats.org/drawingml/2006/main" noGrp="1"/>
          </p:cNvSpPr>
          <p:nvPr/>
        </p:nvSpPr>
        <p:spPr>
          <a:xfrm xmlns:a="http://schemas.openxmlformats.org/drawingml/2006/main">
            <a:off x="1085850" y="455295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Dependencies · Trust Boundaries · Live Demos</a:t>
            </a:r>
          </a:p>
        </p:txBody>
      </p:sp>
    </p:spTree>
    <p:extLst>
      <p:ext uri="{BB962C8B-B14F-4D97-AF65-F5344CB8AC3E}">
        <p14:creationId xmlns:p14="http://schemas.microsoft.com/office/powerpoint/2010/main" val="697935904"/>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A6622B5-27B3-44CF-A26A-8933CFD4126F}"/>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7E10DE-5643-44B7-9C20-D6E7AB8EB046}"/>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Warum Updates wichtig sind</a:t>
            </a:r>
          </a:p>
        </p:txBody>
      </p:sp>
      <p:sp>
        <p:nvSpPr>
          <p:cNvPr id="3" name="">
            <a:extLst xmlns:a="http://schemas.openxmlformats.org/drawingml/2006/main">
              <a:ext uri="{FF2B5EF4-FFF2-40B4-BE49-F238E27FC236}">
                <a16:creationId xmlns:a16="http://schemas.microsoft.com/office/drawing/2014/main" id="{99E73F6F-B3C5-44AC-A8F6-BEC9E1F9761D}"/>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152F9BC0-0606-49ED-AD17-1B2E9D53057B}"/>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953973C4-F69B-43D8-8FBC-F1A983EAACF3}"/>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70A8151-D2ED-4F3F-A7CB-E3631077E2A4}"/>
              </a:ext>
            </a:extLst>
          </p:cNvPr>
          <p:cNvSpPr>
            <a:spLocks xmlns:a="http://schemas.openxmlformats.org/drawingml/2006/main" noGrp="1"/>
          </p:cNvSpPr>
          <p:nvPr/>
        </p:nvSpPr>
        <p:spPr>
          <a:xfrm xmlns:a="http://schemas.openxmlformats.org/drawingml/2006/main">
            <a:off x="685800" y="1447800"/>
            <a:ext cx="9715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202935"/>
                </a:solidFill>
                <a:latin typeface="Arial"/>
                <a:ea typeface="Arial"/>
                <a:cs typeface="Arial"/>
              </a:defRPr>
            </a:defPPr>
            <a:lvl1pPr algn="l">
              <a:defRPr sz="2250" b="1">
                <a:solidFill>
                  <a:srgbClr val="202935"/>
                </a:solidFill>
                <a:latin typeface="Arial"/>
                <a:ea typeface="Arial"/>
                <a:cs typeface="Arial"/>
              </a:defRPr>
            </a:lvl1pPr>
            <a:lvl2pPr algn="l">
              <a:defRPr sz="2250" b="1">
                <a:solidFill>
                  <a:srgbClr val="202935"/>
                </a:solidFill>
                <a:latin typeface="Arial"/>
                <a:ea typeface="Arial"/>
                <a:cs typeface="Arial"/>
              </a:defRPr>
            </a:lvl2pPr>
            <a:lvl3pPr algn="l">
              <a:defRPr sz="2250" b="1">
                <a:solidFill>
                  <a:srgbClr val="202935"/>
                </a:solidFill>
                <a:latin typeface="Arial"/>
                <a:ea typeface="Arial"/>
                <a:cs typeface="Arial"/>
              </a:defRPr>
            </a:lvl3pPr>
            <a:lvl4pPr algn="l">
              <a:defRPr sz="2250" b="1">
                <a:solidFill>
                  <a:srgbClr val="202935"/>
                </a:solidFill>
                <a:latin typeface="Arial"/>
                <a:ea typeface="Arial"/>
                <a:cs typeface="Arial"/>
              </a:defRPr>
            </a:lvl4pPr>
            <a:lvl5pPr algn="l">
              <a:defRPr sz="2250" b="1">
                <a:solidFill>
                  <a:srgbClr val="202935"/>
                </a:solidFill>
                <a:latin typeface="Arial"/>
                <a:ea typeface="Arial"/>
                <a:cs typeface="Arial"/>
              </a:defRPr>
            </a:lvl5pPr>
            <a:lvl6pPr algn="l">
              <a:defRPr sz="2250" b="1">
                <a:solidFill>
                  <a:srgbClr val="202935"/>
                </a:solidFill>
                <a:latin typeface="Arial"/>
                <a:ea typeface="Arial"/>
                <a:cs typeface="Arial"/>
              </a:defRPr>
            </a:lvl6pPr>
            <a:lvl7pPr algn="l">
              <a:defRPr sz="2250" b="1">
                <a:solidFill>
                  <a:srgbClr val="202935"/>
                </a:solidFill>
                <a:latin typeface="Arial"/>
                <a:ea typeface="Arial"/>
                <a:cs typeface="Arial"/>
              </a:defRPr>
            </a:lvl7pPr>
            <a:lvl8pPr algn="l">
              <a:defRPr sz="2250" b="1">
                <a:solidFill>
                  <a:srgbClr val="202935"/>
                </a:solidFill>
                <a:latin typeface="Arial"/>
                <a:ea typeface="Arial"/>
                <a:cs typeface="Arial"/>
              </a:defRPr>
            </a:lvl8pPr>
            <a:lvl9pPr algn="l">
              <a:defRPr sz="2250" b="1">
                <a:solidFill>
                  <a:srgbClr val="202935"/>
                </a:solidFill>
                <a:latin typeface="Arial"/>
                <a:ea typeface="Arial"/>
                <a:cs typeface="Arial"/>
              </a:defRPr>
            </a:lvl9pPr>
          </a:lstStyle>
          <a:p xmlns:a="http://schemas.openxmlformats.org/drawingml/2006/main">
            <a:pPr algn="l">
              <a:defRPr sz="2250" b="1">
                <a:solidFill>
                  <a:srgbClr val="202935"/>
                </a:solidFill>
                <a:latin typeface="Arial"/>
                <a:ea typeface="Arial"/>
                <a:cs typeface="Arial"/>
              </a:defRPr>
            </a:pPr>
            <a:r>
              <a:rPr sz="2250" b="1">
                <a:solidFill>
                  <a:srgbClr val="202935"/>
                </a:solidFill>
                <a:latin typeface="Arial"/>
                <a:ea typeface="Arial"/>
                <a:cs typeface="Arial"/>
              </a:rPr>
              <a:t>Auch unveränderter Anwendungscode kann neue Risiken haben.</a:t>
            </a:r>
          </a:p>
        </p:txBody>
      </p:sp>
      <p:sp>
        <p:nvSpPr>
          <p:cNvPr id="7" name="">
            <a:extLst xmlns:a="http://schemas.openxmlformats.org/drawingml/2006/main">
              <a:ext uri="{FF2B5EF4-FFF2-40B4-BE49-F238E27FC236}">
                <a16:creationId xmlns:a16="http://schemas.microsoft.com/office/drawing/2014/main" id="{ABD15333-AD4E-46F1-9344-BCB8B1A80687}"/>
              </a:ext>
            </a:extLst>
          </p:cNvPr>
          <p:cNvSpPr>
            <a:spLocks xmlns:a="http://schemas.openxmlformats.org/drawingml/2006/main" noGrp="1"/>
          </p:cNvSpPr>
          <p:nvPr/>
        </p:nvSpPr>
        <p:spPr>
          <a:xfrm xmlns:a="http://schemas.openxmlformats.org/drawingml/2006/main">
            <a:off x="685800" y="2286000"/>
            <a:ext cx="10810875" cy="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8" name="">
            <a:extLst xmlns:a="http://schemas.openxmlformats.org/drawingml/2006/main">
              <a:ext uri="{FF2B5EF4-FFF2-40B4-BE49-F238E27FC236}">
                <a16:creationId xmlns:a16="http://schemas.microsoft.com/office/drawing/2014/main" id="{87A24D1D-8342-4CEB-B39B-E4F9790EFA2A}"/>
              </a:ext>
            </a:extLst>
          </p:cNvPr>
          <p:cNvSpPr>
            <a:spLocks xmlns:a="http://schemas.openxmlformats.org/drawingml/2006/main" noGrp="1"/>
          </p:cNvSpPr>
          <p:nvPr/>
        </p:nvSpPr>
        <p:spPr>
          <a:xfrm xmlns:a="http://schemas.openxmlformats.org/drawingml/2006/main">
            <a:off x="685800" y="2581275"/>
            <a:ext cx="390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WAS SICH ÄNDERN KANN</a:t>
            </a:r>
          </a:p>
        </p:txBody>
      </p:sp>
      <p:sp>
        <p:nvSpPr>
          <p:cNvPr id="9" name="">
            <a:extLst xmlns:a="http://schemas.openxmlformats.org/drawingml/2006/main">
              <a:ext uri="{FF2B5EF4-FFF2-40B4-BE49-F238E27FC236}">
                <a16:creationId xmlns:a16="http://schemas.microsoft.com/office/drawing/2014/main" id="{06CF047F-0F7F-40A4-9A50-9BEE358CAC18}"/>
              </a:ext>
            </a:extLst>
          </p:cNvPr>
          <p:cNvSpPr>
            <a:spLocks xmlns:a="http://schemas.openxmlformats.org/drawingml/2006/main" noGrp="1"/>
          </p:cNvSpPr>
          <p:nvPr/>
        </p:nvSpPr>
        <p:spPr>
          <a:xfrm xmlns:a="http://schemas.openxmlformats.org/drawingml/2006/main">
            <a:off x="685800" y="3124200"/>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79AEF5-BF4E-41D8-8832-FB3B0A84A264}"/>
              </a:ext>
            </a:extLst>
          </p:cNvPr>
          <p:cNvSpPr>
            <a:spLocks xmlns:a="http://schemas.openxmlformats.org/drawingml/2006/main" noGrp="1"/>
          </p:cNvSpPr>
          <p:nvPr/>
        </p:nvSpPr>
        <p:spPr>
          <a:xfrm xmlns:a="http://schemas.openxmlformats.org/drawingml/2006/main">
            <a:off x="885825" y="2981325"/>
            <a:ext cx="46101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Neue Schwachstelle in einer Library</a:t>
            </a:r>
          </a:p>
        </p:txBody>
      </p:sp>
      <p:sp>
        <p:nvSpPr>
          <p:cNvPr id="11" name="">
            <a:extLst xmlns:a="http://schemas.openxmlformats.org/drawingml/2006/main">
              <a:ext uri="{FF2B5EF4-FFF2-40B4-BE49-F238E27FC236}">
                <a16:creationId xmlns:a16="http://schemas.microsoft.com/office/drawing/2014/main" id="{3D56275F-6C27-4946-8586-944AFF36B8D2}"/>
              </a:ext>
            </a:extLst>
          </p:cNvPr>
          <p:cNvSpPr>
            <a:spLocks xmlns:a="http://schemas.openxmlformats.org/drawingml/2006/main" noGrp="1"/>
          </p:cNvSpPr>
          <p:nvPr/>
        </p:nvSpPr>
        <p:spPr>
          <a:xfrm xmlns:a="http://schemas.openxmlformats.org/drawingml/2006/main">
            <a:off x="685800" y="3838575"/>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B17F1D-CB0A-40D8-AA25-8BABBE845447}"/>
              </a:ext>
            </a:extLst>
          </p:cNvPr>
          <p:cNvSpPr>
            <a:spLocks xmlns:a="http://schemas.openxmlformats.org/drawingml/2006/main" noGrp="1"/>
          </p:cNvSpPr>
          <p:nvPr/>
        </p:nvSpPr>
        <p:spPr>
          <a:xfrm xmlns:a="http://schemas.openxmlformats.org/drawingml/2006/main">
            <a:off x="885825" y="3695700"/>
            <a:ext cx="46101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Fehler in Framework oder Runtime</a:t>
            </a:r>
          </a:p>
        </p:txBody>
      </p:sp>
      <p:sp>
        <p:nvSpPr>
          <p:cNvPr id="13" name="">
            <a:extLst xmlns:a="http://schemas.openxmlformats.org/drawingml/2006/main">
              <a:ext uri="{FF2B5EF4-FFF2-40B4-BE49-F238E27FC236}">
                <a16:creationId xmlns:a16="http://schemas.microsoft.com/office/drawing/2014/main" id="{6E3F0F1A-598E-4EC6-B7D5-9CA9500D3EE9}"/>
              </a:ext>
            </a:extLst>
          </p:cNvPr>
          <p:cNvSpPr>
            <a:spLocks xmlns:a="http://schemas.openxmlformats.org/drawingml/2006/main" noGrp="1"/>
          </p:cNvSpPr>
          <p:nvPr/>
        </p:nvSpPr>
        <p:spPr>
          <a:xfrm xmlns:a="http://schemas.openxmlformats.org/drawingml/2006/main">
            <a:off x="685800" y="4552950"/>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2FFE07-7F90-4047-B911-915E0F95F909}"/>
              </a:ext>
            </a:extLst>
          </p:cNvPr>
          <p:cNvSpPr>
            <a:spLocks xmlns:a="http://schemas.openxmlformats.org/drawingml/2006/main" noGrp="1"/>
          </p:cNvSpPr>
          <p:nvPr/>
        </p:nvSpPr>
        <p:spPr>
          <a:xfrm xmlns:a="http://schemas.openxmlformats.org/drawingml/2006/main">
            <a:off x="885825" y="4410075"/>
            <a:ext cx="46101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Öffentlich erreichbare Funktion</a:t>
            </a:r>
          </a:p>
        </p:txBody>
      </p:sp>
      <p:sp>
        <p:nvSpPr>
          <p:cNvPr id="15" name="">
            <a:extLst xmlns:a="http://schemas.openxmlformats.org/drawingml/2006/main">
              <a:ext uri="{FF2B5EF4-FFF2-40B4-BE49-F238E27FC236}">
                <a16:creationId xmlns:a16="http://schemas.microsoft.com/office/drawing/2014/main" id="{5F57C11D-12F5-4667-8855-CA34A7EE03F5}"/>
              </a:ext>
            </a:extLst>
          </p:cNvPr>
          <p:cNvSpPr>
            <a:spLocks xmlns:a="http://schemas.openxmlformats.org/drawingml/2006/main" noGrp="1"/>
          </p:cNvSpPr>
          <p:nvPr/>
        </p:nvSpPr>
        <p:spPr>
          <a:xfrm xmlns:a="http://schemas.openxmlformats.org/drawingml/2006/main">
            <a:off x="6334125" y="25812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WAS WIR PRÜFEN MÜSSEN</a:t>
            </a:r>
          </a:p>
        </p:txBody>
      </p:sp>
      <p:sp>
        <p:nvSpPr>
          <p:cNvPr id="16" name="">
            <a:extLst xmlns:a="http://schemas.openxmlformats.org/drawingml/2006/main">
              <a:ext uri="{FF2B5EF4-FFF2-40B4-BE49-F238E27FC236}">
                <a16:creationId xmlns:a16="http://schemas.microsoft.com/office/drawing/2014/main" id="{23E58C8F-2A5E-4F67-8BEE-74F733D6B25A}"/>
              </a:ext>
            </a:extLst>
          </p:cNvPr>
          <p:cNvSpPr>
            <a:spLocks xmlns:a="http://schemas.openxmlformats.org/drawingml/2006/main" noGrp="1"/>
          </p:cNvSpPr>
          <p:nvPr/>
        </p:nvSpPr>
        <p:spPr>
          <a:xfrm xmlns:a="http://schemas.openxmlformats.org/drawingml/2006/main">
            <a:off x="6334125" y="3124200"/>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6401598-230E-4D9C-B21E-FAE39481C801}"/>
              </a:ext>
            </a:extLst>
          </p:cNvPr>
          <p:cNvSpPr>
            <a:spLocks xmlns:a="http://schemas.openxmlformats.org/drawingml/2006/main" noGrp="1"/>
          </p:cNvSpPr>
          <p:nvPr/>
        </p:nvSpPr>
        <p:spPr>
          <a:xfrm xmlns:a="http://schemas.openxmlformats.org/drawingml/2006/main">
            <a:off x="6534150" y="2981325"/>
            <a:ext cx="48482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Welche Version läuft wirklich?</a:t>
            </a:r>
          </a:p>
        </p:txBody>
      </p:sp>
      <p:sp>
        <p:nvSpPr>
          <p:cNvPr id="18" name="">
            <a:extLst xmlns:a="http://schemas.openxmlformats.org/drawingml/2006/main">
              <a:ext uri="{FF2B5EF4-FFF2-40B4-BE49-F238E27FC236}">
                <a16:creationId xmlns:a16="http://schemas.microsoft.com/office/drawing/2014/main" id="{13417649-683E-4735-9267-5B908968D864}"/>
              </a:ext>
            </a:extLst>
          </p:cNvPr>
          <p:cNvSpPr>
            <a:spLocks xmlns:a="http://schemas.openxmlformats.org/drawingml/2006/main" noGrp="1"/>
          </p:cNvSpPr>
          <p:nvPr/>
        </p:nvSpPr>
        <p:spPr>
          <a:xfrm xmlns:a="http://schemas.openxmlformats.org/drawingml/2006/main">
            <a:off x="6334125" y="3838575"/>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AB368E-3F6B-45E3-B920-805B9C6A961F}"/>
              </a:ext>
            </a:extLst>
          </p:cNvPr>
          <p:cNvSpPr>
            <a:spLocks xmlns:a="http://schemas.openxmlformats.org/drawingml/2006/main" noGrp="1"/>
          </p:cNvSpPr>
          <p:nvPr/>
        </p:nvSpPr>
        <p:spPr>
          <a:xfrm xmlns:a="http://schemas.openxmlformats.org/drawingml/2006/main">
            <a:off x="6534150" y="3695700"/>
            <a:ext cx="48482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Ist der betroffene Weg erreichbar?</a:t>
            </a:r>
          </a:p>
        </p:txBody>
      </p:sp>
      <p:sp>
        <p:nvSpPr>
          <p:cNvPr id="20" name="">
            <a:extLst xmlns:a="http://schemas.openxmlformats.org/drawingml/2006/main">
              <a:ext uri="{FF2B5EF4-FFF2-40B4-BE49-F238E27FC236}">
                <a16:creationId xmlns:a16="http://schemas.microsoft.com/office/drawing/2014/main" id="{691B977C-C768-4C46-B1E2-7960C1AC4348}"/>
              </a:ext>
            </a:extLst>
          </p:cNvPr>
          <p:cNvSpPr>
            <a:spLocks xmlns:a="http://schemas.openxmlformats.org/drawingml/2006/main" noGrp="1"/>
          </p:cNvSpPr>
          <p:nvPr/>
        </p:nvSpPr>
        <p:spPr>
          <a:xfrm xmlns:a="http://schemas.openxmlformats.org/drawingml/2006/main">
            <a:off x="6334125" y="4552950"/>
            <a:ext cx="66675" cy="66675"/>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72AFA4-0765-49D5-9451-0F73E2988A68}"/>
              </a:ext>
            </a:extLst>
          </p:cNvPr>
          <p:cNvSpPr>
            <a:spLocks xmlns:a="http://schemas.openxmlformats.org/drawingml/2006/main" noGrp="1"/>
          </p:cNvSpPr>
          <p:nvPr/>
        </p:nvSpPr>
        <p:spPr>
          <a:xfrm xmlns:a="http://schemas.openxmlformats.org/drawingml/2006/main">
            <a:off x="6534150" y="4410075"/>
            <a:ext cx="48482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Wann können wir patchen?</a:t>
            </a:r>
          </a:p>
        </p:txBody>
      </p:sp>
    </p:spTree>
    <p:extLst>
      <p:ext uri="{BB962C8B-B14F-4D97-AF65-F5344CB8AC3E}">
        <p14:creationId xmlns:p14="http://schemas.microsoft.com/office/powerpoint/2010/main" val="197354572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4C7A22-2FA6-4C36-BC8D-33BF90EF0FC3}"/>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82D69A-9317-4D19-B6C9-8510F6A40909}"/>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Ein aktuelles Beispiel: PHP</a:t>
            </a:r>
          </a:p>
        </p:txBody>
      </p:sp>
      <p:sp>
        <p:nvSpPr>
          <p:cNvPr id="3" name="">
            <a:extLst xmlns:a="http://schemas.openxmlformats.org/drawingml/2006/main">
              <a:ext uri="{FF2B5EF4-FFF2-40B4-BE49-F238E27FC236}">
                <a16:creationId xmlns:a16="http://schemas.microsoft.com/office/drawing/2014/main" id="{59E2E721-FC48-46A5-A45D-FB5522F460B2}"/>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86A0938B-5D3D-4CEB-B275-B9B67A8AA2DD}"/>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B0A85130-0210-41A4-ABB2-EA4491CD0B12}"/>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E07AE07-E641-4925-BD3B-4D5C35BA75D3}"/>
              </a:ext>
            </a:extLst>
          </p:cNvPr>
          <p:cNvSpPr>
            <a:spLocks xmlns:a="http://schemas.openxmlformats.org/drawingml/2006/main" noGrp="1"/>
          </p:cNvSpPr>
          <p:nvPr/>
        </p:nvSpPr>
        <p:spPr>
          <a:xfrm xmlns:a="http://schemas.openxmlformats.org/drawingml/2006/main">
            <a:off x="685800" y="1600200"/>
            <a:ext cx="495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C55A2B"/>
                </a:solidFill>
                <a:latin typeface="Arial"/>
                <a:ea typeface="Arial"/>
                <a:cs typeface="Arial"/>
              </a:defRPr>
            </a:defPPr>
            <a:lvl1pPr algn="l">
              <a:defRPr sz="2625" b="1">
                <a:solidFill>
                  <a:srgbClr val="C55A2B"/>
                </a:solidFill>
                <a:latin typeface="Arial"/>
                <a:ea typeface="Arial"/>
                <a:cs typeface="Arial"/>
              </a:defRPr>
            </a:lvl1pPr>
            <a:lvl2pPr algn="l">
              <a:defRPr sz="2625" b="1">
                <a:solidFill>
                  <a:srgbClr val="C55A2B"/>
                </a:solidFill>
                <a:latin typeface="Arial"/>
                <a:ea typeface="Arial"/>
                <a:cs typeface="Arial"/>
              </a:defRPr>
            </a:lvl2pPr>
            <a:lvl3pPr algn="l">
              <a:defRPr sz="2625" b="1">
                <a:solidFill>
                  <a:srgbClr val="C55A2B"/>
                </a:solidFill>
                <a:latin typeface="Arial"/>
                <a:ea typeface="Arial"/>
                <a:cs typeface="Arial"/>
              </a:defRPr>
            </a:lvl3pPr>
            <a:lvl4pPr algn="l">
              <a:defRPr sz="2625" b="1">
                <a:solidFill>
                  <a:srgbClr val="C55A2B"/>
                </a:solidFill>
                <a:latin typeface="Arial"/>
                <a:ea typeface="Arial"/>
                <a:cs typeface="Arial"/>
              </a:defRPr>
            </a:lvl4pPr>
            <a:lvl5pPr algn="l">
              <a:defRPr sz="2625" b="1">
                <a:solidFill>
                  <a:srgbClr val="C55A2B"/>
                </a:solidFill>
                <a:latin typeface="Arial"/>
                <a:ea typeface="Arial"/>
                <a:cs typeface="Arial"/>
              </a:defRPr>
            </a:lvl5pPr>
            <a:lvl6pPr algn="l">
              <a:defRPr sz="2625" b="1">
                <a:solidFill>
                  <a:srgbClr val="C55A2B"/>
                </a:solidFill>
                <a:latin typeface="Arial"/>
                <a:ea typeface="Arial"/>
                <a:cs typeface="Arial"/>
              </a:defRPr>
            </a:lvl6pPr>
            <a:lvl7pPr algn="l">
              <a:defRPr sz="2625" b="1">
                <a:solidFill>
                  <a:srgbClr val="C55A2B"/>
                </a:solidFill>
                <a:latin typeface="Arial"/>
                <a:ea typeface="Arial"/>
                <a:cs typeface="Arial"/>
              </a:defRPr>
            </a:lvl7pPr>
            <a:lvl8pPr algn="l">
              <a:defRPr sz="2625" b="1">
                <a:solidFill>
                  <a:srgbClr val="C55A2B"/>
                </a:solidFill>
                <a:latin typeface="Arial"/>
                <a:ea typeface="Arial"/>
                <a:cs typeface="Arial"/>
              </a:defRPr>
            </a:lvl8pPr>
            <a:lvl9pPr algn="l">
              <a:defRPr sz="2625" b="1">
                <a:solidFill>
                  <a:srgbClr val="C55A2B"/>
                </a:solidFill>
                <a:latin typeface="Arial"/>
                <a:ea typeface="Arial"/>
                <a:cs typeface="Arial"/>
              </a:defRPr>
            </a:lvl9pPr>
          </a:lstStyle>
          <a:p xmlns:a="http://schemas.openxmlformats.org/drawingml/2006/main">
            <a:pPr algn="l">
              <a:defRPr sz="2625" b="1">
                <a:solidFill>
                  <a:srgbClr val="C55A2B"/>
                </a:solidFill>
                <a:latin typeface="Arial"/>
                <a:ea typeface="Arial"/>
                <a:cs typeface="Arial"/>
              </a:defRPr>
            </a:pPr>
            <a:r>
              <a:rPr sz="2625" b="1">
                <a:solidFill>
                  <a:srgbClr val="C55A2B"/>
                </a:solidFill>
                <a:latin typeface="Arial"/>
                <a:ea typeface="Arial"/>
                <a:cs typeface="Arial"/>
              </a:rPr>
              <a:t>21. Oktober 2026</a:t>
            </a:r>
          </a:p>
        </p:txBody>
      </p:sp>
      <p:sp>
        <p:nvSpPr>
          <p:cNvPr id="7" name="">
            <a:extLst xmlns:a="http://schemas.openxmlformats.org/drawingml/2006/main">
              <a:ext uri="{FF2B5EF4-FFF2-40B4-BE49-F238E27FC236}">
                <a16:creationId xmlns:a16="http://schemas.microsoft.com/office/drawing/2014/main" id="{2BBF9192-C8F3-4397-98FC-E2D0297FD780}"/>
              </a:ext>
            </a:extLst>
          </p:cNvPr>
          <p:cNvSpPr>
            <a:spLocks xmlns:a="http://schemas.openxmlformats.org/drawingml/2006/main" noGrp="1"/>
          </p:cNvSpPr>
          <p:nvPr/>
        </p:nvSpPr>
        <p:spPr>
          <a:xfrm xmlns:a="http://schemas.openxmlformats.org/drawingml/2006/main">
            <a:off x="685800" y="2457450"/>
            <a:ext cx="4905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xmlns:a="http://schemas.openxmlformats.org/drawingml/2006/main">
            <a:pPr algn="l">
              <a:defRPr sz="2325" b="1">
                <a:solidFill>
                  <a:srgbClr val="202935"/>
                </a:solidFill>
                <a:latin typeface="Arial"/>
                <a:ea typeface="Arial"/>
                <a:cs typeface="Arial"/>
              </a:defRPr>
            </a:pPr>
            <a:r>
              <a:rPr sz="2325" b="1">
                <a:solidFill>
                  <a:srgbClr val="202935"/>
                </a:solidFill>
                <a:latin typeface="Arial"/>
                <a:ea typeface="Arial"/>
                <a:cs typeface="Arial"/>
              </a:rPr>
              <a:t>Zwei kritische PHP-Schwachstellen wurden behoben.</a:t>
            </a:r>
          </a:p>
        </p:txBody>
      </p:sp>
      <p:sp>
        <p:nvSpPr>
          <p:cNvPr id="8" name="">
            <a:extLst xmlns:a="http://schemas.openxmlformats.org/drawingml/2006/main">
              <a:ext uri="{FF2B5EF4-FFF2-40B4-BE49-F238E27FC236}">
                <a16:creationId xmlns:a16="http://schemas.microsoft.com/office/drawing/2014/main" id="{5B566DA4-39FB-4FBA-87A2-43901EE06E9B}"/>
              </a:ext>
            </a:extLst>
          </p:cNvPr>
          <p:cNvSpPr>
            <a:spLocks xmlns:a="http://schemas.openxmlformats.org/drawingml/2006/main" noGrp="1"/>
          </p:cNvSpPr>
          <p:nvPr/>
        </p:nvSpPr>
        <p:spPr>
          <a:xfrm xmlns:a="http://schemas.openxmlformats.org/drawingml/2006/main">
            <a:off x="6076950" y="1562100"/>
            <a:ext cx="0" cy="371475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9" name="">
            <a:extLst xmlns:a="http://schemas.openxmlformats.org/drawingml/2006/main">
              <a:ext uri="{FF2B5EF4-FFF2-40B4-BE49-F238E27FC236}">
                <a16:creationId xmlns:a16="http://schemas.microsoft.com/office/drawing/2014/main" id="{2254A7C5-F7AE-464B-A3B4-ACD2367A2560}"/>
              </a:ext>
            </a:extLst>
          </p:cNvPr>
          <p:cNvSpPr>
            <a:spLocks xmlns:a="http://schemas.openxmlformats.org/drawingml/2006/main" noGrp="1"/>
          </p:cNvSpPr>
          <p:nvPr/>
        </p:nvSpPr>
        <p:spPr>
          <a:xfrm xmlns:a="http://schemas.openxmlformats.org/drawingml/2006/main">
            <a:off x="6477000" y="161925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CVE-2026-109618</a:t>
            </a:r>
          </a:p>
        </p:txBody>
      </p:sp>
      <p:sp>
        <p:nvSpPr>
          <p:cNvPr id="10" name="">
            <a:extLst xmlns:a="http://schemas.openxmlformats.org/drawingml/2006/main">
              <a:ext uri="{FF2B5EF4-FFF2-40B4-BE49-F238E27FC236}">
                <a16:creationId xmlns:a16="http://schemas.microsoft.com/office/drawing/2014/main" id="{A68C6C35-A390-44BD-8C81-3B587BE50A3D}"/>
              </a:ext>
            </a:extLst>
          </p:cNvPr>
          <p:cNvSpPr>
            <a:spLocks xmlns:a="http://schemas.openxmlformats.org/drawingml/2006/main" noGrp="1"/>
          </p:cNvSpPr>
          <p:nvPr/>
        </p:nvSpPr>
        <p:spPr>
          <a:xfrm xmlns:a="http://schemas.openxmlformats.org/drawingml/2006/main">
            <a:off x="6477000" y="23241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CVE-2026-109619</a:t>
            </a:r>
          </a:p>
        </p:txBody>
      </p:sp>
      <p:sp>
        <p:nvSpPr>
          <p:cNvPr id="11" name="">
            <a:extLst xmlns:a="http://schemas.openxmlformats.org/drawingml/2006/main">
              <a:ext uri="{FF2B5EF4-FFF2-40B4-BE49-F238E27FC236}">
                <a16:creationId xmlns:a16="http://schemas.microsoft.com/office/drawing/2014/main" id="{C0875C76-584D-4930-A29C-AD0294B8322B}"/>
              </a:ext>
            </a:extLst>
          </p:cNvPr>
          <p:cNvSpPr>
            <a:spLocks xmlns:a="http://schemas.openxmlformats.org/drawingml/2006/main" noGrp="1"/>
          </p:cNvSpPr>
          <p:nvPr/>
        </p:nvSpPr>
        <p:spPr>
          <a:xfrm xmlns:a="http://schemas.openxmlformats.org/drawingml/2006/main">
            <a:off x="6477000" y="3476625"/>
            <a:ext cx="47434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5D6872"/>
                </a:solidFill>
                <a:latin typeface="Arial"/>
                <a:ea typeface="Arial"/>
                <a:cs typeface="Arial"/>
              </a:defRPr>
            </a:defPPr>
            <a:lvl1pPr algn="l">
              <a:defRPr sz="1875" b="0">
                <a:solidFill>
                  <a:srgbClr val="5D6872"/>
                </a:solidFill>
                <a:latin typeface="Arial"/>
                <a:ea typeface="Arial"/>
                <a:cs typeface="Arial"/>
              </a:defRPr>
            </a:lvl1pPr>
            <a:lvl2pPr algn="l">
              <a:defRPr sz="1875" b="0">
                <a:solidFill>
                  <a:srgbClr val="5D6872"/>
                </a:solidFill>
                <a:latin typeface="Arial"/>
                <a:ea typeface="Arial"/>
                <a:cs typeface="Arial"/>
              </a:defRPr>
            </a:lvl2pPr>
            <a:lvl3pPr algn="l">
              <a:defRPr sz="1875" b="0">
                <a:solidFill>
                  <a:srgbClr val="5D6872"/>
                </a:solidFill>
                <a:latin typeface="Arial"/>
                <a:ea typeface="Arial"/>
                <a:cs typeface="Arial"/>
              </a:defRPr>
            </a:lvl3pPr>
            <a:lvl4pPr algn="l">
              <a:defRPr sz="1875" b="0">
                <a:solidFill>
                  <a:srgbClr val="5D6872"/>
                </a:solidFill>
                <a:latin typeface="Arial"/>
                <a:ea typeface="Arial"/>
                <a:cs typeface="Arial"/>
              </a:defRPr>
            </a:lvl4pPr>
            <a:lvl5pPr algn="l">
              <a:defRPr sz="1875" b="0">
                <a:solidFill>
                  <a:srgbClr val="5D6872"/>
                </a:solidFill>
                <a:latin typeface="Arial"/>
                <a:ea typeface="Arial"/>
                <a:cs typeface="Arial"/>
              </a:defRPr>
            </a:lvl5pPr>
            <a:lvl6pPr algn="l">
              <a:defRPr sz="1875" b="0">
                <a:solidFill>
                  <a:srgbClr val="5D6872"/>
                </a:solidFill>
                <a:latin typeface="Arial"/>
                <a:ea typeface="Arial"/>
                <a:cs typeface="Arial"/>
              </a:defRPr>
            </a:lvl6pPr>
            <a:lvl7pPr algn="l">
              <a:defRPr sz="1875" b="0">
                <a:solidFill>
                  <a:srgbClr val="5D6872"/>
                </a:solidFill>
                <a:latin typeface="Arial"/>
                <a:ea typeface="Arial"/>
                <a:cs typeface="Arial"/>
              </a:defRPr>
            </a:lvl7pPr>
            <a:lvl8pPr algn="l">
              <a:defRPr sz="1875" b="0">
                <a:solidFill>
                  <a:srgbClr val="5D6872"/>
                </a:solidFill>
                <a:latin typeface="Arial"/>
                <a:ea typeface="Arial"/>
                <a:cs typeface="Arial"/>
              </a:defRPr>
            </a:lvl8pPr>
            <a:lvl9pPr algn="l">
              <a:defRPr sz="1875" b="0">
                <a:solidFill>
                  <a:srgbClr val="5D6872"/>
                </a:solidFill>
                <a:latin typeface="Arial"/>
                <a:ea typeface="Arial"/>
                <a:cs typeface="Arial"/>
              </a:defRPr>
            </a:lvl9pPr>
          </a:lstStyle>
          <a:p xmlns:a="http://schemas.openxmlformats.org/drawingml/2006/main">
            <a:pPr algn="l">
              <a:defRPr sz="1875" b="0">
                <a:solidFill>
                  <a:srgbClr val="5D6872"/>
                </a:solidFill>
                <a:latin typeface="Arial"/>
                <a:ea typeface="Arial"/>
                <a:cs typeface="Arial"/>
              </a:defRPr>
            </a:pPr>
            <a:r>
              <a:rPr sz="1875" b="0">
                <a:solidFill>
                  <a:srgbClr val="5D6872"/>
                </a:solidFill>
                <a:latin typeface="Arial"/>
                <a:ea typeface="Arial"/>
                <a:cs typeface="Arial"/>
              </a:rPr>
              <a:t>Die Frage ist nicht nur: „Gibt es einen Patch?“</a:t>
            </a:r>
          </a:p>
          <a:p xmlns:a="http://schemas.openxmlformats.org/drawingml/2006/main">
            <a:pPr algn="l">
              <a:defRPr sz="1875" b="0">
                <a:solidFill>
                  <a:srgbClr val="5D6872"/>
                </a:solidFill>
                <a:latin typeface="Arial"/>
                <a:ea typeface="Arial"/>
                <a:cs typeface="Arial"/>
              </a:defRPr>
            </a:pPr>
            <a:r>
              <a:rPr sz="1875" b="0">
                <a:solidFill>
                  <a:srgbClr val="5D6872"/>
                </a:solidFill>
                <a:latin typeface="Arial"/>
                <a:ea typeface="Arial"/>
                <a:cs typeface="Arial"/>
              </a:rPr>
              <a:t>Sondern auch: „Welche Systeme sind betroffen?“</a:t>
            </a:r>
          </a:p>
        </p:txBody>
      </p:sp>
      <p:sp>
        <p:nvSpPr>
          <p:cNvPr id="12" name="">
            <a:extLst xmlns:a="http://schemas.openxmlformats.org/drawingml/2006/main">
              <a:ext uri="{FF2B5EF4-FFF2-40B4-BE49-F238E27FC236}">
                <a16:creationId xmlns:a16="http://schemas.microsoft.com/office/drawing/2014/main" id="{2B146E99-ACEE-4695-ADA9-31001FC9B6B3}"/>
              </a:ext>
            </a:extLst>
          </p:cNvPr>
          <p:cNvSpPr>
            <a:spLocks xmlns:a="http://schemas.openxmlformats.org/drawingml/2006/main" noGrp="1"/>
          </p:cNvSpPr>
          <p:nvPr/>
        </p:nvSpPr>
        <p:spPr>
          <a:xfrm xmlns:a="http://schemas.openxmlformats.org/drawingml/2006/main">
            <a:off x="685800" y="54483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D6872"/>
                </a:solidFill>
                <a:latin typeface="Arial"/>
                <a:ea typeface="Arial"/>
                <a:cs typeface="Arial"/>
              </a:defRPr>
            </a:defPPr>
            <a:lvl1pPr algn="l">
              <a:defRPr sz="1200" b="0">
                <a:solidFill>
                  <a:srgbClr val="5D6872"/>
                </a:solidFill>
                <a:latin typeface="Arial"/>
                <a:ea typeface="Arial"/>
                <a:cs typeface="Arial"/>
              </a:defRPr>
            </a:lvl1pPr>
            <a:lvl2pPr algn="l">
              <a:defRPr sz="1200" b="0">
                <a:solidFill>
                  <a:srgbClr val="5D6872"/>
                </a:solidFill>
                <a:latin typeface="Arial"/>
                <a:ea typeface="Arial"/>
                <a:cs typeface="Arial"/>
              </a:defRPr>
            </a:lvl2pPr>
            <a:lvl3pPr algn="l">
              <a:defRPr sz="1200" b="0">
                <a:solidFill>
                  <a:srgbClr val="5D6872"/>
                </a:solidFill>
                <a:latin typeface="Arial"/>
                <a:ea typeface="Arial"/>
                <a:cs typeface="Arial"/>
              </a:defRPr>
            </a:lvl3pPr>
            <a:lvl4pPr algn="l">
              <a:defRPr sz="1200" b="0">
                <a:solidFill>
                  <a:srgbClr val="5D6872"/>
                </a:solidFill>
                <a:latin typeface="Arial"/>
                <a:ea typeface="Arial"/>
                <a:cs typeface="Arial"/>
              </a:defRPr>
            </a:lvl4pPr>
            <a:lvl5pPr algn="l">
              <a:defRPr sz="1200" b="0">
                <a:solidFill>
                  <a:srgbClr val="5D6872"/>
                </a:solidFill>
                <a:latin typeface="Arial"/>
                <a:ea typeface="Arial"/>
                <a:cs typeface="Arial"/>
              </a:defRPr>
            </a:lvl5pPr>
            <a:lvl6pPr algn="l">
              <a:defRPr sz="1200" b="0">
                <a:solidFill>
                  <a:srgbClr val="5D6872"/>
                </a:solidFill>
                <a:latin typeface="Arial"/>
                <a:ea typeface="Arial"/>
                <a:cs typeface="Arial"/>
              </a:defRPr>
            </a:lvl6pPr>
            <a:lvl7pPr algn="l">
              <a:defRPr sz="1200" b="0">
                <a:solidFill>
                  <a:srgbClr val="5D6872"/>
                </a:solidFill>
                <a:latin typeface="Arial"/>
                <a:ea typeface="Arial"/>
                <a:cs typeface="Arial"/>
              </a:defRPr>
            </a:lvl7pPr>
            <a:lvl8pPr algn="l">
              <a:defRPr sz="1200" b="0">
                <a:solidFill>
                  <a:srgbClr val="5D6872"/>
                </a:solidFill>
                <a:latin typeface="Arial"/>
                <a:ea typeface="Arial"/>
                <a:cs typeface="Arial"/>
              </a:defRPr>
            </a:lvl8pPr>
            <a:lvl9pPr algn="l">
              <a:defRPr sz="1200" b="0">
                <a:solidFill>
                  <a:srgbClr val="5D6872"/>
                </a:solidFill>
                <a:latin typeface="Arial"/>
                <a:ea typeface="Arial"/>
                <a:cs typeface="Arial"/>
              </a:defRPr>
            </a:lvl9pPr>
          </a:lstStyle>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Quelle: PHP Security Advisory, php.net · 21.10.2026</a:t>
            </a:r>
          </a:p>
        </p:txBody>
      </p:sp>
    </p:spTree>
    <p:extLst>
      <p:ext uri="{BB962C8B-B14F-4D97-AF65-F5344CB8AC3E}">
        <p14:creationId xmlns:p14="http://schemas.microsoft.com/office/powerpoint/2010/main" val="1868770149"/>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740BA5-2FB9-4BC3-9743-07FB7FF0DE26}"/>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FFDB4D-E180-46A3-A08E-366EFD79D9DA}"/>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Warum heute Spring?</a:t>
            </a:r>
          </a:p>
        </p:txBody>
      </p:sp>
      <p:sp>
        <p:nvSpPr>
          <p:cNvPr id="3" name="">
            <a:extLst xmlns:a="http://schemas.openxmlformats.org/drawingml/2006/main">
              <a:ext uri="{FF2B5EF4-FFF2-40B4-BE49-F238E27FC236}">
                <a16:creationId xmlns:a16="http://schemas.microsoft.com/office/drawing/2014/main" id="{CB247AE1-1A14-4DA8-846A-34C9D23A143D}"/>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171BFF5C-0955-411F-9641-098D5F1412CA}"/>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423D6D85-AF01-45B2-B2DE-3BEA961BD210}"/>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5EFCA068-4DCB-4C66-83F8-4DDE92F47FB8}"/>
              </a:ext>
            </a:extLst>
          </p:cNvPr>
          <p:cNvSpPr>
            <a:spLocks xmlns:a="http://schemas.openxmlformats.org/drawingml/2006/main" noGrp="1"/>
          </p:cNvSpPr>
          <p:nvPr/>
        </p:nvSpPr>
        <p:spPr>
          <a:xfrm xmlns:a="http://schemas.openxmlformats.org/drawingml/2006/main">
            <a:off x="704850" y="1666875"/>
            <a:ext cx="9525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202935"/>
                </a:solidFill>
                <a:latin typeface="Arial"/>
                <a:ea typeface="Arial"/>
                <a:cs typeface="Arial"/>
              </a:defRPr>
            </a:defPPr>
            <a:lvl1pPr algn="l">
              <a:defRPr sz="2925" b="1">
                <a:solidFill>
                  <a:srgbClr val="202935"/>
                </a:solidFill>
                <a:latin typeface="Arial"/>
                <a:ea typeface="Arial"/>
                <a:cs typeface="Arial"/>
              </a:defRPr>
            </a:lvl1pPr>
            <a:lvl2pPr algn="l">
              <a:defRPr sz="2925" b="1">
                <a:solidFill>
                  <a:srgbClr val="202935"/>
                </a:solidFill>
                <a:latin typeface="Arial"/>
                <a:ea typeface="Arial"/>
                <a:cs typeface="Arial"/>
              </a:defRPr>
            </a:lvl2pPr>
            <a:lvl3pPr algn="l">
              <a:defRPr sz="2925" b="1">
                <a:solidFill>
                  <a:srgbClr val="202935"/>
                </a:solidFill>
                <a:latin typeface="Arial"/>
                <a:ea typeface="Arial"/>
                <a:cs typeface="Arial"/>
              </a:defRPr>
            </a:lvl3pPr>
            <a:lvl4pPr algn="l">
              <a:defRPr sz="2925" b="1">
                <a:solidFill>
                  <a:srgbClr val="202935"/>
                </a:solidFill>
                <a:latin typeface="Arial"/>
                <a:ea typeface="Arial"/>
                <a:cs typeface="Arial"/>
              </a:defRPr>
            </a:lvl4pPr>
            <a:lvl5pPr algn="l">
              <a:defRPr sz="2925" b="1">
                <a:solidFill>
                  <a:srgbClr val="202935"/>
                </a:solidFill>
                <a:latin typeface="Arial"/>
                <a:ea typeface="Arial"/>
                <a:cs typeface="Arial"/>
              </a:defRPr>
            </a:lvl5pPr>
            <a:lvl6pPr algn="l">
              <a:defRPr sz="2925" b="1">
                <a:solidFill>
                  <a:srgbClr val="202935"/>
                </a:solidFill>
                <a:latin typeface="Arial"/>
                <a:ea typeface="Arial"/>
                <a:cs typeface="Arial"/>
              </a:defRPr>
            </a:lvl6pPr>
            <a:lvl7pPr algn="l">
              <a:defRPr sz="2925" b="1">
                <a:solidFill>
                  <a:srgbClr val="202935"/>
                </a:solidFill>
                <a:latin typeface="Arial"/>
                <a:ea typeface="Arial"/>
                <a:cs typeface="Arial"/>
              </a:defRPr>
            </a:lvl7pPr>
            <a:lvl8pPr algn="l">
              <a:defRPr sz="2925" b="1">
                <a:solidFill>
                  <a:srgbClr val="202935"/>
                </a:solidFill>
                <a:latin typeface="Arial"/>
                <a:ea typeface="Arial"/>
                <a:cs typeface="Arial"/>
              </a:defRPr>
            </a:lvl8pPr>
            <a:lvl9pPr algn="l">
              <a:defRPr sz="2925" b="1">
                <a:solidFill>
                  <a:srgbClr val="202935"/>
                </a:solidFill>
                <a:latin typeface="Arial"/>
                <a:ea typeface="Arial"/>
                <a:cs typeface="Arial"/>
              </a:defRPr>
            </a:lvl9pPr>
          </a:lstStyle>
          <a:p xmlns:a="http://schemas.openxmlformats.org/drawingml/2006/main">
            <a:pPr algn="l">
              <a:defRPr sz="2925" b="1">
                <a:solidFill>
                  <a:srgbClr val="202935"/>
                </a:solidFill>
                <a:latin typeface="Arial"/>
                <a:ea typeface="Arial"/>
                <a:cs typeface="Arial"/>
              </a:defRPr>
            </a:pPr>
            <a:r>
              <a:rPr sz="2925" b="1">
                <a:solidFill>
                  <a:srgbClr val="202935"/>
                </a:solidFill>
                <a:latin typeface="Arial"/>
                <a:ea typeface="Arial"/>
                <a:cs typeface="Arial"/>
              </a:rPr>
              <a:t>Viele unserer Projekte nutzen Java und Spring.</a:t>
            </a:r>
          </a:p>
        </p:txBody>
      </p:sp>
      <p:sp>
        <p:nvSpPr>
          <p:cNvPr id="7" name="">
            <a:extLst xmlns:a="http://schemas.openxmlformats.org/drawingml/2006/main">
              <a:ext uri="{FF2B5EF4-FFF2-40B4-BE49-F238E27FC236}">
                <a16:creationId xmlns:a16="http://schemas.microsoft.com/office/drawing/2014/main" id="{F630D065-DCFF-4103-A9DD-E82EF82E3361}"/>
              </a:ext>
            </a:extLst>
          </p:cNvPr>
          <p:cNvSpPr>
            <a:spLocks xmlns:a="http://schemas.openxmlformats.org/drawingml/2006/main" noGrp="1"/>
          </p:cNvSpPr>
          <p:nvPr/>
        </p:nvSpPr>
        <p:spPr>
          <a:xfrm xmlns:a="http://schemas.openxmlformats.org/drawingml/2006/main">
            <a:off x="704850" y="2876550"/>
            <a:ext cx="85725" cy="18097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DBF416-6FA9-4B5A-BD7E-BECF63C259BD}"/>
              </a:ext>
            </a:extLst>
          </p:cNvPr>
          <p:cNvSpPr>
            <a:spLocks xmlns:a="http://schemas.openxmlformats.org/drawingml/2006/main" noGrp="1"/>
          </p:cNvSpPr>
          <p:nvPr/>
        </p:nvSpPr>
        <p:spPr>
          <a:xfrm xmlns:a="http://schemas.openxmlformats.org/drawingml/2006/main">
            <a:off x="1028700" y="2914650"/>
            <a:ext cx="9334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Deshalb zeige ich ein Spring Demo-System:</a:t>
            </a:r>
          </a:p>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Welche Komponenten sind erreichbar?</a:t>
            </a:r>
          </a:p>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Wie wirken mehrere Schwächen zusammen?</a:t>
            </a:r>
          </a:p>
        </p:txBody>
      </p:sp>
    </p:spTree>
    <p:extLst>
      <p:ext uri="{BB962C8B-B14F-4D97-AF65-F5344CB8AC3E}">
        <p14:creationId xmlns:p14="http://schemas.microsoft.com/office/powerpoint/2010/main" val="1509635973"/>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6639A12-4E89-45A5-91B3-95571104A368}"/>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8120BF-B805-4B00-A391-773020ABD6B1}"/>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Agenda</a:t>
            </a:r>
          </a:p>
        </p:txBody>
      </p:sp>
      <p:sp>
        <p:nvSpPr>
          <p:cNvPr id="3" name="">
            <a:extLst xmlns:a="http://schemas.openxmlformats.org/drawingml/2006/main">
              <a:ext uri="{FF2B5EF4-FFF2-40B4-BE49-F238E27FC236}">
                <a16:creationId xmlns:a16="http://schemas.microsoft.com/office/drawing/2014/main" id="{6F39C1DF-F6DC-4AF3-973C-1773385C37C2}"/>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473105CF-5BB0-4EA6-B2EC-123D36CB8EDA}"/>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5C46D9E0-34A9-4F59-BFF9-527AD10E1D5A}"/>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53DD20E5-0FED-4B51-B97F-9DD1189C0FF3}"/>
              </a:ext>
            </a:extLst>
          </p:cNvPr>
          <p:cNvSpPr>
            <a:spLocks xmlns:a="http://schemas.openxmlformats.org/drawingml/2006/main" noGrp="1"/>
          </p:cNvSpPr>
          <p:nvPr/>
        </p:nvSpPr>
        <p:spPr>
          <a:xfrm xmlns:a="http://schemas.openxmlformats.org/drawingml/2006/main">
            <a:off x="704850" y="1524000"/>
            <a:ext cx="104775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7" name="">
            <a:extLst xmlns:a="http://schemas.openxmlformats.org/drawingml/2006/main">
              <a:ext uri="{FF2B5EF4-FFF2-40B4-BE49-F238E27FC236}">
                <a16:creationId xmlns:a16="http://schemas.microsoft.com/office/drawing/2014/main" id="{805B16E8-9478-4CB9-A8E2-26734B392F8F}"/>
              </a:ext>
            </a:extLst>
          </p:cNvPr>
          <p:cNvSpPr>
            <a:spLocks xmlns:a="http://schemas.openxmlformats.org/drawingml/2006/main" noGrp="1"/>
          </p:cNvSpPr>
          <p:nvPr/>
        </p:nvSpPr>
        <p:spPr>
          <a:xfrm xmlns:a="http://schemas.openxmlformats.org/drawingml/2006/main">
            <a:off x="800100" y="165735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xmlns:a="http://schemas.openxmlformats.org/drawingml/2006/main">
            <a:pPr algn="l">
              <a:defRPr sz="2400" b="0">
                <a:solidFill>
                  <a:srgbClr val="202935"/>
                </a:solidFill>
                <a:latin typeface="Arial"/>
                <a:ea typeface="Arial"/>
                <a:cs typeface="Arial"/>
              </a:defRPr>
            </a:pPr>
            <a:r>
              <a:rPr sz="2400" b="0">
                <a:solidFill>
                  <a:srgbClr val="202935"/>
                </a:solidFill>
                <a:latin typeface="Arial"/>
                <a:ea typeface="Arial"/>
                <a:cs typeface="Arial"/>
              </a:rPr>
              <a:t>01  Szenario und Projektidee</a:t>
            </a:r>
          </a:p>
        </p:txBody>
      </p:sp>
      <p:sp>
        <p:nvSpPr>
          <p:cNvPr id="8" name="">
            <a:extLst xmlns:a="http://schemas.openxmlformats.org/drawingml/2006/main">
              <a:ext uri="{FF2B5EF4-FFF2-40B4-BE49-F238E27FC236}">
                <a16:creationId xmlns:a16="http://schemas.microsoft.com/office/drawing/2014/main" id="{E011F441-7554-4C7B-BC10-EE86BD3FD789}"/>
              </a:ext>
            </a:extLst>
          </p:cNvPr>
          <p:cNvSpPr>
            <a:spLocks xmlns:a="http://schemas.openxmlformats.org/drawingml/2006/main" noGrp="1"/>
          </p:cNvSpPr>
          <p:nvPr/>
        </p:nvSpPr>
        <p:spPr>
          <a:xfrm xmlns:a="http://schemas.openxmlformats.org/drawingml/2006/main">
            <a:off x="704850" y="2514600"/>
            <a:ext cx="104775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D287A572-0EDE-4FBB-B219-9434D194BCA4}"/>
              </a:ext>
            </a:extLst>
          </p:cNvPr>
          <p:cNvSpPr>
            <a:spLocks xmlns:a="http://schemas.openxmlformats.org/drawingml/2006/main" noGrp="1"/>
          </p:cNvSpPr>
          <p:nvPr/>
        </p:nvSpPr>
        <p:spPr>
          <a:xfrm xmlns:a="http://schemas.openxmlformats.org/drawingml/2006/main">
            <a:off x="800100" y="264795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xmlns:a="http://schemas.openxmlformats.org/drawingml/2006/main">
            <a:pPr algn="l">
              <a:defRPr sz="2400" b="0">
                <a:solidFill>
                  <a:srgbClr val="202935"/>
                </a:solidFill>
                <a:latin typeface="Arial"/>
                <a:ea typeface="Arial"/>
                <a:cs typeface="Arial"/>
              </a:defRPr>
            </a:pPr>
            <a:r>
              <a:rPr sz="2400" b="0">
                <a:solidFill>
                  <a:srgbClr val="202935"/>
                </a:solidFill>
                <a:latin typeface="Arial"/>
                <a:ea typeface="Arial"/>
                <a:cs typeface="Arial"/>
              </a:rPr>
              <a:t>02  Aufbau und normaler Ablauf</a:t>
            </a:r>
          </a:p>
        </p:txBody>
      </p:sp>
      <p:sp>
        <p:nvSpPr>
          <p:cNvPr id="10" name="">
            <a:extLst xmlns:a="http://schemas.openxmlformats.org/drawingml/2006/main">
              <a:ext uri="{FF2B5EF4-FFF2-40B4-BE49-F238E27FC236}">
                <a16:creationId xmlns:a16="http://schemas.microsoft.com/office/drawing/2014/main" id="{ABB0A449-BCCC-486F-9B94-3C92DA1BF5FC}"/>
              </a:ext>
            </a:extLst>
          </p:cNvPr>
          <p:cNvSpPr>
            <a:spLocks xmlns:a="http://schemas.openxmlformats.org/drawingml/2006/main" noGrp="1"/>
          </p:cNvSpPr>
          <p:nvPr/>
        </p:nvSpPr>
        <p:spPr>
          <a:xfrm xmlns:a="http://schemas.openxmlformats.org/drawingml/2006/main">
            <a:off x="704850" y="3505200"/>
            <a:ext cx="104775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A0F31C79-1310-4617-97E4-2BF07C5F29D6}"/>
              </a:ext>
            </a:extLst>
          </p:cNvPr>
          <p:cNvSpPr>
            <a:spLocks xmlns:a="http://schemas.openxmlformats.org/drawingml/2006/main" noGrp="1"/>
          </p:cNvSpPr>
          <p:nvPr/>
        </p:nvSpPr>
        <p:spPr>
          <a:xfrm xmlns:a="http://schemas.openxmlformats.org/drawingml/2006/main">
            <a:off x="800100" y="363855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C55A2B"/>
                </a:solidFill>
                <a:latin typeface="Arial"/>
                <a:ea typeface="Arial"/>
                <a:cs typeface="Arial"/>
              </a:defRPr>
            </a:defPPr>
            <a:lvl1pPr algn="l">
              <a:defRPr sz="2400" b="1">
                <a:solidFill>
                  <a:srgbClr val="C55A2B"/>
                </a:solidFill>
                <a:latin typeface="Arial"/>
                <a:ea typeface="Arial"/>
                <a:cs typeface="Arial"/>
              </a:defRPr>
            </a:lvl1pPr>
            <a:lvl2pPr algn="l">
              <a:defRPr sz="2400" b="1">
                <a:solidFill>
                  <a:srgbClr val="C55A2B"/>
                </a:solidFill>
                <a:latin typeface="Arial"/>
                <a:ea typeface="Arial"/>
                <a:cs typeface="Arial"/>
              </a:defRPr>
            </a:lvl2pPr>
            <a:lvl3pPr algn="l">
              <a:defRPr sz="2400" b="1">
                <a:solidFill>
                  <a:srgbClr val="C55A2B"/>
                </a:solidFill>
                <a:latin typeface="Arial"/>
                <a:ea typeface="Arial"/>
                <a:cs typeface="Arial"/>
              </a:defRPr>
            </a:lvl3pPr>
            <a:lvl4pPr algn="l">
              <a:defRPr sz="2400" b="1">
                <a:solidFill>
                  <a:srgbClr val="C55A2B"/>
                </a:solidFill>
                <a:latin typeface="Arial"/>
                <a:ea typeface="Arial"/>
                <a:cs typeface="Arial"/>
              </a:defRPr>
            </a:lvl4pPr>
            <a:lvl5pPr algn="l">
              <a:defRPr sz="2400" b="1">
                <a:solidFill>
                  <a:srgbClr val="C55A2B"/>
                </a:solidFill>
                <a:latin typeface="Arial"/>
                <a:ea typeface="Arial"/>
                <a:cs typeface="Arial"/>
              </a:defRPr>
            </a:lvl5pPr>
            <a:lvl6pPr algn="l">
              <a:defRPr sz="2400" b="1">
                <a:solidFill>
                  <a:srgbClr val="C55A2B"/>
                </a:solidFill>
                <a:latin typeface="Arial"/>
                <a:ea typeface="Arial"/>
                <a:cs typeface="Arial"/>
              </a:defRPr>
            </a:lvl6pPr>
            <a:lvl7pPr algn="l">
              <a:defRPr sz="2400" b="1">
                <a:solidFill>
                  <a:srgbClr val="C55A2B"/>
                </a:solidFill>
                <a:latin typeface="Arial"/>
                <a:ea typeface="Arial"/>
                <a:cs typeface="Arial"/>
              </a:defRPr>
            </a:lvl7pPr>
            <a:lvl8pPr algn="l">
              <a:defRPr sz="2400" b="1">
                <a:solidFill>
                  <a:srgbClr val="C55A2B"/>
                </a:solidFill>
                <a:latin typeface="Arial"/>
                <a:ea typeface="Arial"/>
                <a:cs typeface="Arial"/>
              </a:defRPr>
            </a:lvl8pPr>
            <a:lvl9pPr algn="l">
              <a:defRPr sz="2400" b="1">
                <a:solidFill>
                  <a:srgbClr val="C55A2B"/>
                </a:solidFill>
                <a:latin typeface="Arial"/>
                <a:ea typeface="Arial"/>
                <a:cs typeface="Arial"/>
              </a:defRPr>
            </a:lvl9pPr>
          </a:lstStyle>
          <a:p xmlns:a="http://schemas.openxmlformats.org/drawingml/2006/main">
            <a:pPr algn="l">
              <a:defRPr sz="2400" b="1">
                <a:solidFill>
                  <a:srgbClr val="C55A2B"/>
                </a:solidFill>
                <a:latin typeface="Arial"/>
                <a:ea typeface="Arial"/>
                <a:cs typeface="Arial"/>
              </a:defRPr>
            </a:pPr>
            <a:r>
              <a:rPr sz="2400" b="1">
                <a:solidFill>
                  <a:srgbClr val="C55A2B"/>
                </a:solidFill>
                <a:latin typeface="Arial"/>
                <a:ea typeface="Arial"/>
                <a:cs typeface="Arial"/>
              </a:rPr>
              <a:t>03  Vier Experimente mit Live Demos</a:t>
            </a:r>
          </a:p>
        </p:txBody>
      </p:sp>
      <p:sp>
        <p:nvSpPr>
          <p:cNvPr id="12" name="">
            <a:extLst xmlns:a="http://schemas.openxmlformats.org/drawingml/2006/main">
              <a:ext uri="{FF2B5EF4-FFF2-40B4-BE49-F238E27FC236}">
                <a16:creationId xmlns:a16="http://schemas.microsoft.com/office/drawing/2014/main" id="{CE5B26D1-1756-41BD-91A6-F99BCAC5C30F}"/>
              </a:ext>
            </a:extLst>
          </p:cNvPr>
          <p:cNvSpPr>
            <a:spLocks xmlns:a="http://schemas.openxmlformats.org/drawingml/2006/main" noGrp="1"/>
          </p:cNvSpPr>
          <p:nvPr/>
        </p:nvSpPr>
        <p:spPr>
          <a:xfrm xmlns:a="http://schemas.openxmlformats.org/drawingml/2006/main">
            <a:off x="704850" y="4495800"/>
            <a:ext cx="104775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3" name="">
            <a:extLst xmlns:a="http://schemas.openxmlformats.org/drawingml/2006/main">
              <a:ext uri="{FF2B5EF4-FFF2-40B4-BE49-F238E27FC236}">
                <a16:creationId xmlns:a16="http://schemas.microsoft.com/office/drawing/2014/main" id="{D370B72B-E5BD-4A36-A691-DFB7DA529FB6}"/>
              </a:ext>
            </a:extLst>
          </p:cNvPr>
          <p:cNvSpPr>
            <a:spLocks xmlns:a="http://schemas.openxmlformats.org/drawingml/2006/main" noGrp="1"/>
          </p:cNvSpPr>
          <p:nvPr/>
        </p:nvSpPr>
        <p:spPr>
          <a:xfrm xmlns:a="http://schemas.openxmlformats.org/drawingml/2006/main">
            <a:off x="800100" y="462915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xmlns:a="http://schemas.openxmlformats.org/drawingml/2006/main">
            <a:pPr algn="l">
              <a:defRPr sz="2400" b="0">
                <a:solidFill>
                  <a:srgbClr val="202935"/>
                </a:solidFill>
                <a:latin typeface="Arial"/>
                <a:ea typeface="Arial"/>
                <a:cs typeface="Arial"/>
              </a:defRPr>
            </a:pPr>
            <a:r>
              <a:rPr sz="2400" b="0">
                <a:solidFill>
                  <a:srgbClr val="202935"/>
                </a:solidFill>
                <a:latin typeface="Arial"/>
                <a:ea typeface="Arial"/>
                <a:cs typeface="Arial"/>
              </a:rPr>
              <a:t>04  Ergebnisse und Takeaways</a:t>
            </a:r>
          </a:p>
        </p:txBody>
      </p:sp>
    </p:spTree>
    <p:extLst>
      <p:ext uri="{BB962C8B-B14F-4D97-AF65-F5344CB8AC3E}">
        <p14:creationId xmlns:p14="http://schemas.microsoft.com/office/powerpoint/2010/main" val="720565048"/>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F5BB70E-2BB4-4134-BF77-2F12A2F386EA}"/>
              </a:ext>
            </a:extLst>
          </p:cNvPr>
          <p:cNvCxnSpPr>
            <a:stCxn xmlns:a="http://schemas.openxmlformats.org/drawingml/2006/main" id="11" idx="3"/>
            <a:endCxn xmlns:a="http://schemas.openxmlformats.org/drawingml/2006/main" id="14" idx="1"/>
          </p:cNvCxnSpPr>
          <p:nvPr/>
        </p:nvCxnSpPr>
        <p:spPr>
          <a:xfrm xmlns:a="http://schemas.openxmlformats.org/drawingml/2006/main">
            <a:off x="7610475" y="4367213"/>
            <a:ext cx="73342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41EC5A10-4B73-4FEC-8BCF-45C6EF857FFB}"/>
              </a:ext>
            </a:extLst>
          </p:cNvPr>
          <p:cNvCxnSpPr>
            <a:stCxn xmlns:a="http://schemas.openxmlformats.org/drawingml/2006/main" id="8" idx="3"/>
            <a:endCxn xmlns:a="http://schemas.openxmlformats.org/drawingml/2006/main" id="11" idx="1"/>
          </p:cNvCxnSpPr>
          <p:nvPr/>
        </p:nvCxnSpPr>
        <p:spPr>
          <a:xfrm xmlns:a="http://schemas.openxmlformats.org/drawingml/2006/main">
            <a:off x="3876675" y="4367213"/>
            <a:ext cx="73342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sp>
        <p:nvSpPr>
          <p:cNvPr id="19" name="">
            <a:extLst xmlns:a="http://schemas.openxmlformats.org/drawingml/2006/main">
              <a:ext uri="{FF2B5EF4-FFF2-40B4-BE49-F238E27FC236}">
                <a16:creationId xmlns:a16="http://schemas.microsoft.com/office/drawing/2014/main" id="{0C453627-17C4-4639-A6AB-592D361DEF42}"/>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CEE152-D2A6-4057-92B7-C1FB1CCB2418}"/>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Die Geschichte in einer Minute</a:t>
            </a:r>
          </a:p>
        </p:txBody>
      </p:sp>
      <p:sp>
        <p:nvSpPr>
          <p:cNvPr id="3" name="">
            <a:extLst xmlns:a="http://schemas.openxmlformats.org/drawingml/2006/main">
              <a:ext uri="{FF2B5EF4-FFF2-40B4-BE49-F238E27FC236}">
                <a16:creationId xmlns:a16="http://schemas.microsoft.com/office/drawing/2014/main" id="{208DBCF6-C428-447A-99F1-95D419773F04}"/>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6FE4BBB3-3DAB-4BC5-BA83-17A1B9170BAD}"/>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91002AA0-CA85-4A53-8B15-4CB6FCDBDE59}"/>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193B1766-0480-4C53-AB6D-BF635A3A5BE4}"/>
              </a:ext>
            </a:extLst>
          </p:cNvPr>
          <p:cNvSpPr>
            <a:spLocks xmlns:a="http://schemas.openxmlformats.org/drawingml/2006/main" noGrp="1"/>
          </p:cNvSpPr>
          <p:nvPr/>
        </p:nvSpPr>
        <p:spPr>
          <a:xfrm xmlns:a="http://schemas.openxmlformats.org/drawingml/2006/main">
            <a:off x="733425" y="14763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FIKTIVES SZENARIO</a:t>
            </a:r>
          </a:p>
        </p:txBody>
      </p:sp>
      <p:sp>
        <p:nvSpPr>
          <p:cNvPr id="7" name="">
            <a:extLst xmlns:a="http://schemas.openxmlformats.org/drawingml/2006/main">
              <a:ext uri="{FF2B5EF4-FFF2-40B4-BE49-F238E27FC236}">
                <a16:creationId xmlns:a16="http://schemas.microsoft.com/office/drawing/2014/main" id="{707FFFF1-6711-4435-9C4F-C5FDFB47656D}"/>
              </a:ext>
            </a:extLst>
          </p:cNvPr>
          <p:cNvSpPr>
            <a:spLocks xmlns:a="http://schemas.openxmlformats.org/drawingml/2006/main" noGrp="1"/>
          </p:cNvSpPr>
          <p:nvPr/>
        </p:nvSpPr>
        <p:spPr>
          <a:xfrm xmlns:a="http://schemas.openxmlformats.org/drawingml/2006/main">
            <a:off x="733425" y="1933575"/>
            <a:ext cx="100012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2935"/>
                </a:solidFill>
                <a:latin typeface="Arial"/>
                <a:ea typeface="Arial"/>
                <a:cs typeface="Arial"/>
              </a:defRPr>
            </a:defPPr>
            <a:lvl1pPr algn="l">
              <a:defRPr sz="2550" b="1">
                <a:solidFill>
                  <a:srgbClr val="202935"/>
                </a:solidFill>
                <a:latin typeface="Arial"/>
                <a:ea typeface="Arial"/>
                <a:cs typeface="Arial"/>
              </a:defRPr>
            </a:lvl1pPr>
            <a:lvl2pPr algn="l">
              <a:defRPr sz="2550" b="1">
                <a:solidFill>
                  <a:srgbClr val="202935"/>
                </a:solidFill>
                <a:latin typeface="Arial"/>
                <a:ea typeface="Arial"/>
                <a:cs typeface="Arial"/>
              </a:defRPr>
            </a:lvl2pPr>
            <a:lvl3pPr algn="l">
              <a:defRPr sz="2550" b="1">
                <a:solidFill>
                  <a:srgbClr val="202935"/>
                </a:solidFill>
                <a:latin typeface="Arial"/>
                <a:ea typeface="Arial"/>
                <a:cs typeface="Arial"/>
              </a:defRPr>
            </a:lvl3pPr>
            <a:lvl4pPr algn="l">
              <a:defRPr sz="2550" b="1">
                <a:solidFill>
                  <a:srgbClr val="202935"/>
                </a:solidFill>
                <a:latin typeface="Arial"/>
                <a:ea typeface="Arial"/>
                <a:cs typeface="Arial"/>
              </a:defRPr>
            </a:lvl4pPr>
            <a:lvl5pPr algn="l">
              <a:defRPr sz="2550" b="1">
                <a:solidFill>
                  <a:srgbClr val="202935"/>
                </a:solidFill>
                <a:latin typeface="Arial"/>
                <a:ea typeface="Arial"/>
                <a:cs typeface="Arial"/>
              </a:defRPr>
            </a:lvl5pPr>
            <a:lvl6pPr algn="l">
              <a:defRPr sz="2550" b="1">
                <a:solidFill>
                  <a:srgbClr val="202935"/>
                </a:solidFill>
                <a:latin typeface="Arial"/>
                <a:ea typeface="Arial"/>
                <a:cs typeface="Arial"/>
              </a:defRPr>
            </a:lvl6pPr>
            <a:lvl7pPr algn="l">
              <a:defRPr sz="2550" b="1">
                <a:solidFill>
                  <a:srgbClr val="202935"/>
                </a:solidFill>
                <a:latin typeface="Arial"/>
                <a:ea typeface="Arial"/>
                <a:cs typeface="Arial"/>
              </a:defRPr>
            </a:lvl7pPr>
            <a:lvl8pPr algn="l">
              <a:defRPr sz="2550" b="1">
                <a:solidFill>
                  <a:srgbClr val="202935"/>
                </a:solidFill>
                <a:latin typeface="Arial"/>
                <a:ea typeface="Arial"/>
                <a:cs typeface="Arial"/>
              </a:defRPr>
            </a:lvl8pPr>
            <a:lvl9pPr algn="l">
              <a:defRPr sz="2550" b="1">
                <a:solidFill>
                  <a:srgbClr val="202935"/>
                </a:solidFill>
                <a:latin typeface="Arial"/>
                <a:ea typeface="Arial"/>
                <a:cs typeface="Arial"/>
              </a:defRPr>
            </a:lvl9pPr>
          </a:lstStyle>
          <a:p xmlns:a="http://schemas.openxmlformats.org/drawingml/2006/main">
            <a:pPr algn="l">
              <a:defRPr sz="2550" b="1">
                <a:solidFill>
                  <a:srgbClr val="202935"/>
                </a:solidFill>
                <a:latin typeface="Arial"/>
                <a:ea typeface="Arial"/>
                <a:cs typeface="Arial"/>
              </a:defRPr>
            </a:pPr>
            <a:r>
              <a:rPr sz="2550" b="1">
                <a:solidFill>
                  <a:srgbClr val="202935"/>
                </a:solidFill>
                <a:latin typeface="Arial"/>
                <a:ea typeface="Arial"/>
                <a:cs typeface="Arial"/>
              </a:rPr>
              <a:t>Ein AI Assistant veröffentlicht versehentlich eine Konfiguration für das MATO-Archiv.</a:t>
            </a:r>
          </a:p>
        </p:txBody>
      </p:sp>
      <p:sp>
        <p:nvSpPr>
          <p:cNvPr id="8" name="">
            <a:extLst xmlns:a="http://schemas.openxmlformats.org/drawingml/2006/main">
              <a:ext uri="{FF2B5EF4-FFF2-40B4-BE49-F238E27FC236}">
                <a16:creationId xmlns:a16="http://schemas.microsoft.com/office/drawing/2014/main" id="{32AA398A-DD58-40FF-AD35-EF15F355BE6C}"/>
              </a:ext>
            </a:extLst>
          </p:cNvPr>
          <p:cNvSpPr>
            <a:spLocks xmlns:a="http://schemas.openxmlformats.org/drawingml/2006/main" noGrp="1"/>
          </p:cNvSpPr>
          <p:nvPr/>
        </p:nvSpPr>
        <p:spPr>
          <a:xfrm xmlns:a="http://schemas.openxmlformats.org/drawingml/2006/main">
            <a:off x="876300" y="3724275"/>
            <a:ext cx="3000375" cy="12858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E7DED7E4-02C8-4B33-9A4A-5907A7B0B40F}"/>
              </a:ext>
            </a:extLst>
          </p:cNvPr>
          <p:cNvSpPr>
            <a:spLocks xmlns:a="http://schemas.openxmlformats.org/drawingml/2006/main" noGrp="1"/>
          </p:cNvSpPr>
          <p:nvPr/>
        </p:nvSpPr>
        <p:spPr>
          <a:xfrm xmlns:a="http://schemas.openxmlformats.org/drawingml/2006/main">
            <a:off x="1028700" y="38385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Öffentliches Repo</a:t>
            </a:r>
          </a:p>
        </p:txBody>
      </p:sp>
      <p:sp>
        <p:nvSpPr>
          <p:cNvPr id="10" name="">
            <a:extLst xmlns:a="http://schemas.openxmlformats.org/drawingml/2006/main">
              <a:ext uri="{FF2B5EF4-FFF2-40B4-BE49-F238E27FC236}">
                <a16:creationId xmlns:a16="http://schemas.microsoft.com/office/drawing/2014/main" id="{8C7E3B2C-12A9-4763-839F-57BD370B2C94}"/>
              </a:ext>
            </a:extLst>
          </p:cNvPr>
          <p:cNvSpPr>
            <a:spLocks xmlns:a="http://schemas.openxmlformats.org/drawingml/2006/main" noGrp="1"/>
          </p:cNvSpPr>
          <p:nvPr/>
        </p:nvSpPr>
        <p:spPr>
          <a:xfrm xmlns:a="http://schemas.openxmlformats.org/drawingml/2006/main">
            <a:off x="1028700" y="4191000"/>
            <a:ext cx="26955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enthält .mcp.json</a:t>
            </a:r>
          </a:p>
        </p:txBody>
      </p:sp>
      <p:sp>
        <p:nvSpPr>
          <p:cNvPr id="11" name="">
            <a:extLst xmlns:a="http://schemas.openxmlformats.org/drawingml/2006/main">
              <a:ext uri="{FF2B5EF4-FFF2-40B4-BE49-F238E27FC236}">
                <a16:creationId xmlns:a16="http://schemas.microsoft.com/office/drawing/2014/main" id="{C64DC20D-9575-4750-88A8-9A201E5B35DF}"/>
              </a:ext>
            </a:extLst>
          </p:cNvPr>
          <p:cNvSpPr>
            <a:spLocks xmlns:a="http://schemas.openxmlformats.org/drawingml/2006/main" noGrp="1"/>
          </p:cNvSpPr>
          <p:nvPr/>
        </p:nvSpPr>
        <p:spPr>
          <a:xfrm xmlns:a="http://schemas.openxmlformats.org/drawingml/2006/main">
            <a:off x="4610100" y="3724275"/>
            <a:ext cx="3000375" cy="128587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12" name="">
            <a:extLst xmlns:a="http://schemas.openxmlformats.org/drawingml/2006/main">
              <a:ext uri="{FF2B5EF4-FFF2-40B4-BE49-F238E27FC236}">
                <a16:creationId xmlns:a16="http://schemas.microsoft.com/office/drawing/2014/main" id="{4B462B9B-D979-43DB-A400-ED760BA30209}"/>
              </a:ext>
            </a:extLst>
          </p:cNvPr>
          <p:cNvSpPr>
            <a:spLocks xmlns:a="http://schemas.openxmlformats.org/drawingml/2006/main" noGrp="1"/>
          </p:cNvSpPr>
          <p:nvPr/>
        </p:nvSpPr>
        <p:spPr>
          <a:xfrm xmlns:a="http://schemas.openxmlformats.org/drawingml/2006/main">
            <a:off x="4762500" y="38385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Gateway URL</a:t>
            </a:r>
          </a:p>
        </p:txBody>
      </p:sp>
      <p:sp>
        <p:nvSpPr>
          <p:cNvPr id="13" name="">
            <a:extLst xmlns:a="http://schemas.openxmlformats.org/drawingml/2006/main">
              <a:ext uri="{FF2B5EF4-FFF2-40B4-BE49-F238E27FC236}">
                <a16:creationId xmlns:a16="http://schemas.microsoft.com/office/drawing/2014/main" id="{A871DBE9-E2E8-41AD-9750-BAA982804BEA}"/>
              </a:ext>
            </a:extLst>
          </p:cNvPr>
          <p:cNvSpPr>
            <a:spLocks xmlns:a="http://schemas.openxmlformats.org/drawingml/2006/main" noGrp="1"/>
          </p:cNvSpPr>
          <p:nvPr/>
        </p:nvSpPr>
        <p:spPr>
          <a:xfrm xmlns:a="http://schemas.openxmlformats.org/drawingml/2006/main">
            <a:off x="4762500" y="4191000"/>
            <a:ext cx="26955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erster Zugangspunkt</a:t>
            </a:r>
          </a:p>
        </p:txBody>
      </p:sp>
      <p:sp>
        <p:nvSpPr>
          <p:cNvPr id="14" name="">
            <a:extLst xmlns:a="http://schemas.openxmlformats.org/drawingml/2006/main">
              <a:ext uri="{FF2B5EF4-FFF2-40B4-BE49-F238E27FC236}">
                <a16:creationId xmlns:a16="http://schemas.microsoft.com/office/drawing/2014/main" id="{ED5A6DC4-9480-4BBB-874E-275085E0D387}"/>
              </a:ext>
            </a:extLst>
          </p:cNvPr>
          <p:cNvSpPr>
            <a:spLocks xmlns:a="http://schemas.openxmlformats.org/drawingml/2006/main" noGrp="1"/>
          </p:cNvSpPr>
          <p:nvPr/>
        </p:nvSpPr>
        <p:spPr>
          <a:xfrm xmlns:a="http://schemas.openxmlformats.org/drawingml/2006/main">
            <a:off x="8343900" y="3724275"/>
            <a:ext cx="3000375" cy="12858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5B0631BA-20C2-43B0-BC76-354FBA5D69EA}"/>
              </a:ext>
            </a:extLst>
          </p:cNvPr>
          <p:cNvSpPr>
            <a:spLocks xmlns:a="http://schemas.openxmlformats.org/drawingml/2006/main" noGrp="1"/>
          </p:cNvSpPr>
          <p:nvPr/>
        </p:nvSpPr>
        <p:spPr>
          <a:xfrm xmlns:a="http://schemas.openxmlformats.org/drawingml/2006/main">
            <a:off x="8496300" y="38385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Vier Flags</a:t>
            </a:r>
          </a:p>
        </p:txBody>
      </p:sp>
      <p:sp>
        <p:nvSpPr>
          <p:cNvPr id="16" name="">
            <a:extLst xmlns:a="http://schemas.openxmlformats.org/drawingml/2006/main">
              <a:ext uri="{FF2B5EF4-FFF2-40B4-BE49-F238E27FC236}">
                <a16:creationId xmlns:a16="http://schemas.microsoft.com/office/drawing/2014/main" id="{CC94D494-48DD-482B-BC3C-FDB5CC0119C2}"/>
              </a:ext>
            </a:extLst>
          </p:cNvPr>
          <p:cNvSpPr>
            <a:spLocks xmlns:a="http://schemas.openxmlformats.org/drawingml/2006/main" noGrp="1"/>
          </p:cNvSpPr>
          <p:nvPr/>
        </p:nvSpPr>
        <p:spPr>
          <a:xfrm xmlns:a="http://schemas.openxmlformats.org/drawingml/2006/main">
            <a:off x="8496300" y="4191000"/>
            <a:ext cx="26955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Marker für Ergebnisse</a:t>
            </a:r>
          </a:p>
        </p:txBody>
      </p:sp>
    </p:spTree>
    <p:extLst>
      <p:ext uri="{BB962C8B-B14F-4D97-AF65-F5344CB8AC3E}">
        <p14:creationId xmlns:p14="http://schemas.microsoft.com/office/powerpoint/2010/main" val="90294695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4FB9E1-6810-454B-9D32-DFD25A15BC15}"/>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BD6D97-4336-492F-8261-D43899EC6476}"/>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Die Idee des Demo-Systems</a:t>
            </a:r>
          </a:p>
        </p:txBody>
      </p:sp>
      <p:sp>
        <p:nvSpPr>
          <p:cNvPr id="3" name="">
            <a:extLst xmlns:a="http://schemas.openxmlformats.org/drawingml/2006/main">
              <a:ext uri="{FF2B5EF4-FFF2-40B4-BE49-F238E27FC236}">
                <a16:creationId xmlns:a16="http://schemas.microsoft.com/office/drawing/2014/main" id="{A9D5D8D2-D615-4309-B006-C0878BC83DF5}"/>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7F45BDDD-CFA9-411A-AC4F-FAF45F3FD9FD}"/>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1B5CA542-0E43-4A98-886B-3F36971DBE00}"/>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18F8CF97-310F-4025-B20A-2743A557DB0B}"/>
              </a:ext>
            </a:extLst>
          </p:cNvPr>
          <p:cNvSpPr>
            <a:spLocks xmlns:a="http://schemas.openxmlformats.org/drawingml/2006/main" noGrp="1"/>
          </p:cNvSpPr>
          <p:nvPr/>
        </p:nvSpPr>
        <p:spPr>
          <a:xfrm xmlns:a="http://schemas.openxmlformats.org/drawingml/2006/main">
            <a:off x="695325" y="1495425"/>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xmlns:a="http://schemas.openxmlformats.org/drawingml/2006/main">
            <a:pPr algn="l">
              <a:defRPr sz="2325" b="1">
                <a:solidFill>
                  <a:srgbClr val="202935"/>
                </a:solidFill>
                <a:latin typeface="Arial"/>
                <a:ea typeface="Arial"/>
                <a:cs typeface="Arial"/>
              </a:defRPr>
            </a:pPr>
            <a:r>
              <a:rPr sz="2325" b="1">
                <a:solidFill>
                  <a:srgbClr val="202935"/>
                </a:solidFill>
                <a:latin typeface="Arial"/>
                <a:ea typeface="Arial"/>
                <a:cs typeface="Arial"/>
              </a:rPr>
              <a:t>Ein kontrolliertes System für eine zusammenhängende Untersuchung</a:t>
            </a:r>
          </a:p>
        </p:txBody>
      </p:sp>
      <p:sp>
        <p:nvSpPr>
          <p:cNvPr id="7" name="">
            <a:extLst xmlns:a="http://schemas.openxmlformats.org/drawingml/2006/main">
              <a:ext uri="{FF2B5EF4-FFF2-40B4-BE49-F238E27FC236}">
                <a16:creationId xmlns:a16="http://schemas.microsoft.com/office/drawing/2014/main" id="{74043AE0-1A83-47E0-A112-926584BC6965}"/>
              </a:ext>
            </a:extLst>
          </p:cNvPr>
          <p:cNvSpPr>
            <a:spLocks xmlns:a="http://schemas.openxmlformats.org/drawingml/2006/main" noGrp="1"/>
          </p:cNvSpPr>
          <p:nvPr/>
        </p:nvSpPr>
        <p:spPr>
          <a:xfrm xmlns:a="http://schemas.openxmlformats.org/drawingml/2006/main">
            <a:off x="704850" y="2419350"/>
            <a:ext cx="10477500" cy="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8" name="">
            <a:extLst xmlns:a="http://schemas.openxmlformats.org/drawingml/2006/main">
              <a:ext uri="{FF2B5EF4-FFF2-40B4-BE49-F238E27FC236}">
                <a16:creationId xmlns:a16="http://schemas.microsoft.com/office/drawing/2014/main" id="{26749F21-14F4-48EC-A9B0-78FE38FA3D8A}"/>
              </a:ext>
            </a:extLst>
          </p:cNvPr>
          <p:cNvSpPr>
            <a:spLocks xmlns:a="http://schemas.openxmlformats.org/drawingml/2006/main" noGrp="1"/>
          </p:cNvSpPr>
          <p:nvPr/>
        </p:nvSpPr>
        <p:spPr>
          <a:xfrm xmlns:a="http://schemas.openxmlformats.org/drawingml/2006/main">
            <a:off x="762000" y="283845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xmlns:a="http://schemas.openxmlformats.org/drawingml/2006/main">
            <a:pPr algn="l">
              <a:defRPr sz="2175" b="1">
                <a:solidFill>
                  <a:srgbClr val="C55A2B"/>
                </a:solidFill>
                <a:latin typeface="Arial"/>
                <a:ea typeface="Arial"/>
                <a:cs typeface="Arial"/>
              </a:defRPr>
            </a:pPr>
            <a:r>
              <a:rPr sz="2175" b="1">
                <a:solidFill>
                  <a:srgbClr val="C55A2B"/>
                </a:solidFill>
                <a:latin typeface="Arial"/>
                <a:ea typeface="Arial"/>
                <a:cs typeface="Arial"/>
              </a:rPr>
              <a:t>Archiv</a:t>
            </a:r>
          </a:p>
        </p:txBody>
      </p:sp>
      <p:sp>
        <p:nvSpPr>
          <p:cNvPr id="9" name="">
            <a:extLst xmlns:a="http://schemas.openxmlformats.org/drawingml/2006/main">
              <a:ext uri="{FF2B5EF4-FFF2-40B4-BE49-F238E27FC236}">
                <a16:creationId xmlns:a16="http://schemas.microsoft.com/office/drawing/2014/main" id="{76C75534-D683-4700-8074-1356898B8183}"/>
              </a:ext>
            </a:extLst>
          </p:cNvPr>
          <p:cNvSpPr>
            <a:spLocks xmlns:a="http://schemas.openxmlformats.org/drawingml/2006/main" noGrp="1"/>
          </p:cNvSpPr>
          <p:nvPr/>
        </p:nvSpPr>
        <p:spPr>
          <a:xfrm xmlns:a="http://schemas.openxmlformats.org/drawingml/2006/main">
            <a:off x="762000" y="3419475"/>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xmlns:a="http://schemas.openxmlformats.org/drawingml/2006/main">
            <a:pPr algn="l">
              <a:defRPr sz="1950" b="0">
                <a:solidFill>
                  <a:srgbClr val="202935"/>
                </a:solidFill>
                <a:latin typeface="Arial"/>
                <a:ea typeface="Arial"/>
                <a:cs typeface="Arial"/>
              </a:defRPr>
            </a:pPr>
            <a:r>
              <a:rPr sz="1950" b="0">
                <a:solidFill>
                  <a:srgbClr val="202935"/>
                </a:solidFill>
                <a:latin typeface="Arial"/>
                <a:ea typeface="Arial"/>
                <a:cs typeface="Arial"/>
              </a:rPr>
              <a:t>Users, private Notes und Documents</a:t>
            </a:r>
          </a:p>
        </p:txBody>
      </p:sp>
      <p:sp>
        <p:nvSpPr>
          <p:cNvPr id="10" name="">
            <a:extLst xmlns:a="http://schemas.openxmlformats.org/drawingml/2006/main">
              <a:ext uri="{FF2B5EF4-FFF2-40B4-BE49-F238E27FC236}">
                <a16:creationId xmlns:a16="http://schemas.microsoft.com/office/drawing/2014/main" id="{CA8972D1-7B6D-4B4F-8560-319836CC7102}"/>
              </a:ext>
            </a:extLst>
          </p:cNvPr>
          <p:cNvSpPr>
            <a:spLocks xmlns:a="http://schemas.openxmlformats.org/drawingml/2006/main" noGrp="1"/>
          </p:cNvSpPr>
          <p:nvPr/>
        </p:nvSpPr>
        <p:spPr>
          <a:xfrm xmlns:a="http://schemas.openxmlformats.org/drawingml/2006/main">
            <a:off x="4095750" y="2705100"/>
            <a:ext cx="0" cy="2333625"/>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C3FA4618-3E9E-4740-9023-04B5CB1DA1D8}"/>
              </a:ext>
            </a:extLst>
          </p:cNvPr>
          <p:cNvSpPr>
            <a:spLocks xmlns:a="http://schemas.openxmlformats.org/drawingml/2006/main" noGrp="1"/>
          </p:cNvSpPr>
          <p:nvPr/>
        </p:nvSpPr>
        <p:spPr>
          <a:xfrm xmlns:a="http://schemas.openxmlformats.org/drawingml/2006/main">
            <a:off x="4514850" y="283845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xmlns:a="http://schemas.openxmlformats.org/drawingml/2006/main">
            <a:pPr algn="l">
              <a:defRPr sz="2175" b="1">
                <a:solidFill>
                  <a:srgbClr val="C55A2B"/>
                </a:solidFill>
                <a:latin typeface="Arial"/>
                <a:ea typeface="Arial"/>
                <a:cs typeface="Arial"/>
              </a:defRPr>
            </a:pPr>
            <a:r>
              <a:rPr sz="2175" b="1">
                <a:solidFill>
                  <a:srgbClr val="C55A2B"/>
                </a:solidFill>
                <a:latin typeface="Arial"/>
                <a:ea typeface="Arial"/>
                <a:cs typeface="Arial"/>
              </a:rPr>
              <a:t>Zugang</a:t>
            </a:r>
          </a:p>
        </p:txBody>
      </p:sp>
      <p:sp>
        <p:nvSpPr>
          <p:cNvPr id="12" name="">
            <a:extLst xmlns:a="http://schemas.openxmlformats.org/drawingml/2006/main">
              <a:ext uri="{FF2B5EF4-FFF2-40B4-BE49-F238E27FC236}">
                <a16:creationId xmlns:a16="http://schemas.microsoft.com/office/drawing/2014/main" id="{658B24C6-2DD6-4A43-9033-95806F3153DE}"/>
              </a:ext>
            </a:extLst>
          </p:cNvPr>
          <p:cNvSpPr>
            <a:spLocks xmlns:a="http://schemas.openxmlformats.org/drawingml/2006/main" noGrp="1"/>
          </p:cNvSpPr>
          <p:nvPr/>
        </p:nvSpPr>
        <p:spPr>
          <a:xfrm xmlns:a="http://schemas.openxmlformats.org/drawingml/2006/main">
            <a:off x="4514850" y="3419475"/>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xmlns:a="http://schemas.openxmlformats.org/drawingml/2006/main">
            <a:pPr algn="l">
              <a:defRPr sz="1950" b="0">
                <a:solidFill>
                  <a:srgbClr val="202935"/>
                </a:solidFill>
                <a:latin typeface="Arial"/>
                <a:ea typeface="Arial"/>
                <a:cs typeface="Arial"/>
              </a:defRPr>
            </a:pPr>
            <a:r>
              <a:rPr sz="1950" b="0">
                <a:solidFill>
                  <a:srgbClr val="202935"/>
                </a:solidFill>
                <a:latin typeface="Arial"/>
                <a:ea typeface="Arial"/>
                <a:cs typeface="Arial"/>
              </a:rPr>
              <a:t>Gateway, Basic Auth und JWT</a:t>
            </a:r>
          </a:p>
        </p:txBody>
      </p:sp>
      <p:sp>
        <p:nvSpPr>
          <p:cNvPr id="13" name="">
            <a:extLst xmlns:a="http://schemas.openxmlformats.org/drawingml/2006/main">
              <a:ext uri="{FF2B5EF4-FFF2-40B4-BE49-F238E27FC236}">
                <a16:creationId xmlns:a16="http://schemas.microsoft.com/office/drawing/2014/main" id="{E58B4385-F11F-4250-9B68-7D5E1CF78A8A}"/>
              </a:ext>
            </a:extLst>
          </p:cNvPr>
          <p:cNvSpPr>
            <a:spLocks xmlns:a="http://schemas.openxmlformats.org/drawingml/2006/main" noGrp="1"/>
          </p:cNvSpPr>
          <p:nvPr/>
        </p:nvSpPr>
        <p:spPr>
          <a:xfrm xmlns:a="http://schemas.openxmlformats.org/drawingml/2006/main">
            <a:off x="7848600" y="2705100"/>
            <a:ext cx="0" cy="2333625"/>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8BB8C4DB-EDF7-4906-8EEA-CF0F04FBB58F}"/>
              </a:ext>
            </a:extLst>
          </p:cNvPr>
          <p:cNvSpPr>
            <a:spLocks xmlns:a="http://schemas.openxmlformats.org/drawingml/2006/main" noGrp="1"/>
          </p:cNvSpPr>
          <p:nvPr/>
        </p:nvSpPr>
        <p:spPr>
          <a:xfrm xmlns:a="http://schemas.openxmlformats.org/drawingml/2006/main">
            <a:off x="8258175" y="283845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xmlns:a="http://schemas.openxmlformats.org/drawingml/2006/main">
            <a:pPr algn="l">
              <a:defRPr sz="2175" b="1">
                <a:solidFill>
                  <a:srgbClr val="C55A2B"/>
                </a:solidFill>
                <a:latin typeface="Arial"/>
                <a:ea typeface="Arial"/>
                <a:cs typeface="Arial"/>
              </a:defRPr>
            </a:pPr>
            <a:r>
              <a:rPr sz="2175" b="1">
                <a:solidFill>
                  <a:srgbClr val="C55A2B"/>
                </a:solidFill>
                <a:latin typeface="Arial"/>
                <a:ea typeface="Arial"/>
                <a:cs typeface="Arial"/>
              </a:rPr>
              <a:t>Forschung</a:t>
            </a:r>
          </a:p>
        </p:txBody>
      </p:sp>
      <p:sp>
        <p:nvSpPr>
          <p:cNvPr id="15" name="">
            <a:extLst xmlns:a="http://schemas.openxmlformats.org/drawingml/2006/main">
              <a:ext uri="{FF2B5EF4-FFF2-40B4-BE49-F238E27FC236}">
                <a16:creationId xmlns:a16="http://schemas.microsoft.com/office/drawing/2014/main" id="{A1A8A77A-8F1D-46F6-9497-33FEEE062C36}"/>
              </a:ext>
            </a:extLst>
          </p:cNvPr>
          <p:cNvSpPr>
            <a:spLocks xmlns:a="http://schemas.openxmlformats.org/drawingml/2006/main" noGrp="1"/>
          </p:cNvSpPr>
          <p:nvPr/>
        </p:nvSpPr>
        <p:spPr>
          <a:xfrm xmlns:a="http://schemas.openxmlformats.org/drawingml/2006/main">
            <a:off x="8258175" y="3419475"/>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xmlns:a="http://schemas.openxmlformats.org/drawingml/2006/main">
            <a:pPr algn="l">
              <a:defRPr sz="1950" b="0">
                <a:solidFill>
                  <a:srgbClr val="202935"/>
                </a:solidFill>
                <a:latin typeface="Arial"/>
                <a:ea typeface="Arial"/>
                <a:cs typeface="Arial"/>
              </a:defRPr>
            </a:pPr>
            <a:r>
              <a:rPr sz="1950" b="0">
                <a:solidFill>
                  <a:srgbClr val="202935"/>
                </a:solidFill>
                <a:latin typeface="Arial"/>
                <a:ea typeface="Arial"/>
                <a:cs typeface="Arial"/>
              </a:rPr>
              <a:t>Vier Experimente und ein End-to-End-Test</a:t>
            </a:r>
          </a:p>
        </p:txBody>
      </p:sp>
    </p:spTree>
    <p:extLst>
      <p:ext uri="{BB962C8B-B14F-4D97-AF65-F5344CB8AC3E}">
        <p14:creationId xmlns:p14="http://schemas.microsoft.com/office/powerpoint/2010/main" val="794608480"/>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6CB7A0A3-7E03-497F-9E05-793C4AF562BA}"/>
              </a:ext>
            </a:extLst>
          </p:cNvPr>
          <p:cNvCxnSpPr>
            <a:stCxn xmlns:a="http://schemas.openxmlformats.org/drawingml/2006/main" id="7" idx="2"/>
            <a:endCxn xmlns:a="http://schemas.openxmlformats.org/drawingml/2006/main" id="19" idx="1"/>
          </p:cNvCxnSpPr>
          <p:nvPr/>
        </p:nvCxnSpPr>
        <p:spPr>
          <a:xfrm xmlns:a="http://schemas.openxmlformats.org/drawingml/2006/main">
            <a:off x="1557338" y="4229100"/>
            <a:ext cx="1824038" cy="747713"/>
          </a:xfrm>
          <a:prstGeom xmlns:a="http://schemas.openxmlformats.org/drawingml/2006/main" prst="straightConnector1">
            <a:avLst/>
          </a:prstGeom>
          <a:ln xmlns:a="http://schemas.openxmlformats.org/drawingml/2006/main" w="19050">
            <a:solidFill>
              <a:srgbClr val="C55A2B"/>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17A92D5F-C499-4946-A24A-3398D84F2361}"/>
              </a:ext>
            </a:extLst>
          </p:cNvPr>
          <p:cNvCxnSpPr>
            <a:stCxn xmlns:a="http://schemas.openxmlformats.org/drawingml/2006/main" id="13" idx="3"/>
            <a:endCxn xmlns:a="http://schemas.openxmlformats.org/drawingml/2006/main" id="16" idx="1"/>
          </p:cNvCxnSpPr>
          <p:nvPr/>
        </p:nvCxnSpPr>
        <p:spPr>
          <a:xfrm xmlns:a="http://schemas.openxmlformats.org/drawingml/2006/main">
            <a:off x="9163050" y="2862263"/>
            <a:ext cx="666750"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969A2540-D81E-4AF9-920C-905DD00C3807}"/>
              </a:ext>
            </a:extLst>
          </p:cNvPr>
          <p:cNvCxnSpPr>
            <a:stCxn xmlns:a="http://schemas.openxmlformats.org/drawingml/2006/main" id="10" idx="3"/>
            <a:endCxn xmlns:a="http://schemas.openxmlformats.org/drawingml/2006/main" id="13" idx="1"/>
          </p:cNvCxnSpPr>
          <p:nvPr/>
        </p:nvCxnSpPr>
        <p:spPr>
          <a:xfrm xmlns:a="http://schemas.openxmlformats.org/drawingml/2006/main">
            <a:off x="5610225" y="2862263"/>
            <a:ext cx="120967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1E8269E0-E2C5-4D33-BDD8-D510E7CF510E}"/>
              </a:ext>
            </a:extLst>
          </p:cNvPr>
          <p:cNvCxnSpPr>
            <a:stCxn xmlns:a="http://schemas.openxmlformats.org/drawingml/2006/main" id="7" idx="3"/>
            <a:endCxn xmlns:a="http://schemas.openxmlformats.org/drawingml/2006/main" id="10" idx="1"/>
          </p:cNvCxnSpPr>
          <p:nvPr/>
        </p:nvCxnSpPr>
        <p:spPr>
          <a:xfrm xmlns:a="http://schemas.openxmlformats.org/drawingml/2006/main" flipV="1">
            <a:off x="2543175" y="2862263"/>
            <a:ext cx="838200" cy="766763"/>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sp>
        <p:nvSpPr>
          <p:cNvPr id="28" name="">
            <a:extLst xmlns:a="http://schemas.openxmlformats.org/drawingml/2006/main">
              <a:ext uri="{FF2B5EF4-FFF2-40B4-BE49-F238E27FC236}">
                <a16:creationId xmlns:a16="http://schemas.microsoft.com/office/drawing/2014/main" id="{EC8F204B-9A57-49E7-95BA-AB82FC3C63FB}"/>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F4C6D8-7D77-41AE-861D-16ADF7E09735}"/>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Drei Services und eine Datenbank</a:t>
            </a:r>
          </a:p>
        </p:txBody>
      </p:sp>
      <p:sp>
        <p:nvSpPr>
          <p:cNvPr id="3" name="">
            <a:extLst xmlns:a="http://schemas.openxmlformats.org/drawingml/2006/main">
              <a:ext uri="{FF2B5EF4-FFF2-40B4-BE49-F238E27FC236}">
                <a16:creationId xmlns:a16="http://schemas.microsoft.com/office/drawing/2014/main" id="{DE718A9E-E0C0-44F7-B2C7-BFE9AF1A4B34}"/>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B58CBA9A-F13F-453C-9430-74086C44A032}"/>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19612EFB-91A7-4451-82B6-D2D5FD74910E}"/>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E82A94A9-916B-4A20-823C-34B0CF4C62FC}"/>
              </a:ext>
            </a:extLst>
          </p:cNvPr>
          <p:cNvSpPr>
            <a:spLocks xmlns:a="http://schemas.openxmlformats.org/drawingml/2006/main" noGrp="1"/>
          </p:cNvSpPr>
          <p:nvPr/>
        </p:nvSpPr>
        <p:spPr>
          <a:xfrm xmlns:a="http://schemas.openxmlformats.org/drawingml/2006/main">
            <a:off x="714375" y="1323975"/>
            <a:ext cx="1000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Das Demo-System und seine Zugänge</a:t>
            </a:r>
          </a:p>
        </p:txBody>
      </p:sp>
      <p:sp>
        <p:nvSpPr>
          <p:cNvPr id="7" name="">
            <a:extLst xmlns:a="http://schemas.openxmlformats.org/drawingml/2006/main">
              <a:ext uri="{FF2B5EF4-FFF2-40B4-BE49-F238E27FC236}">
                <a16:creationId xmlns:a16="http://schemas.microsoft.com/office/drawing/2014/main" id="{19D96F93-A762-4134-86F3-2A993DAE25A5}"/>
              </a:ext>
            </a:extLst>
          </p:cNvPr>
          <p:cNvSpPr>
            <a:spLocks xmlns:a="http://schemas.openxmlformats.org/drawingml/2006/main" noGrp="1"/>
          </p:cNvSpPr>
          <p:nvPr/>
        </p:nvSpPr>
        <p:spPr>
          <a:xfrm xmlns:a="http://schemas.openxmlformats.org/drawingml/2006/main">
            <a:off x="571500" y="3028950"/>
            <a:ext cx="19716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A0AB8690-330B-4298-9355-838DE807D967}"/>
              </a:ext>
            </a:extLst>
          </p:cNvPr>
          <p:cNvSpPr>
            <a:spLocks xmlns:a="http://schemas.openxmlformats.org/drawingml/2006/main" noGrp="1"/>
          </p:cNvSpPr>
          <p:nvPr/>
        </p:nvSpPr>
        <p:spPr>
          <a:xfrm xmlns:a="http://schemas.openxmlformats.org/drawingml/2006/main">
            <a:off x="723900" y="314325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89"/>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Externe Anfrage</a:t>
            </a:r>
          </a:p>
        </p:txBody>
      </p:sp>
      <p:sp>
        <p:nvSpPr>
          <p:cNvPr id="9" name="">
            <a:extLst xmlns:a="http://schemas.openxmlformats.org/drawingml/2006/main">
              <a:ext uri="{FF2B5EF4-FFF2-40B4-BE49-F238E27FC236}">
                <a16:creationId xmlns:a16="http://schemas.microsoft.com/office/drawing/2014/main" id="{15F65FBF-EED8-481B-9EF1-30A1C12F0C00}"/>
              </a:ext>
            </a:extLst>
          </p:cNvPr>
          <p:cNvSpPr>
            <a:spLocks xmlns:a="http://schemas.openxmlformats.org/drawingml/2006/main" noGrp="1"/>
          </p:cNvSpPr>
          <p:nvPr/>
        </p:nvSpPr>
        <p:spPr>
          <a:xfrm xmlns:a="http://schemas.openxmlformats.org/drawingml/2006/main">
            <a:off x="723900" y="3495675"/>
            <a:ext cx="166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HTTP</a:t>
            </a:r>
          </a:p>
        </p:txBody>
      </p:sp>
      <p:sp>
        <p:nvSpPr>
          <p:cNvPr id="10" name="">
            <a:extLst xmlns:a="http://schemas.openxmlformats.org/drawingml/2006/main">
              <a:ext uri="{FF2B5EF4-FFF2-40B4-BE49-F238E27FC236}">
                <a16:creationId xmlns:a16="http://schemas.microsoft.com/office/drawing/2014/main" id="{EEC8B3FC-C8FA-4A38-8B66-451CE85F622F}"/>
              </a:ext>
            </a:extLst>
          </p:cNvPr>
          <p:cNvSpPr>
            <a:spLocks xmlns:a="http://schemas.openxmlformats.org/drawingml/2006/main" noGrp="1"/>
          </p:cNvSpPr>
          <p:nvPr/>
        </p:nvSpPr>
        <p:spPr>
          <a:xfrm xmlns:a="http://schemas.openxmlformats.org/drawingml/2006/main">
            <a:off x="3381375" y="2247900"/>
            <a:ext cx="2228850" cy="122872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11" name="">
            <a:extLst xmlns:a="http://schemas.openxmlformats.org/drawingml/2006/main">
              <a:ext uri="{FF2B5EF4-FFF2-40B4-BE49-F238E27FC236}">
                <a16:creationId xmlns:a16="http://schemas.microsoft.com/office/drawing/2014/main" id="{47520010-DCC3-4CDB-B498-AB80F252280B}"/>
              </a:ext>
            </a:extLst>
          </p:cNvPr>
          <p:cNvSpPr>
            <a:spLocks xmlns:a="http://schemas.openxmlformats.org/drawingml/2006/main" noGrp="1"/>
          </p:cNvSpPr>
          <p:nvPr/>
        </p:nvSpPr>
        <p:spPr>
          <a:xfrm xmlns:a="http://schemas.openxmlformats.org/drawingml/2006/main">
            <a:off x="3533775" y="23622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edge-gateway</a:t>
            </a:r>
          </a:p>
        </p:txBody>
      </p:sp>
      <p:sp>
        <p:nvSpPr>
          <p:cNvPr id="12" name="">
            <a:extLst xmlns:a="http://schemas.openxmlformats.org/drawingml/2006/main">
              <a:ext uri="{FF2B5EF4-FFF2-40B4-BE49-F238E27FC236}">
                <a16:creationId xmlns:a16="http://schemas.microsoft.com/office/drawing/2014/main" id="{5FC8F42D-423C-4864-866D-ADC1AED177D1}"/>
              </a:ext>
            </a:extLst>
          </p:cNvPr>
          <p:cNvSpPr>
            <a:spLocks xmlns:a="http://schemas.openxmlformats.org/drawingml/2006/main" noGrp="1"/>
          </p:cNvSpPr>
          <p:nvPr/>
        </p:nvSpPr>
        <p:spPr>
          <a:xfrm xmlns:a="http://schemas.openxmlformats.org/drawingml/2006/main">
            <a:off x="3533775" y="271462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öffentlich · 8080</a:t>
            </a:r>
          </a:p>
        </p:txBody>
      </p:sp>
      <p:sp>
        <p:nvSpPr>
          <p:cNvPr id="13" name="">
            <a:extLst xmlns:a="http://schemas.openxmlformats.org/drawingml/2006/main">
              <a:ext uri="{FF2B5EF4-FFF2-40B4-BE49-F238E27FC236}">
                <a16:creationId xmlns:a16="http://schemas.microsoft.com/office/drawing/2014/main" id="{35E242F9-4481-4C1B-8178-B98498E62153}"/>
              </a:ext>
            </a:extLst>
          </p:cNvPr>
          <p:cNvSpPr>
            <a:spLocks xmlns:a="http://schemas.openxmlformats.org/drawingml/2006/main" noGrp="1"/>
          </p:cNvSpPr>
          <p:nvPr/>
        </p:nvSpPr>
        <p:spPr>
          <a:xfrm xmlns:a="http://schemas.openxmlformats.org/drawingml/2006/main">
            <a:off x="6819900" y="2247900"/>
            <a:ext cx="2343150" cy="12287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89C5B832-CD05-4B35-B4D8-FC498D8DF0B9}"/>
              </a:ext>
            </a:extLst>
          </p:cNvPr>
          <p:cNvSpPr>
            <a:spLocks xmlns:a="http://schemas.openxmlformats.org/drawingml/2006/main" noGrp="1"/>
          </p:cNvSpPr>
          <p:nvPr/>
        </p:nvSpPr>
        <p:spPr>
          <a:xfrm xmlns:a="http://schemas.openxmlformats.org/drawingml/2006/main">
            <a:off x="6972300" y="23622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archive-service</a:t>
            </a:r>
          </a:p>
        </p:txBody>
      </p:sp>
      <p:sp>
        <p:nvSpPr>
          <p:cNvPr id="15" name="">
            <a:extLst xmlns:a="http://schemas.openxmlformats.org/drawingml/2006/main">
              <a:ext uri="{FF2B5EF4-FFF2-40B4-BE49-F238E27FC236}">
                <a16:creationId xmlns:a16="http://schemas.microsoft.com/office/drawing/2014/main" id="{E2425A0F-E78A-49F3-A1CA-A2A7CE565C09}"/>
              </a:ext>
            </a:extLst>
          </p:cNvPr>
          <p:cNvSpPr>
            <a:spLocks xmlns:a="http://schemas.openxmlformats.org/drawingml/2006/main" noGrp="1"/>
          </p:cNvSpPr>
          <p:nvPr/>
        </p:nvSpPr>
        <p:spPr>
          <a:xfrm xmlns:a="http://schemas.openxmlformats.org/drawingml/2006/main">
            <a:off x="6972300" y="2714625"/>
            <a:ext cx="2038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intern · 8081</a:t>
            </a:r>
          </a:p>
        </p:txBody>
      </p:sp>
      <p:sp>
        <p:nvSpPr>
          <p:cNvPr id="16" name="">
            <a:extLst xmlns:a="http://schemas.openxmlformats.org/drawingml/2006/main">
              <a:ext uri="{FF2B5EF4-FFF2-40B4-BE49-F238E27FC236}">
                <a16:creationId xmlns:a16="http://schemas.microsoft.com/office/drawing/2014/main" id="{9681882D-8CF3-454E-B725-8CDD327C6B58}"/>
              </a:ext>
            </a:extLst>
          </p:cNvPr>
          <p:cNvSpPr>
            <a:spLocks xmlns:a="http://schemas.openxmlformats.org/drawingml/2006/main" noGrp="1"/>
          </p:cNvSpPr>
          <p:nvPr/>
        </p:nvSpPr>
        <p:spPr>
          <a:xfrm xmlns:a="http://schemas.openxmlformats.org/drawingml/2006/main">
            <a:off x="9829800" y="2247900"/>
            <a:ext cx="1752600" cy="12287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7" name="">
            <a:extLst xmlns:a="http://schemas.openxmlformats.org/drawingml/2006/main">
              <a:ext uri="{FF2B5EF4-FFF2-40B4-BE49-F238E27FC236}">
                <a16:creationId xmlns:a16="http://schemas.microsoft.com/office/drawing/2014/main" id="{D059F50E-712C-4190-9008-3DA3E11E9E30}"/>
              </a:ext>
            </a:extLst>
          </p:cNvPr>
          <p:cNvSpPr>
            <a:spLocks xmlns:a="http://schemas.openxmlformats.org/drawingml/2006/main" noGrp="1"/>
          </p:cNvSpPr>
          <p:nvPr/>
        </p:nvSpPr>
        <p:spPr>
          <a:xfrm xmlns:a="http://schemas.openxmlformats.org/drawingml/2006/main">
            <a:off x="9982200" y="23622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MariaDB</a:t>
            </a:r>
          </a:p>
        </p:txBody>
      </p:sp>
      <p:sp>
        <p:nvSpPr>
          <p:cNvPr id="18" name="">
            <a:extLst xmlns:a="http://schemas.openxmlformats.org/drawingml/2006/main">
              <a:ext uri="{FF2B5EF4-FFF2-40B4-BE49-F238E27FC236}">
                <a16:creationId xmlns:a16="http://schemas.microsoft.com/office/drawing/2014/main" id="{0E51CD56-A421-43C7-A66C-EA7C8953A773}"/>
              </a:ext>
            </a:extLst>
          </p:cNvPr>
          <p:cNvSpPr>
            <a:spLocks xmlns:a="http://schemas.openxmlformats.org/drawingml/2006/main" noGrp="1"/>
          </p:cNvSpPr>
          <p:nvPr/>
        </p:nvSpPr>
        <p:spPr>
          <a:xfrm xmlns:a="http://schemas.openxmlformats.org/drawingml/2006/main">
            <a:off x="9982200" y="2714625"/>
            <a:ext cx="1447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intern</a:t>
            </a:r>
          </a:p>
        </p:txBody>
      </p:sp>
      <p:sp>
        <p:nvSpPr>
          <p:cNvPr id="19" name="">
            <a:extLst xmlns:a="http://schemas.openxmlformats.org/drawingml/2006/main">
              <a:ext uri="{FF2B5EF4-FFF2-40B4-BE49-F238E27FC236}">
                <a16:creationId xmlns:a16="http://schemas.microsoft.com/office/drawing/2014/main" id="{839A6DE1-A068-4F18-898C-2A0162BA0E81}"/>
              </a:ext>
            </a:extLst>
          </p:cNvPr>
          <p:cNvSpPr>
            <a:spLocks xmlns:a="http://schemas.openxmlformats.org/drawingml/2006/main" noGrp="1"/>
          </p:cNvSpPr>
          <p:nvPr/>
        </p:nvSpPr>
        <p:spPr>
          <a:xfrm xmlns:a="http://schemas.openxmlformats.org/drawingml/2006/main">
            <a:off x="3381375" y="4362450"/>
            <a:ext cx="2228850" cy="122872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20" name="">
            <a:extLst xmlns:a="http://schemas.openxmlformats.org/drawingml/2006/main">
              <a:ext uri="{FF2B5EF4-FFF2-40B4-BE49-F238E27FC236}">
                <a16:creationId xmlns:a16="http://schemas.microsoft.com/office/drawing/2014/main" id="{1A82AA04-FF06-4447-A722-2AE624FC0A70}"/>
              </a:ext>
            </a:extLst>
          </p:cNvPr>
          <p:cNvSpPr>
            <a:spLocks xmlns:a="http://schemas.openxmlformats.org/drawingml/2006/main" noGrp="1"/>
          </p:cNvSpPr>
          <p:nvPr/>
        </p:nvSpPr>
        <p:spPr>
          <a:xfrm xmlns:a="http://schemas.openxmlformats.org/drawingml/2006/main">
            <a:off x="3533775" y="44767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command-control</a:t>
            </a:r>
          </a:p>
        </p:txBody>
      </p:sp>
      <p:sp>
        <p:nvSpPr>
          <p:cNvPr id="21" name="">
            <a:extLst xmlns:a="http://schemas.openxmlformats.org/drawingml/2006/main">
              <a:ext uri="{FF2B5EF4-FFF2-40B4-BE49-F238E27FC236}">
                <a16:creationId xmlns:a16="http://schemas.microsoft.com/office/drawing/2014/main" id="{EF88AD87-1377-4CFE-8CB5-B29BFB253B83}"/>
              </a:ext>
            </a:extLst>
          </p:cNvPr>
          <p:cNvSpPr>
            <a:spLocks xmlns:a="http://schemas.openxmlformats.org/drawingml/2006/main" noGrp="1"/>
          </p:cNvSpPr>
          <p:nvPr/>
        </p:nvSpPr>
        <p:spPr>
          <a:xfrm xmlns:a="http://schemas.openxmlformats.org/drawingml/2006/main">
            <a:off x="3533775" y="48291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öffentlich · 8082</a:t>
            </a:r>
          </a:p>
        </p:txBody>
      </p:sp>
      <p:sp>
        <p:nvSpPr>
          <p:cNvPr id="26" name="">
            <a:extLst xmlns:a="http://schemas.openxmlformats.org/drawingml/2006/main">
              <a:ext uri="{FF2B5EF4-FFF2-40B4-BE49-F238E27FC236}">
                <a16:creationId xmlns:a16="http://schemas.microsoft.com/office/drawing/2014/main" id="{EB372528-4602-47A3-A77A-F25684D170FD}"/>
              </a:ext>
            </a:extLst>
          </p:cNvPr>
          <p:cNvSpPr>
            <a:spLocks xmlns:a="http://schemas.openxmlformats.org/drawingml/2006/main" noGrp="1"/>
          </p:cNvSpPr>
          <p:nvPr/>
        </p:nvSpPr>
        <p:spPr>
          <a:xfrm xmlns:a="http://schemas.openxmlformats.org/drawingml/2006/main">
            <a:off x="5781675" y="2352675"/>
            <a:ext cx="1000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Proxy</a:t>
            </a:r>
          </a:p>
        </p:txBody>
      </p:sp>
      <p:sp>
        <p:nvSpPr>
          <p:cNvPr id="27" name="">
            <a:extLst xmlns:a="http://schemas.openxmlformats.org/drawingml/2006/main">
              <a:ext uri="{FF2B5EF4-FFF2-40B4-BE49-F238E27FC236}">
                <a16:creationId xmlns:a16="http://schemas.microsoft.com/office/drawing/2014/main" id="{E24CDD82-0BE5-4D61-8184-EC965DCCEDB8}"/>
              </a:ext>
            </a:extLst>
          </p:cNvPr>
          <p:cNvSpPr>
            <a:spLocks xmlns:a="http://schemas.openxmlformats.org/drawingml/2006/main" noGrp="1"/>
          </p:cNvSpPr>
          <p:nvPr/>
        </p:nvSpPr>
        <p:spPr>
          <a:xfrm xmlns:a="http://schemas.openxmlformats.org/drawingml/2006/main">
            <a:off x="5762625" y="4686300"/>
            <a:ext cx="49720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/login · /verify-otp · /warheads</a:t>
            </a:r>
          </a:p>
        </p:txBody>
      </p:sp>
    </p:spTree>
    <p:extLst>
      <p:ext uri="{BB962C8B-B14F-4D97-AF65-F5344CB8AC3E}">
        <p14:creationId xmlns:p14="http://schemas.microsoft.com/office/powerpoint/2010/main" val="123968571"/>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B8FBCF4-A8E4-4775-AE39-63A51E1B188F}"/>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282B69-8885-43C9-9CB7-93AB89248910}"/>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Der normale Ablauf</a:t>
            </a:r>
          </a:p>
        </p:txBody>
      </p:sp>
      <p:sp>
        <p:nvSpPr>
          <p:cNvPr id="3" name="">
            <a:extLst xmlns:a="http://schemas.openxmlformats.org/drawingml/2006/main">
              <a:ext uri="{FF2B5EF4-FFF2-40B4-BE49-F238E27FC236}">
                <a16:creationId xmlns:a16="http://schemas.microsoft.com/office/drawing/2014/main" id="{9554AABF-EB8E-447A-AC12-CD74F1A2C43B}"/>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7C741664-BCE1-4B8F-B371-D4F9F7075B4D}"/>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D59FEAFB-6336-4EAA-90CC-47E5B6C63BC9}"/>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F4A0B243-F755-4F61-B468-6F0F4ED2F857}"/>
              </a:ext>
            </a:extLst>
          </p:cNvPr>
          <p:cNvSpPr>
            <a:spLocks xmlns:a="http://schemas.openxmlformats.org/drawingml/2006/main" noGrp="1"/>
          </p:cNvSpPr>
          <p:nvPr/>
        </p:nvSpPr>
        <p:spPr>
          <a:xfrm xmlns:a="http://schemas.openxmlformats.org/drawingml/2006/main">
            <a:off x="733425" y="1466850"/>
            <a:ext cx="105346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7" name="">
            <a:extLst xmlns:a="http://schemas.openxmlformats.org/drawingml/2006/main">
              <a:ext uri="{FF2B5EF4-FFF2-40B4-BE49-F238E27FC236}">
                <a16:creationId xmlns:a16="http://schemas.microsoft.com/office/drawing/2014/main" id="{BB52853C-ACC5-4C4C-9470-EC2F40D5B5E3}"/>
              </a:ext>
            </a:extLst>
          </p:cNvPr>
          <p:cNvSpPr>
            <a:spLocks xmlns:a="http://schemas.openxmlformats.org/drawingml/2006/main" noGrp="1"/>
          </p:cNvSpPr>
          <p:nvPr/>
        </p:nvSpPr>
        <p:spPr>
          <a:xfrm xmlns:a="http://schemas.openxmlformats.org/drawingml/2006/main">
            <a:off x="781050" y="1619250"/>
            <a:ext cx="47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xmlns:a="http://schemas.openxmlformats.org/drawingml/2006/main">
            <a:pPr algn="l">
              <a:defRPr sz="2100" b="1">
                <a:solidFill>
                  <a:srgbClr val="C55A2B"/>
                </a:solidFill>
                <a:latin typeface="Arial"/>
                <a:ea typeface="Arial"/>
                <a:cs typeface="Arial"/>
              </a:defRPr>
            </a:pPr>
            <a:r>
              <a:rPr sz="2100" b="1">
                <a:solidFill>
                  <a:srgbClr val="C55A2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F501E12-4497-4B2F-B599-3A9095773E05}"/>
              </a:ext>
            </a:extLst>
          </p:cNvPr>
          <p:cNvSpPr>
            <a:spLocks xmlns:a="http://schemas.openxmlformats.org/drawingml/2006/main" noGrp="1"/>
          </p:cNvSpPr>
          <p:nvPr/>
        </p:nvSpPr>
        <p:spPr>
          <a:xfrm xmlns:a="http://schemas.openxmlformats.org/drawingml/2006/main">
            <a:off x="1390650" y="16192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xmlns:a="http://schemas.openxmlformats.org/drawingml/2006/main">
            <a:pPr algn="l">
              <a:defRPr sz="2025" b="1">
                <a:solidFill>
                  <a:srgbClr val="202935"/>
                </a:solidFill>
                <a:latin typeface="Arial"/>
                <a:ea typeface="Arial"/>
                <a:cs typeface="Arial"/>
              </a:defRPr>
            </a:pPr>
            <a:r>
              <a:rPr sz="2025" b="1">
                <a:solidFill>
                  <a:srgbClr val="202935"/>
                </a:solidFill>
                <a:latin typeface="Arial"/>
                <a:ea typeface="Arial"/>
                <a:cs typeface="Arial"/>
              </a:rPr>
              <a:t>GET /users</a:t>
            </a:r>
          </a:p>
        </p:txBody>
      </p:sp>
      <p:sp>
        <p:nvSpPr>
          <p:cNvPr id="9" name="">
            <a:extLst xmlns:a="http://schemas.openxmlformats.org/drawingml/2006/main">
              <a:ext uri="{FF2B5EF4-FFF2-40B4-BE49-F238E27FC236}">
                <a16:creationId xmlns:a16="http://schemas.microsoft.com/office/drawing/2014/main" id="{588AD89C-8E59-4A69-8488-3232B9AF95B7}"/>
              </a:ext>
            </a:extLst>
          </p:cNvPr>
          <p:cNvSpPr>
            <a:spLocks xmlns:a="http://schemas.openxmlformats.org/drawingml/2006/main" noGrp="1"/>
          </p:cNvSpPr>
          <p:nvPr/>
        </p:nvSpPr>
        <p:spPr>
          <a:xfrm xmlns:a="http://schemas.openxmlformats.org/drawingml/2006/main">
            <a:off x="5924550" y="16287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öffentliche Liste ohne Hashes</a:t>
            </a:r>
          </a:p>
        </p:txBody>
      </p:sp>
      <p:sp>
        <p:nvSpPr>
          <p:cNvPr id="10" name="">
            <a:extLst xmlns:a="http://schemas.openxmlformats.org/drawingml/2006/main">
              <a:ext uri="{FF2B5EF4-FFF2-40B4-BE49-F238E27FC236}">
                <a16:creationId xmlns:a16="http://schemas.microsoft.com/office/drawing/2014/main" id="{A2A6C92D-86B3-400A-88E8-53D94A72DE27}"/>
              </a:ext>
            </a:extLst>
          </p:cNvPr>
          <p:cNvSpPr>
            <a:spLocks xmlns:a="http://schemas.openxmlformats.org/drawingml/2006/main" noGrp="1"/>
          </p:cNvSpPr>
          <p:nvPr/>
        </p:nvSpPr>
        <p:spPr>
          <a:xfrm xmlns:a="http://schemas.openxmlformats.org/drawingml/2006/main">
            <a:off x="733425" y="2495550"/>
            <a:ext cx="105346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F05695DD-0A58-4AD1-AB13-438FDB1E7398}"/>
              </a:ext>
            </a:extLst>
          </p:cNvPr>
          <p:cNvSpPr>
            <a:spLocks xmlns:a="http://schemas.openxmlformats.org/drawingml/2006/main" noGrp="1"/>
          </p:cNvSpPr>
          <p:nvPr/>
        </p:nvSpPr>
        <p:spPr>
          <a:xfrm xmlns:a="http://schemas.openxmlformats.org/drawingml/2006/main">
            <a:off x="781050" y="2647950"/>
            <a:ext cx="47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xmlns:a="http://schemas.openxmlformats.org/drawingml/2006/main">
            <a:pPr algn="l">
              <a:defRPr sz="2100" b="1">
                <a:solidFill>
                  <a:srgbClr val="C55A2B"/>
                </a:solidFill>
                <a:latin typeface="Arial"/>
                <a:ea typeface="Arial"/>
                <a:cs typeface="Arial"/>
              </a:defRPr>
            </a:pPr>
            <a:r>
              <a:rPr sz="2100" b="1">
                <a:solidFill>
                  <a:srgbClr val="C55A2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63B8B1F-59FB-4A05-A85C-2AE9D31A62C5}"/>
              </a:ext>
            </a:extLst>
          </p:cNvPr>
          <p:cNvSpPr>
            <a:spLocks xmlns:a="http://schemas.openxmlformats.org/drawingml/2006/main" noGrp="1"/>
          </p:cNvSpPr>
          <p:nvPr/>
        </p:nvSpPr>
        <p:spPr>
          <a:xfrm xmlns:a="http://schemas.openxmlformats.org/drawingml/2006/main">
            <a:off x="1390650" y="26479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xmlns:a="http://schemas.openxmlformats.org/drawingml/2006/main">
            <a:pPr algn="l">
              <a:defRPr sz="2025" b="1">
                <a:solidFill>
                  <a:srgbClr val="202935"/>
                </a:solidFill>
                <a:latin typeface="Arial"/>
                <a:ea typeface="Arial"/>
                <a:cs typeface="Arial"/>
              </a:defRPr>
            </a:pPr>
            <a:r>
              <a:rPr sz="2025" b="1">
                <a:solidFill>
                  <a:srgbClr val="202935"/>
                </a:solidFill>
                <a:latin typeface="Arial"/>
                <a:ea typeface="Arial"/>
                <a:cs typeface="Arial"/>
              </a:rPr>
              <a:t>GET /notes</a:t>
            </a:r>
          </a:p>
        </p:txBody>
      </p:sp>
      <p:sp>
        <p:nvSpPr>
          <p:cNvPr id="13" name="">
            <a:extLst xmlns:a="http://schemas.openxmlformats.org/drawingml/2006/main">
              <a:ext uri="{FF2B5EF4-FFF2-40B4-BE49-F238E27FC236}">
                <a16:creationId xmlns:a16="http://schemas.microsoft.com/office/drawing/2014/main" id="{C344447D-CF51-4242-8AB6-34D555833608}"/>
              </a:ext>
            </a:extLst>
          </p:cNvPr>
          <p:cNvSpPr>
            <a:spLocks xmlns:a="http://schemas.openxmlformats.org/drawingml/2006/main" noGrp="1"/>
          </p:cNvSpPr>
          <p:nvPr/>
        </p:nvSpPr>
        <p:spPr>
          <a:xfrm xmlns:a="http://schemas.openxmlformats.org/drawingml/2006/main">
            <a:off x="5924550" y="26574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Basic Auth · eigene Notizen</a:t>
            </a:r>
          </a:p>
        </p:txBody>
      </p:sp>
      <p:sp>
        <p:nvSpPr>
          <p:cNvPr id="14" name="">
            <a:extLst xmlns:a="http://schemas.openxmlformats.org/drawingml/2006/main">
              <a:ext uri="{FF2B5EF4-FFF2-40B4-BE49-F238E27FC236}">
                <a16:creationId xmlns:a16="http://schemas.microsoft.com/office/drawing/2014/main" id="{F33259C0-8FC7-43CA-9835-8A44514065BC}"/>
              </a:ext>
            </a:extLst>
          </p:cNvPr>
          <p:cNvSpPr>
            <a:spLocks xmlns:a="http://schemas.openxmlformats.org/drawingml/2006/main" noGrp="1"/>
          </p:cNvSpPr>
          <p:nvPr/>
        </p:nvSpPr>
        <p:spPr>
          <a:xfrm xmlns:a="http://schemas.openxmlformats.org/drawingml/2006/main">
            <a:off x="733425" y="3524250"/>
            <a:ext cx="105346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869649A6-C8CF-4055-A18D-009713A9B004}"/>
              </a:ext>
            </a:extLst>
          </p:cNvPr>
          <p:cNvSpPr>
            <a:spLocks xmlns:a="http://schemas.openxmlformats.org/drawingml/2006/main" noGrp="1"/>
          </p:cNvSpPr>
          <p:nvPr/>
        </p:nvSpPr>
        <p:spPr>
          <a:xfrm xmlns:a="http://schemas.openxmlformats.org/drawingml/2006/main">
            <a:off x="781050" y="3676650"/>
            <a:ext cx="47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xmlns:a="http://schemas.openxmlformats.org/drawingml/2006/main">
            <a:pPr algn="l">
              <a:defRPr sz="2100" b="1">
                <a:solidFill>
                  <a:srgbClr val="C55A2B"/>
                </a:solidFill>
                <a:latin typeface="Arial"/>
                <a:ea typeface="Arial"/>
                <a:cs typeface="Arial"/>
              </a:defRPr>
            </a:pPr>
            <a:r>
              <a:rPr sz="2100" b="1">
                <a:solidFill>
                  <a:srgbClr val="C55A2B"/>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9F6EB13E-34A6-41AA-BF64-3012670EC91B}"/>
              </a:ext>
            </a:extLst>
          </p:cNvPr>
          <p:cNvSpPr>
            <a:spLocks xmlns:a="http://schemas.openxmlformats.org/drawingml/2006/main" noGrp="1"/>
          </p:cNvSpPr>
          <p:nvPr/>
        </p:nvSpPr>
        <p:spPr>
          <a:xfrm xmlns:a="http://schemas.openxmlformats.org/drawingml/2006/main">
            <a:off x="1390650" y="36766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xmlns:a="http://schemas.openxmlformats.org/drawingml/2006/main">
            <a:pPr algn="l">
              <a:defRPr sz="2025" b="1">
                <a:solidFill>
                  <a:srgbClr val="202935"/>
                </a:solidFill>
                <a:latin typeface="Arial"/>
                <a:ea typeface="Arial"/>
                <a:cs typeface="Arial"/>
              </a:defRPr>
            </a:pPr>
            <a:r>
              <a:rPr sz="2025" b="1">
                <a:solidFill>
                  <a:srgbClr val="202935"/>
                </a:solidFill>
                <a:latin typeface="Arial"/>
                <a:ea typeface="Arial"/>
                <a:cs typeface="Arial"/>
              </a:rPr>
              <a:t>POST /documents/search</a:t>
            </a:r>
          </a:p>
        </p:txBody>
      </p:sp>
      <p:sp>
        <p:nvSpPr>
          <p:cNvPr id="17" name="">
            <a:extLst xmlns:a="http://schemas.openxmlformats.org/drawingml/2006/main">
              <a:ext uri="{FF2B5EF4-FFF2-40B4-BE49-F238E27FC236}">
                <a16:creationId xmlns:a16="http://schemas.microsoft.com/office/drawing/2014/main" id="{613A710B-41AF-4CC0-B2BD-6C41D652B7A8}"/>
              </a:ext>
            </a:extLst>
          </p:cNvPr>
          <p:cNvSpPr>
            <a:spLocks xmlns:a="http://schemas.openxmlformats.org/drawingml/2006/main" noGrp="1"/>
          </p:cNvSpPr>
          <p:nvPr/>
        </p:nvSpPr>
        <p:spPr>
          <a:xfrm xmlns:a="http://schemas.openxmlformats.org/drawingml/2006/main">
            <a:off x="5924550" y="36861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Basic Auth · Filter nach department</a:t>
            </a:r>
          </a:p>
        </p:txBody>
      </p:sp>
      <p:sp>
        <p:nvSpPr>
          <p:cNvPr id="18" name="">
            <a:extLst xmlns:a="http://schemas.openxmlformats.org/drawingml/2006/main">
              <a:ext uri="{FF2B5EF4-FFF2-40B4-BE49-F238E27FC236}">
                <a16:creationId xmlns:a16="http://schemas.microsoft.com/office/drawing/2014/main" id="{EA39E1F3-FDDB-4712-8F4D-211B3E65953E}"/>
              </a:ext>
            </a:extLst>
          </p:cNvPr>
          <p:cNvSpPr>
            <a:spLocks xmlns:a="http://schemas.openxmlformats.org/drawingml/2006/main" noGrp="1"/>
          </p:cNvSpPr>
          <p:nvPr/>
        </p:nvSpPr>
        <p:spPr>
          <a:xfrm xmlns:a="http://schemas.openxmlformats.org/drawingml/2006/main">
            <a:off x="733425" y="4552950"/>
            <a:ext cx="105346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9" name="">
            <a:extLst xmlns:a="http://schemas.openxmlformats.org/drawingml/2006/main">
              <a:ext uri="{FF2B5EF4-FFF2-40B4-BE49-F238E27FC236}">
                <a16:creationId xmlns:a16="http://schemas.microsoft.com/office/drawing/2014/main" id="{6942DD45-3D88-467F-8649-B7C958EE9EB4}"/>
              </a:ext>
            </a:extLst>
          </p:cNvPr>
          <p:cNvSpPr>
            <a:spLocks xmlns:a="http://schemas.openxmlformats.org/drawingml/2006/main" noGrp="1"/>
          </p:cNvSpPr>
          <p:nvPr/>
        </p:nvSpPr>
        <p:spPr>
          <a:xfrm xmlns:a="http://schemas.openxmlformats.org/drawingml/2006/main">
            <a:off x="781050" y="4705350"/>
            <a:ext cx="47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xmlns:a="http://schemas.openxmlformats.org/drawingml/2006/main">
            <a:pPr algn="l">
              <a:defRPr sz="2100" b="1">
                <a:solidFill>
                  <a:srgbClr val="C55A2B"/>
                </a:solidFill>
                <a:latin typeface="Arial"/>
                <a:ea typeface="Arial"/>
                <a:cs typeface="Arial"/>
              </a:defRPr>
            </a:pPr>
            <a:r>
              <a:rPr sz="2100" b="1">
                <a:solidFill>
                  <a:srgbClr val="C55A2B"/>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D757D0F5-1987-4E36-B9D4-5C11D48F844B}"/>
              </a:ext>
            </a:extLst>
          </p:cNvPr>
          <p:cNvSpPr>
            <a:spLocks xmlns:a="http://schemas.openxmlformats.org/drawingml/2006/main" noGrp="1"/>
          </p:cNvSpPr>
          <p:nvPr/>
        </p:nvSpPr>
        <p:spPr>
          <a:xfrm xmlns:a="http://schemas.openxmlformats.org/drawingml/2006/main">
            <a:off x="1390650" y="47053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xmlns:a="http://schemas.openxmlformats.org/drawingml/2006/main">
            <a:pPr algn="l">
              <a:defRPr sz="2025" b="1">
                <a:solidFill>
                  <a:srgbClr val="202935"/>
                </a:solidFill>
                <a:latin typeface="Arial"/>
                <a:ea typeface="Arial"/>
                <a:cs typeface="Arial"/>
              </a:defRPr>
            </a:pPr>
            <a:r>
              <a:rPr sz="2025" b="1">
                <a:solidFill>
                  <a:srgbClr val="202935"/>
                </a:solidFill>
                <a:latin typeface="Arial"/>
                <a:ea typeface="Arial"/>
                <a:cs typeface="Arial"/>
              </a:rPr>
              <a:t>GET /warheads</a:t>
            </a:r>
          </a:p>
        </p:txBody>
      </p:sp>
      <p:sp>
        <p:nvSpPr>
          <p:cNvPr id="21" name="">
            <a:extLst xmlns:a="http://schemas.openxmlformats.org/drawingml/2006/main">
              <a:ext uri="{FF2B5EF4-FFF2-40B4-BE49-F238E27FC236}">
                <a16:creationId xmlns:a16="http://schemas.microsoft.com/office/drawing/2014/main" id="{3C996750-4FBE-457A-B7D0-C4BEEC53DFF5}"/>
              </a:ext>
            </a:extLst>
          </p:cNvPr>
          <p:cNvSpPr>
            <a:spLocks xmlns:a="http://schemas.openxmlformats.org/drawingml/2006/main" noGrp="1"/>
          </p:cNvSpPr>
          <p:nvPr/>
        </p:nvSpPr>
        <p:spPr>
          <a:xfrm xmlns:a="http://schemas.openxmlformats.org/drawingml/2006/main">
            <a:off x="5924550" y="47148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JWT erforderlich</a:t>
            </a:r>
          </a:p>
        </p:txBody>
      </p:sp>
    </p:spTree>
    <p:extLst>
      <p:ext uri="{BB962C8B-B14F-4D97-AF65-F5344CB8AC3E}">
        <p14:creationId xmlns:p14="http://schemas.microsoft.com/office/powerpoint/2010/main" val="193446983"/>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8C7B5DF-0811-4B0C-9150-9FFCA353D552}"/>
              </a:ext>
            </a:extLst>
          </p:cNvPr>
          <p:cNvCxnSpPr>
            <a:stCxn xmlns:a="http://schemas.openxmlformats.org/drawingml/2006/main" id="11" idx="3"/>
            <a:endCxn xmlns:a="http://schemas.openxmlformats.org/drawingml/2006/main" id="13" idx="1"/>
          </p:cNvCxnSpPr>
          <p:nvPr/>
        </p:nvCxnSpPr>
        <p:spPr>
          <a:xfrm xmlns:a="http://schemas.openxmlformats.org/drawingml/2006/main">
            <a:off x="8772525" y="3767138"/>
            <a:ext cx="52387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8035C3AA-64FE-4CFE-8585-50A1125E21C4}"/>
              </a:ext>
            </a:extLst>
          </p:cNvPr>
          <p:cNvCxnSpPr>
            <a:stCxn xmlns:a="http://schemas.openxmlformats.org/drawingml/2006/main" id="9" idx="3"/>
            <a:endCxn xmlns:a="http://schemas.openxmlformats.org/drawingml/2006/main" id="11" idx="1"/>
          </p:cNvCxnSpPr>
          <p:nvPr/>
        </p:nvCxnSpPr>
        <p:spPr>
          <a:xfrm xmlns:a="http://schemas.openxmlformats.org/drawingml/2006/main">
            <a:off x="5924550" y="3767138"/>
            <a:ext cx="52387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292C6A73-421F-4AEE-85CE-CD4D5637755F}"/>
              </a:ext>
            </a:extLst>
          </p:cNvPr>
          <p:cNvCxnSpPr>
            <a:stCxn xmlns:a="http://schemas.openxmlformats.org/drawingml/2006/main" id="7" idx="3"/>
            <a:endCxn xmlns:a="http://schemas.openxmlformats.org/drawingml/2006/main" id="9" idx="1"/>
          </p:cNvCxnSpPr>
          <p:nvPr/>
        </p:nvCxnSpPr>
        <p:spPr>
          <a:xfrm xmlns:a="http://schemas.openxmlformats.org/drawingml/2006/main">
            <a:off x="3076575" y="3767138"/>
            <a:ext cx="523875"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sp>
        <p:nvSpPr>
          <p:cNvPr id="18" name="">
            <a:extLst xmlns:a="http://schemas.openxmlformats.org/drawingml/2006/main">
              <a:ext uri="{FF2B5EF4-FFF2-40B4-BE49-F238E27FC236}">
                <a16:creationId xmlns:a16="http://schemas.microsoft.com/office/drawing/2014/main" id="{99AE8BE1-DF2C-4206-BDB7-664EC7949558}"/>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6BCDC1-60A8-4EA3-996D-7E61C340F77C}"/>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Meine Forschungsfrage</a:t>
            </a:r>
          </a:p>
        </p:txBody>
      </p:sp>
      <p:sp>
        <p:nvSpPr>
          <p:cNvPr id="3" name="">
            <a:extLst xmlns:a="http://schemas.openxmlformats.org/drawingml/2006/main">
              <a:ext uri="{FF2B5EF4-FFF2-40B4-BE49-F238E27FC236}">
                <a16:creationId xmlns:a16="http://schemas.microsoft.com/office/drawing/2014/main" id="{5B4DC3DD-CA35-442F-AB48-9F50BF397663}"/>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D5130C29-D629-45A0-92FE-C53EC5146760}"/>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BA9D49E2-A9B7-40CE-9D95-A5FDB53D4EA5}"/>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B1BBCF0D-2F50-44A9-B780-113539789687}"/>
              </a:ext>
            </a:extLst>
          </p:cNvPr>
          <p:cNvSpPr>
            <a:spLocks xmlns:a="http://schemas.openxmlformats.org/drawingml/2006/main" noGrp="1"/>
          </p:cNvSpPr>
          <p:nvPr/>
        </p:nvSpPr>
        <p:spPr>
          <a:xfrm xmlns:a="http://schemas.openxmlformats.org/drawingml/2006/main">
            <a:off x="742950" y="1476375"/>
            <a:ext cx="1019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2935"/>
                </a:solidFill>
                <a:latin typeface="Arial"/>
                <a:ea typeface="Arial"/>
                <a:cs typeface="Arial"/>
              </a:defRPr>
            </a:defPPr>
            <a:lvl1pPr algn="l">
              <a:defRPr sz="2550" b="1">
                <a:solidFill>
                  <a:srgbClr val="202935"/>
                </a:solidFill>
                <a:latin typeface="Arial"/>
                <a:ea typeface="Arial"/>
                <a:cs typeface="Arial"/>
              </a:defRPr>
            </a:lvl1pPr>
            <a:lvl2pPr algn="l">
              <a:defRPr sz="2550" b="1">
                <a:solidFill>
                  <a:srgbClr val="202935"/>
                </a:solidFill>
                <a:latin typeface="Arial"/>
                <a:ea typeface="Arial"/>
                <a:cs typeface="Arial"/>
              </a:defRPr>
            </a:lvl2pPr>
            <a:lvl3pPr algn="l">
              <a:defRPr sz="2550" b="1">
                <a:solidFill>
                  <a:srgbClr val="202935"/>
                </a:solidFill>
                <a:latin typeface="Arial"/>
                <a:ea typeface="Arial"/>
                <a:cs typeface="Arial"/>
              </a:defRPr>
            </a:lvl3pPr>
            <a:lvl4pPr algn="l">
              <a:defRPr sz="2550" b="1">
                <a:solidFill>
                  <a:srgbClr val="202935"/>
                </a:solidFill>
                <a:latin typeface="Arial"/>
                <a:ea typeface="Arial"/>
                <a:cs typeface="Arial"/>
              </a:defRPr>
            </a:lvl4pPr>
            <a:lvl5pPr algn="l">
              <a:defRPr sz="2550" b="1">
                <a:solidFill>
                  <a:srgbClr val="202935"/>
                </a:solidFill>
                <a:latin typeface="Arial"/>
                <a:ea typeface="Arial"/>
                <a:cs typeface="Arial"/>
              </a:defRPr>
            </a:lvl5pPr>
            <a:lvl6pPr algn="l">
              <a:defRPr sz="2550" b="1">
                <a:solidFill>
                  <a:srgbClr val="202935"/>
                </a:solidFill>
                <a:latin typeface="Arial"/>
                <a:ea typeface="Arial"/>
                <a:cs typeface="Arial"/>
              </a:defRPr>
            </a:lvl6pPr>
            <a:lvl7pPr algn="l">
              <a:defRPr sz="2550" b="1">
                <a:solidFill>
                  <a:srgbClr val="202935"/>
                </a:solidFill>
                <a:latin typeface="Arial"/>
                <a:ea typeface="Arial"/>
                <a:cs typeface="Arial"/>
              </a:defRPr>
            </a:lvl7pPr>
            <a:lvl8pPr algn="l">
              <a:defRPr sz="2550" b="1">
                <a:solidFill>
                  <a:srgbClr val="202935"/>
                </a:solidFill>
                <a:latin typeface="Arial"/>
                <a:ea typeface="Arial"/>
                <a:cs typeface="Arial"/>
              </a:defRPr>
            </a:lvl8pPr>
            <a:lvl9pPr algn="l">
              <a:defRPr sz="2550" b="1">
                <a:solidFill>
                  <a:srgbClr val="202935"/>
                </a:solidFill>
                <a:latin typeface="Arial"/>
                <a:ea typeface="Arial"/>
                <a:cs typeface="Arial"/>
              </a:defRPr>
            </a:lvl9pPr>
          </a:lstStyle>
          <a:p xmlns:a="http://schemas.openxmlformats.org/drawingml/2006/main">
            <a:pPr algn="l">
              <a:defRPr sz="2550" b="1">
                <a:solidFill>
                  <a:srgbClr val="202935"/>
                </a:solidFill>
                <a:latin typeface="Arial"/>
                <a:ea typeface="Arial"/>
                <a:cs typeface="Arial"/>
              </a:defRPr>
            </a:pPr>
            <a:r>
              <a:rPr sz="2550" b="1">
                <a:solidFill>
                  <a:srgbClr val="202935"/>
                </a:solidFill>
                <a:latin typeface="Arial"/>
                <a:ea typeface="Arial"/>
                <a:cs typeface="Arial"/>
              </a:rPr>
              <a:t>Wie weit kommt man mit mehreren kleinen Schwächen?</a:t>
            </a:r>
          </a:p>
        </p:txBody>
      </p:sp>
      <p:sp>
        <p:nvSpPr>
          <p:cNvPr id="7" name="">
            <a:extLst xmlns:a="http://schemas.openxmlformats.org/drawingml/2006/main">
              <a:ext uri="{FF2B5EF4-FFF2-40B4-BE49-F238E27FC236}">
                <a16:creationId xmlns:a16="http://schemas.microsoft.com/office/drawing/2014/main" id="{882735FD-34B6-4E3A-BB0E-35ECDE5D029D}"/>
              </a:ext>
            </a:extLst>
          </p:cNvPr>
          <p:cNvSpPr>
            <a:spLocks xmlns:a="http://schemas.openxmlformats.org/drawingml/2006/main" noGrp="1"/>
          </p:cNvSpPr>
          <p:nvPr/>
        </p:nvSpPr>
        <p:spPr>
          <a:xfrm xmlns:a="http://schemas.openxmlformats.org/drawingml/2006/main">
            <a:off x="752475" y="3228975"/>
            <a:ext cx="2324100" cy="10763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7591ED7E-C9CE-48EA-8CC5-9D82AF7CE6DE}"/>
              </a:ext>
            </a:extLst>
          </p:cNvPr>
          <p:cNvSpPr>
            <a:spLocks xmlns:a="http://schemas.openxmlformats.org/drawingml/2006/main" noGrp="1"/>
          </p:cNvSpPr>
          <p:nvPr/>
        </p:nvSpPr>
        <p:spPr>
          <a:xfrm xmlns:a="http://schemas.openxmlformats.org/drawingml/2006/main">
            <a:off x="904875" y="33432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Startzugang</a:t>
            </a:r>
          </a:p>
        </p:txBody>
      </p:sp>
      <p:sp>
        <p:nvSpPr>
          <p:cNvPr id="9" name="">
            <a:extLst xmlns:a="http://schemas.openxmlformats.org/drawingml/2006/main">
              <a:ext uri="{FF2B5EF4-FFF2-40B4-BE49-F238E27FC236}">
                <a16:creationId xmlns:a16="http://schemas.microsoft.com/office/drawing/2014/main" id="{0538C287-A4DF-4071-BC03-78AAC668215E}"/>
              </a:ext>
            </a:extLst>
          </p:cNvPr>
          <p:cNvSpPr>
            <a:spLocks xmlns:a="http://schemas.openxmlformats.org/drawingml/2006/main" noGrp="1"/>
          </p:cNvSpPr>
          <p:nvPr/>
        </p:nvSpPr>
        <p:spPr>
          <a:xfrm xmlns:a="http://schemas.openxmlformats.org/drawingml/2006/main">
            <a:off x="3600450" y="3228975"/>
            <a:ext cx="232410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10" name="">
            <a:extLst xmlns:a="http://schemas.openxmlformats.org/drawingml/2006/main">
              <a:ext uri="{FF2B5EF4-FFF2-40B4-BE49-F238E27FC236}">
                <a16:creationId xmlns:a16="http://schemas.microsoft.com/office/drawing/2014/main" id="{315B2802-FAE6-4A3F-A1BF-D14E3F415B8A}"/>
              </a:ext>
            </a:extLst>
          </p:cNvPr>
          <p:cNvSpPr>
            <a:spLocks xmlns:a="http://schemas.openxmlformats.org/drawingml/2006/main" noGrp="1"/>
          </p:cNvSpPr>
          <p:nvPr/>
        </p:nvSpPr>
        <p:spPr>
          <a:xfrm xmlns:a="http://schemas.openxmlformats.org/drawingml/2006/main">
            <a:off x="3752850" y="33432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Geänderter Input</a:t>
            </a:r>
          </a:p>
        </p:txBody>
      </p:sp>
      <p:sp>
        <p:nvSpPr>
          <p:cNvPr id="11" name="">
            <a:extLst xmlns:a="http://schemas.openxmlformats.org/drawingml/2006/main">
              <a:ext uri="{FF2B5EF4-FFF2-40B4-BE49-F238E27FC236}">
                <a16:creationId xmlns:a16="http://schemas.microsoft.com/office/drawing/2014/main" id="{0A99C494-0319-4FAD-B1DE-CB216908714E}"/>
              </a:ext>
            </a:extLst>
          </p:cNvPr>
          <p:cNvSpPr>
            <a:spLocks xmlns:a="http://schemas.openxmlformats.org/drawingml/2006/main" noGrp="1"/>
          </p:cNvSpPr>
          <p:nvPr/>
        </p:nvSpPr>
        <p:spPr>
          <a:xfrm xmlns:a="http://schemas.openxmlformats.org/drawingml/2006/main">
            <a:off x="6448425" y="3228975"/>
            <a:ext cx="2324100" cy="10763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A66F4AFB-17C2-4534-8FBC-1337D1F34F04}"/>
              </a:ext>
            </a:extLst>
          </p:cNvPr>
          <p:cNvSpPr>
            <a:spLocks xmlns:a="http://schemas.openxmlformats.org/drawingml/2006/main" noGrp="1"/>
          </p:cNvSpPr>
          <p:nvPr/>
        </p:nvSpPr>
        <p:spPr>
          <a:xfrm xmlns:a="http://schemas.openxmlformats.org/drawingml/2006/main">
            <a:off x="6600825" y="33432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Beobachtung</a:t>
            </a:r>
          </a:p>
        </p:txBody>
      </p:sp>
      <p:sp>
        <p:nvSpPr>
          <p:cNvPr id="13" name="">
            <a:extLst xmlns:a="http://schemas.openxmlformats.org/drawingml/2006/main">
              <a:ext uri="{FF2B5EF4-FFF2-40B4-BE49-F238E27FC236}">
                <a16:creationId xmlns:a16="http://schemas.microsoft.com/office/drawing/2014/main" id="{F829E5A4-0F9C-4F84-A6B0-C9A889819AC4}"/>
              </a:ext>
            </a:extLst>
          </p:cNvPr>
          <p:cNvSpPr>
            <a:spLocks xmlns:a="http://schemas.openxmlformats.org/drawingml/2006/main" noGrp="1"/>
          </p:cNvSpPr>
          <p:nvPr/>
        </p:nvSpPr>
        <p:spPr>
          <a:xfrm xmlns:a="http://schemas.openxmlformats.org/drawingml/2006/main">
            <a:off x="9296400" y="3228975"/>
            <a:ext cx="2324100" cy="10763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42B3C30C-40FC-4C14-9CDA-00CD60EF6376}"/>
              </a:ext>
            </a:extLst>
          </p:cNvPr>
          <p:cNvSpPr>
            <a:spLocks xmlns:a="http://schemas.openxmlformats.org/drawingml/2006/main" noGrp="1"/>
          </p:cNvSpPr>
          <p:nvPr/>
        </p:nvSpPr>
        <p:spPr>
          <a:xfrm xmlns:a="http://schemas.openxmlformats.org/drawingml/2006/main">
            <a:off x="9448800" y="33432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Nächster Schritt</a:t>
            </a:r>
          </a:p>
        </p:txBody>
      </p:sp>
    </p:spTree>
    <p:extLst>
      <p:ext uri="{BB962C8B-B14F-4D97-AF65-F5344CB8AC3E}">
        <p14:creationId xmlns:p14="http://schemas.microsoft.com/office/powerpoint/2010/main" val="235771909"/>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4A49F6-2707-4726-AB5F-0AA3907ECF27}"/>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B50872-8AF4-4BD3-ABCF-DD1E9A5383A2}"/>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Experiment 1: Gateway und SpEL</a:t>
            </a:r>
          </a:p>
        </p:txBody>
      </p:sp>
      <p:sp>
        <p:nvSpPr>
          <p:cNvPr id="3" name="">
            <a:extLst xmlns:a="http://schemas.openxmlformats.org/drawingml/2006/main">
              <a:ext uri="{FF2B5EF4-FFF2-40B4-BE49-F238E27FC236}">
                <a16:creationId xmlns:a16="http://schemas.microsoft.com/office/drawing/2014/main" id="{1969F9DF-76F4-41AD-B5BE-4E5634E5E161}"/>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2A4CB0F5-D59F-4241-9673-D5EFAEAE600F}"/>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CD42A6E0-0BFA-4F6E-B5A4-3070300CD2DA}"/>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045C5E97-BD3E-44E2-9CD1-B8971AB4BC89}"/>
              </a:ext>
            </a:extLst>
          </p:cNvPr>
          <p:cNvSpPr>
            <a:spLocks xmlns:a="http://schemas.openxmlformats.org/drawingml/2006/main" noGrp="1"/>
          </p:cNvSpPr>
          <p:nvPr/>
        </p:nvSpPr>
        <p:spPr>
          <a:xfrm xmlns:a="http://schemas.openxmlformats.org/drawingml/2006/main">
            <a:off x="742950" y="1466850"/>
            <a:ext cx="390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AUSGANGSPUNKT</a:t>
            </a:r>
          </a:p>
        </p:txBody>
      </p:sp>
      <p:sp>
        <p:nvSpPr>
          <p:cNvPr id="7" name="">
            <a:extLst xmlns:a="http://schemas.openxmlformats.org/drawingml/2006/main">
              <a:ext uri="{FF2B5EF4-FFF2-40B4-BE49-F238E27FC236}">
                <a16:creationId xmlns:a16="http://schemas.microsoft.com/office/drawing/2014/main" id="{09CB3255-68FE-4332-8D2E-55816C6BDE93}"/>
              </a:ext>
            </a:extLst>
          </p:cNvPr>
          <p:cNvSpPr>
            <a:spLocks xmlns:a="http://schemas.openxmlformats.org/drawingml/2006/main" noGrp="1"/>
          </p:cNvSpPr>
          <p:nvPr/>
        </p:nvSpPr>
        <p:spPr>
          <a:xfrm xmlns:a="http://schemas.openxmlformats.org/drawingml/2006/main">
            <a:off x="742950" y="1828800"/>
            <a:ext cx="4362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Gateway Actuator ist öffentlich erreichbar.</a:t>
            </a:r>
          </a:p>
        </p:txBody>
      </p:sp>
      <p:sp>
        <p:nvSpPr>
          <p:cNvPr id="8" name="">
            <a:extLst xmlns:a="http://schemas.openxmlformats.org/drawingml/2006/main">
              <a:ext uri="{FF2B5EF4-FFF2-40B4-BE49-F238E27FC236}">
                <a16:creationId xmlns:a16="http://schemas.microsoft.com/office/drawing/2014/main" id="{262F96BA-4498-482A-A827-18FD417D3337}"/>
              </a:ext>
            </a:extLst>
          </p:cNvPr>
          <p:cNvSpPr>
            <a:spLocks xmlns:a="http://schemas.openxmlformats.org/drawingml/2006/main" noGrp="1"/>
          </p:cNvSpPr>
          <p:nvPr/>
        </p:nvSpPr>
        <p:spPr>
          <a:xfrm xmlns:a="http://schemas.openxmlformats.org/drawingml/2006/main">
            <a:off x="6400800" y="14668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GEÄNDERTER INPUT</a:t>
            </a:r>
          </a:p>
        </p:txBody>
      </p:sp>
      <p:sp>
        <p:nvSpPr>
          <p:cNvPr id="9" name="">
            <a:extLst xmlns:a="http://schemas.openxmlformats.org/drawingml/2006/main">
              <a:ext uri="{FF2B5EF4-FFF2-40B4-BE49-F238E27FC236}">
                <a16:creationId xmlns:a16="http://schemas.microsoft.com/office/drawing/2014/main" id="{FE519C69-822B-45F5-9F2F-3595DA0B73F2}"/>
              </a:ext>
            </a:extLst>
          </p:cNvPr>
          <p:cNvSpPr>
            <a:spLocks xmlns:a="http://schemas.openxmlformats.org/drawingml/2006/main" noGrp="1"/>
          </p:cNvSpPr>
          <p:nvPr/>
        </p:nvSpPr>
        <p:spPr>
          <a:xfrm xmlns:a="http://schemas.openxmlformats.org/drawingml/2006/main">
            <a:off x="6400800" y="1828800"/>
            <a:ext cx="46291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Route Configuration enthält einen SpEL-Ausdruck.</a:t>
            </a:r>
          </a:p>
        </p:txBody>
      </p:sp>
      <p:sp>
        <p:nvSpPr>
          <p:cNvPr id="10" name="">
            <a:extLst xmlns:a="http://schemas.openxmlformats.org/drawingml/2006/main">
              <a:ext uri="{FF2B5EF4-FFF2-40B4-BE49-F238E27FC236}">
                <a16:creationId xmlns:a16="http://schemas.microsoft.com/office/drawing/2014/main" id="{B6A66048-2066-4C76-9B65-D0BAE5415E23}"/>
              </a:ext>
            </a:extLst>
          </p:cNvPr>
          <p:cNvSpPr>
            <a:spLocks xmlns:a="http://schemas.openxmlformats.org/drawingml/2006/main" noGrp="1"/>
          </p:cNvSpPr>
          <p:nvPr/>
        </p:nvSpPr>
        <p:spPr>
          <a:xfrm xmlns:a="http://schemas.openxmlformats.org/drawingml/2006/main">
            <a:off x="723900" y="3333750"/>
            <a:ext cx="10287000" cy="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11" name="">
            <a:extLst xmlns:a="http://schemas.openxmlformats.org/drawingml/2006/main">
              <a:ext uri="{FF2B5EF4-FFF2-40B4-BE49-F238E27FC236}">
                <a16:creationId xmlns:a16="http://schemas.microsoft.com/office/drawing/2014/main" id="{669A7F24-420A-4DBD-B680-A7BC8853870C}"/>
              </a:ext>
            </a:extLst>
          </p:cNvPr>
          <p:cNvSpPr>
            <a:spLocks xmlns:a="http://schemas.openxmlformats.org/drawingml/2006/main" noGrp="1"/>
          </p:cNvSpPr>
          <p:nvPr/>
        </p:nvSpPr>
        <p:spPr>
          <a:xfrm xmlns:a="http://schemas.openxmlformats.org/drawingml/2006/main">
            <a:off x="742950" y="3733800"/>
            <a:ext cx="1038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xmlns:a="http://schemas.openxmlformats.org/drawingml/2006/main">
            <a:pPr algn="l">
              <a:defRPr sz="2250" b="1">
                <a:solidFill>
                  <a:srgbClr val="C55A2B"/>
                </a:solidFill>
                <a:latin typeface="Arial"/>
                <a:ea typeface="Arial"/>
                <a:cs typeface="Arial"/>
              </a:defRPr>
            </a:pPr>
            <a:r>
              <a:rPr sz="2250" b="1">
                <a:solidFill>
                  <a:srgbClr val="C55A2B"/>
                </a:solidFill>
                <a:latin typeface="Arial"/>
                <a:ea typeface="Arial"/>
                <a:cs typeface="Arial"/>
              </a:rPr>
              <a:t>Ergebnis: Ein Runtime Setting wird beim Erstellen der Route verändert.</a:t>
            </a:r>
          </a:p>
        </p:txBody>
      </p:sp>
      <p:sp>
        <p:nvSpPr>
          <p:cNvPr id="12" name="">
            <a:extLst xmlns:a="http://schemas.openxmlformats.org/drawingml/2006/main">
              <a:ext uri="{FF2B5EF4-FFF2-40B4-BE49-F238E27FC236}">
                <a16:creationId xmlns:a16="http://schemas.microsoft.com/office/drawing/2014/main" id="{DB6FD236-31C5-4998-9644-290C2841A393}"/>
              </a:ext>
            </a:extLst>
          </p:cNvPr>
          <p:cNvSpPr>
            <a:spLocks xmlns:a="http://schemas.openxmlformats.org/drawingml/2006/main" noGrp="1"/>
          </p:cNvSpPr>
          <p:nvPr/>
        </p:nvSpPr>
        <p:spPr>
          <a:xfrm xmlns:a="http://schemas.openxmlformats.org/drawingml/2006/main">
            <a:off x="742950" y="52578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5D6872"/>
                </a:solidFill>
                <a:latin typeface="Arial"/>
                <a:ea typeface="Arial"/>
                <a:cs typeface="Arial"/>
              </a:defRPr>
            </a:defPPr>
            <a:lvl1pPr algn="l">
              <a:defRPr sz="1575" b="1">
                <a:solidFill>
                  <a:srgbClr val="5D6872"/>
                </a:solidFill>
                <a:latin typeface="Arial"/>
                <a:ea typeface="Arial"/>
                <a:cs typeface="Arial"/>
              </a:defRPr>
            </a:lvl1pPr>
            <a:lvl2pPr algn="l">
              <a:defRPr sz="1575" b="1">
                <a:solidFill>
                  <a:srgbClr val="5D6872"/>
                </a:solidFill>
                <a:latin typeface="Arial"/>
                <a:ea typeface="Arial"/>
                <a:cs typeface="Arial"/>
              </a:defRPr>
            </a:lvl2pPr>
            <a:lvl3pPr algn="l">
              <a:defRPr sz="1575" b="1">
                <a:solidFill>
                  <a:srgbClr val="5D6872"/>
                </a:solidFill>
                <a:latin typeface="Arial"/>
                <a:ea typeface="Arial"/>
                <a:cs typeface="Arial"/>
              </a:defRPr>
            </a:lvl3pPr>
            <a:lvl4pPr algn="l">
              <a:defRPr sz="1575" b="1">
                <a:solidFill>
                  <a:srgbClr val="5D6872"/>
                </a:solidFill>
                <a:latin typeface="Arial"/>
                <a:ea typeface="Arial"/>
                <a:cs typeface="Arial"/>
              </a:defRPr>
            </a:lvl4pPr>
            <a:lvl5pPr algn="l">
              <a:defRPr sz="1575" b="1">
                <a:solidFill>
                  <a:srgbClr val="5D6872"/>
                </a:solidFill>
                <a:latin typeface="Arial"/>
                <a:ea typeface="Arial"/>
                <a:cs typeface="Arial"/>
              </a:defRPr>
            </a:lvl5pPr>
            <a:lvl6pPr algn="l">
              <a:defRPr sz="1575" b="1">
                <a:solidFill>
                  <a:srgbClr val="5D6872"/>
                </a:solidFill>
                <a:latin typeface="Arial"/>
                <a:ea typeface="Arial"/>
                <a:cs typeface="Arial"/>
              </a:defRPr>
            </a:lvl6pPr>
            <a:lvl7pPr algn="l">
              <a:defRPr sz="1575" b="1">
                <a:solidFill>
                  <a:srgbClr val="5D6872"/>
                </a:solidFill>
                <a:latin typeface="Arial"/>
                <a:ea typeface="Arial"/>
                <a:cs typeface="Arial"/>
              </a:defRPr>
            </a:lvl7pPr>
            <a:lvl8pPr algn="l">
              <a:defRPr sz="1575" b="1">
                <a:solidFill>
                  <a:srgbClr val="5D6872"/>
                </a:solidFill>
                <a:latin typeface="Arial"/>
                <a:ea typeface="Arial"/>
                <a:cs typeface="Arial"/>
              </a:defRPr>
            </a:lvl8pPr>
            <a:lvl9pPr algn="l">
              <a:defRPr sz="1575" b="1">
                <a:solidFill>
                  <a:srgbClr val="5D6872"/>
                </a:solidFill>
                <a:latin typeface="Arial"/>
                <a:ea typeface="Arial"/>
                <a:cs typeface="Arial"/>
              </a:defRPr>
            </a:lvl9pPr>
          </a:lstStyle>
          <a:p xmlns:a="http://schemas.openxmlformats.org/drawingml/2006/main">
            <a:pPr algn="l">
              <a:defRPr sz="1575" b="1">
                <a:solidFill>
                  <a:srgbClr val="5D6872"/>
                </a:solidFill>
                <a:latin typeface="Arial"/>
                <a:ea typeface="Arial"/>
                <a:cs typeface="Arial"/>
              </a:defRPr>
            </a:pPr>
            <a:r>
              <a:rPr sz="1575" b="1">
                <a:solidFill>
                  <a:srgbClr val="5D6872"/>
                </a:solidFill>
                <a:latin typeface="Arial"/>
                <a:ea typeface="Arial"/>
                <a:cs typeface="Arial"/>
              </a:rPr>
              <a:t>Live Demo 1 · Gateway → /users</a:t>
            </a:r>
          </a:p>
        </p:txBody>
      </p:sp>
      <p:sp>
        <p:nvSpPr>
          <p:cNvPr id="13" name="">
            <a:extLst xmlns:a="http://schemas.openxmlformats.org/drawingml/2006/main">
              <a:ext uri="{FF2B5EF4-FFF2-40B4-BE49-F238E27FC236}">
                <a16:creationId xmlns:a16="http://schemas.microsoft.com/office/drawing/2014/main" id="{CA18F2C3-2C7B-4C32-A18A-C77B47425579}"/>
              </a:ext>
            </a:extLst>
          </p:cNvPr>
          <p:cNvSpPr>
            <a:spLocks xmlns:a="http://schemas.openxmlformats.org/drawingml/2006/main" noGrp="1"/>
          </p:cNvSpPr>
          <p:nvPr/>
        </p:nvSpPr>
        <p:spPr>
          <a:xfrm xmlns:a="http://schemas.openxmlformats.org/drawingml/2006/main">
            <a:off x="742950" y="5762625"/>
            <a:ext cx="971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Spring Cloud Gateway 4.2.0 · CVE-2025-41243</a:t>
            </a:r>
          </a:p>
        </p:txBody>
      </p:sp>
    </p:spTree>
    <p:extLst>
      <p:ext uri="{BB962C8B-B14F-4D97-AF65-F5344CB8AC3E}">
        <p14:creationId xmlns:p14="http://schemas.microsoft.com/office/powerpoint/2010/main" val="1137255819"/>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70001B-D0A3-46CF-ADA1-2A9584077551}"/>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2DB807-0501-447C-9D4F-F0E3F7110BFE}"/>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Warum erscheinen Password Hashes?</a:t>
            </a:r>
          </a:p>
        </p:txBody>
      </p:sp>
      <p:sp>
        <p:nvSpPr>
          <p:cNvPr id="3" name="">
            <a:extLst xmlns:a="http://schemas.openxmlformats.org/drawingml/2006/main">
              <a:ext uri="{FF2B5EF4-FFF2-40B4-BE49-F238E27FC236}">
                <a16:creationId xmlns:a16="http://schemas.microsoft.com/office/drawing/2014/main" id="{010C7302-F9F4-42F1-BB5C-46916607BC0D}"/>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34042833-50EE-4231-AD4E-7D2EEB190B0F}"/>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D2F0788A-ADB9-48FB-978D-0213D85492D0}"/>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2CE052EC-B6BB-4CAE-BC9D-C3EEEF367519}"/>
              </a:ext>
            </a:extLst>
          </p:cNvPr>
          <p:cNvSpPr>
            <a:spLocks xmlns:a="http://schemas.openxmlformats.org/drawingml/2006/main" noGrp="1"/>
          </p:cNvSpPr>
          <p:nvPr/>
        </p:nvSpPr>
        <p:spPr>
          <a:xfrm xmlns:a="http://schemas.openxmlformats.org/drawingml/2006/main">
            <a:off x="733425" y="145732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VORHER</a:t>
            </a:r>
          </a:p>
        </p:txBody>
      </p:sp>
      <p:sp>
        <p:nvSpPr>
          <p:cNvPr id="7" name="">
            <a:extLst xmlns:a="http://schemas.openxmlformats.org/drawingml/2006/main">
              <a:ext uri="{FF2B5EF4-FFF2-40B4-BE49-F238E27FC236}">
                <a16:creationId xmlns:a16="http://schemas.microsoft.com/office/drawing/2014/main" id="{248B8D89-B6B8-46BD-816D-9EB3DFAAFB6C}"/>
              </a:ext>
            </a:extLst>
          </p:cNvPr>
          <p:cNvSpPr>
            <a:spLocks xmlns:a="http://schemas.openxmlformats.org/drawingml/2006/main" noGrp="1"/>
          </p:cNvSpPr>
          <p:nvPr/>
        </p:nvSpPr>
        <p:spPr>
          <a:xfrm xmlns:a="http://schemas.openxmlformats.org/drawingml/2006/main">
            <a:off x="6448425" y="1457325"/>
            <a:ext cx="419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NACHHER</a:t>
            </a:r>
          </a:p>
        </p:txBody>
      </p:sp>
      <p:sp>
        <p:nvSpPr>
          <p:cNvPr id="8" name="">
            <a:extLst xmlns:a="http://schemas.openxmlformats.org/drawingml/2006/main">
              <a:ext uri="{FF2B5EF4-FFF2-40B4-BE49-F238E27FC236}">
                <a16:creationId xmlns:a16="http://schemas.microsoft.com/office/drawing/2014/main" id="{B9EA0135-CEDA-484B-BD2B-B36800F778DC}"/>
              </a:ext>
            </a:extLst>
          </p:cNvPr>
          <p:cNvSpPr>
            <a:spLocks xmlns:a="http://schemas.openxmlformats.org/drawingml/2006/main" noGrp="1"/>
          </p:cNvSpPr>
          <p:nvPr/>
        </p:nvSpPr>
        <p:spPr>
          <a:xfrm xmlns:a="http://schemas.openxmlformats.org/drawingml/2006/main">
            <a:off x="723900" y="1847850"/>
            <a:ext cx="4838700" cy="28479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84D3E4D7-49DD-4AAE-8193-2D87A6FFAD87}"/>
              </a:ext>
            </a:extLst>
          </p:cNvPr>
          <p:cNvSpPr>
            <a:spLocks xmlns:a="http://schemas.openxmlformats.org/drawingml/2006/main" noGrp="1"/>
          </p:cNvSpPr>
          <p:nvPr/>
        </p:nvSpPr>
        <p:spPr>
          <a:xfrm xmlns:a="http://schemas.openxmlformats.org/drawingml/2006/main">
            <a:off x="6438900" y="1847850"/>
            <a:ext cx="4838700" cy="284797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10" name="">
            <a:extLst xmlns:a="http://schemas.openxmlformats.org/drawingml/2006/main">
              <a:ext uri="{FF2B5EF4-FFF2-40B4-BE49-F238E27FC236}">
                <a16:creationId xmlns:a16="http://schemas.microsoft.com/office/drawing/2014/main" id="{17B11F1A-A0F5-4C89-912B-2FEBF7119D3C}"/>
              </a:ext>
            </a:extLst>
          </p:cNvPr>
          <p:cNvSpPr>
            <a:spLocks xmlns:a="http://schemas.openxmlformats.org/drawingml/2006/main" noGrp="1"/>
          </p:cNvSpPr>
          <p:nvPr/>
        </p:nvSpPr>
        <p:spPr>
          <a:xfrm xmlns:a="http://schemas.openxmlformats.org/drawingml/2006/main">
            <a:off x="990600" y="2076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202935"/>
                </a:solidFill>
                <a:latin typeface="Arial"/>
                <a:ea typeface="Arial"/>
                <a:cs typeface="Arial"/>
              </a:defRPr>
            </a:defPPr>
            <a:lvl1pPr algn="l">
              <a:defRPr sz="1950" b="1">
                <a:solidFill>
                  <a:srgbClr val="202935"/>
                </a:solidFill>
                <a:latin typeface="Arial"/>
                <a:ea typeface="Arial"/>
                <a:cs typeface="Arial"/>
              </a:defRPr>
            </a:lvl1pPr>
            <a:lvl2pPr algn="l">
              <a:defRPr sz="1950" b="1">
                <a:solidFill>
                  <a:srgbClr val="202935"/>
                </a:solidFill>
                <a:latin typeface="Arial"/>
                <a:ea typeface="Arial"/>
                <a:cs typeface="Arial"/>
              </a:defRPr>
            </a:lvl2pPr>
            <a:lvl3pPr algn="l">
              <a:defRPr sz="1950" b="1">
                <a:solidFill>
                  <a:srgbClr val="202935"/>
                </a:solidFill>
                <a:latin typeface="Arial"/>
                <a:ea typeface="Arial"/>
                <a:cs typeface="Arial"/>
              </a:defRPr>
            </a:lvl3pPr>
            <a:lvl4pPr algn="l">
              <a:defRPr sz="1950" b="1">
                <a:solidFill>
                  <a:srgbClr val="202935"/>
                </a:solidFill>
                <a:latin typeface="Arial"/>
                <a:ea typeface="Arial"/>
                <a:cs typeface="Arial"/>
              </a:defRPr>
            </a:lvl4pPr>
            <a:lvl5pPr algn="l">
              <a:defRPr sz="1950" b="1">
                <a:solidFill>
                  <a:srgbClr val="202935"/>
                </a:solidFill>
                <a:latin typeface="Arial"/>
                <a:ea typeface="Arial"/>
                <a:cs typeface="Arial"/>
              </a:defRPr>
            </a:lvl5pPr>
            <a:lvl6pPr algn="l">
              <a:defRPr sz="1950" b="1">
                <a:solidFill>
                  <a:srgbClr val="202935"/>
                </a:solidFill>
                <a:latin typeface="Arial"/>
                <a:ea typeface="Arial"/>
                <a:cs typeface="Arial"/>
              </a:defRPr>
            </a:lvl6pPr>
            <a:lvl7pPr algn="l">
              <a:defRPr sz="1950" b="1">
                <a:solidFill>
                  <a:srgbClr val="202935"/>
                </a:solidFill>
                <a:latin typeface="Arial"/>
                <a:ea typeface="Arial"/>
                <a:cs typeface="Arial"/>
              </a:defRPr>
            </a:lvl7pPr>
            <a:lvl8pPr algn="l">
              <a:defRPr sz="1950" b="1">
                <a:solidFill>
                  <a:srgbClr val="202935"/>
                </a:solidFill>
                <a:latin typeface="Arial"/>
                <a:ea typeface="Arial"/>
                <a:cs typeface="Arial"/>
              </a:defRPr>
            </a:lvl8pPr>
            <a:lvl9pPr algn="l">
              <a:defRPr sz="1950" b="1">
                <a:solidFill>
                  <a:srgbClr val="202935"/>
                </a:solidFill>
                <a:latin typeface="Arial"/>
                <a:ea typeface="Arial"/>
                <a:cs typeface="Arial"/>
              </a:defRPr>
            </a:lvl9pPr>
          </a:lstStyle>
          <a:p xmlns:a="http://schemas.openxmlformats.org/drawingml/2006/main">
            <a:pPr algn="l">
              <a:defRPr sz="1950" b="1">
                <a:solidFill>
                  <a:srgbClr val="202935"/>
                </a:solidFill>
                <a:latin typeface="Arial"/>
                <a:ea typeface="Arial"/>
                <a:cs typeface="Arial"/>
              </a:defRPr>
            </a:pPr>
            <a:r>
              <a:rPr sz="1950" b="1">
                <a:solidFill>
                  <a:srgbClr val="202935"/>
                </a:solidFill>
                <a:latin typeface="Arial"/>
                <a:ea typeface="Arial"/>
                <a:cs typeface="Arial"/>
              </a:rPr>
              <a:t>GET /users</a:t>
            </a:r>
          </a:p>
        </p:txBody>
      </p:sp>
      <p:sp>
        <p:nvSpPr>
          <p:cNvPr id="11" name="">
            <a:extLst xmlns:a="http://schemas.openxmlformats.org/drawingml/2006/main">
              <a:ext uri="{FF2B5EF4-FFF2-40B4-BE49-F238E27FC236}">
                <a16:creationId xmlns:a16="http://schemas.microsoft.com/office/drawing/2014/main" id="{942FF254-F404-4E4B-8454-3FB116361BB9}"/>
              </a:ext>
            </a:extLst>
          </p:cNvPr>
          <p:cNvSpPr>
            <a:spLocks xmlns:a="http://schemas.openxmlformats.org/drawingml/2006/main" noGrp="1"/>
          </p:cNvSpPr>
          <p:nvPr/>
        </p:nvSpPr>
        <p:spPr>
          <a:xfrm xmlns:a="http://schemas.openxmlformats.org/drawingml/2006/main">
            <a:off x="6715125" y="2076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202935"/>
                </a:solidFill>
                <a:latin typeface="Arial"/>
                <a:ea typeface="Arial"/>
                <a:cs typeface="Arial"/>
              </a:defRPr>
            </a:defPPr>
            <a:lvl1pPr algn="l">
              <a:defRPr sz="1950" b="1">
                <a:solidFill>
                  <a:srgbClr val="202935"/>
                </a:solidFill>
                <a:latin typeface="Arial"/>
                <a:ea typeface="Arial"/>
                <a:cs typeface="Arial"/>
              </a:defRPr>
            </a:lvl1pPr>
            <a:lvl2pPr algn="l">
              <a:defRPr sz="1950" b="1">
                <a:solidFill>
                  <a:srgbClr val="202935"/>
                </a:solidFill>
                <a:latin typeface="Arial"/>
                <a:ea typeface="Arial"/>
                <a:cs typeface="Arial"/>
              </a:defRPr>
            </a:lvl2pPr>
            <a:lvl3pPr algn="l">
              <a:defRPr sz="1950" b="1">
                <a:solidFill>
                  <a:srgbClr val="202935"/>
                </a:solidFill>
                <a:latin typeface="Arial"/>
                <a:ea typeface="Arial"/>
                <a:cs typeface="Arial"/>
              </a:defRPr>
            </a:lvl3pPr>
            <a:lvl4pPr algn="l">
              <a:defRPr sz="1950" b="1">
                <a:solidFill>
                  <a:srgbClr val="202935"/>
                </a:solidFill>
                <a:latin typeface="Arial"/>
                <a:ea typeface="Arial"/>
                <a:cs typeface="Arial"/>
              </a:defRPr>
            </a:lvl4pPr>
            <a:lvl5pPr algn="l">
              <a:defRPr sz="1950" b="1">
                <a:solidFill>
                  <a:srgbClr val="202935"/>
                </a:solidFill>
                <a:latin typeface="Arial"/>
                <a:ea typeface="Arial"/>
                <a:cs typeface="Arial"/>
              </a:defRPr>
            </a:lvl5pPr>
            <a:lvl6pPr algn="l">
              <a:defRPr sz="1950" b="1">
                <a:solidFill>
                  <a:srgbClr val="202935"/>
                </a:solidFill>
                <a:latin typeface="Arial"/>
                <a:ea typeface="Arial"/>
                <a:cs typeface="Arial"/>
              </a:defRPr>
            </a:lvl6pPr>
            <a:lvl7pPr algn="l">
              <a:defRPr sz="1950" b="1">
                <a:solidFill>
                  <a:srgbClr val="202935"/>
                </a:solidFill>
                <a:latin typeface="Arial"/>
                <a:ea typeface="Arial"/>
                <a:cs typeface="Arial"/>
              </a:defRPr>
            </a:lvl7pPr>
            <a:lvl8pPr algn="l">
              <a:defRPr sz="1950" b="1">
                <a:solidFill>
                  <a:srgbClr val="202935"/>
                </a:solidFill>
                <a:latin typeface="Arial"/>
                <a:ea typeface="Arial"/>
                <a:cs typeface="Arial"/>
              </a:defRPr>
            </a:lvl8pPr>
            <a:lvl9pPr algn="l">
              <a:defRPr sz="1950" b="1">
                <a:solidFill>
                  <a:srgbClr val="202935"/>
                </a:solidFill>
                <a:latin typeface="Arial"/>
                <a:ea typeface="Arial"/>
                <a:cs typeface="Arial"/>
              </a:defRPr>
            </a:lvl9pPr>
          </a:lstStyle>
          <a:p xmlns:a="http://schemas.openxmlformats.org/drawingml/2006/main">
            <a:pPr algn="l">
              <a:defRPr sz="1950" b="1">
                <a:solidFill>
                  <a:srgbClr val="202935"/>
                </a:solidFill>
                <a:latin typeface="Arial"/>
                <a:ea typeface="Arial"/>
                <a:cs typeface="Arial"/>
              </a:defRPr>
            </a:pPr>
            <a:r>
              <a:rPr sz="1950" b="1">
                <a:solidFill>
                  <a:srgbClr val="202935"/>
                </a:solidFill>
                <a:latin typeface="Arial"/>
                <a:ea typeface="Arial"/>
                <a:cs typeface="Arial"/>
              </a:rPr>
              <a:t>GET /users</a:t>
            </a:r>
          </a:p>
        </p:txBody>
      </p:sp>
      <p:sp>
        <p:nvSpPr>
          <p:cNvPr id="12" name="">
            <a:extLst xmlns:a="http://schemas.openxmlformats.org/drawingml/2006/main">
              <a:ext uri="{FF2B5EF4-FFF2-40B4-BE49-F238E27FC236}">
                <a16:creationId xmlns:a16="http://schemas.microsoft.com/office/drawing/2014/main" id="{7A7BD9FB-F399-4CFF-BE87-7CB3D573D25B}"/>
              </a:ext>
            </a:extLst>
          </p:cNvPr>
          <p:cNvSpPr>
            <a:spLocks xmlns:a="http://schemas.openxmlformats.org/drawingml/2006/main" noGrp="1"/>
          </p:cNvSpPr>
          <p:nvPr/>
        </p:nvSpPr>
        <p:spPr>
          <a:xfrm xmlns:a="http://schemas.openxmlformats.org/drawingml/2006/main">
            <a:off x="990600" y="2847975"/>
            <a:ext cx="4143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5D6872"/>
                </a:solidFill>
                <a:latin typeface="Arial"/>
                <a:ea typeface="Arial"/>
                <a:cs typeface="Arial"/>
              </a:defRPr>
            </a:defPPr>
            <a:lvl1pPr algn="l">
              <a:defRPr sz="1875" b="0">
                <a:solidFill>
                  <a:srgbClr val="5D6872"/>
                </a:solidFill>
                <a:latin typeface="Arial"/>
                <a:ea typeface="Arial"/>
                <a:cs typeface="Arial"/>
              </a:defRPr>
            </a:lvl1pPr>
            <a:lvl2pPr algn="l">
              <a:defRPr sz="1875" b="0">
                <a:solidFill>
                  <a:srgbClr val="5D6872"/>
                </a:solidFill>
                <a:latin typeface="Arial"/>
                <a:ea typeface="Arial"/>
                <a:cs typeface="Arial"/>
              </a:defRPr>
            </a:lvl2pPr>
            <a:lvl3pPr algn="l">
              <a:defRPr sz="1875" b="0">
                <a:solidFill>
                  <a:srgbClr val="5D6872"/>
                </a:solidFill>
                <a:latin typeface="Arial"/>
                <a:ea typeface="Arial"/>
                <a:cs typeface="Arial"/>
              </a:defRPr>
            </a:lvl3pPr>
            <a:lvl4pPr algn="l">
              <a:defRPr sz="1875" b="0">
                <a:solidFill>
                  <a:srgbClr val="5D6872"/>
                </a:solidFill>
                <a:latin typeface="Arial"/>
                <a:ea typeface="Arial"/>
                <a:cs typeface="Arial"/>
              </a:defRPr>
            </a:lvl4pPr>
            <a:lvl5pPr algn="l">
              <a:defRPr sz="1875" b="0">
                <a:solidFill>
                  <a:srgbClr val="5D6872"/>
                </a:solidFill>
                <a:latin typeface="Arial"/>
                <a:ea typeface="Arial"/>
                <a:cs typeface="Arial"/>
              </a:defRPr>
            </a:lvl5pPr>
            <a:lvl6pPr algn="l">
              <a:defRPr sz="1875" b="0">
                <a:solidFill>
                  <a:srgbClr val="5D6872"/>
                </a:solidFill>
                <a:latin typeface="Arial"/>
                <a:ea typeface="Arial"/>
                <a:cs typeface="Arial"/>
              </a:defRPr>
            </a:lvl6pPr>
            <a:lvl7pPr algn="l">
              <a:defRPr sz="1875" b="0">
                <a:solidFill>
                  <a:srgbClr val="5D6872"/>
                </a:solidFill>
                <a:latin typeface="Arial"/>
                <a:ea typeface="Arial"/>
                <a:cs typeface="Arial"/>
              </a:defRPr>
            </a:lvl7pPr>
            <a:lvl8pPr algn="l">
              <a:defRPr sz="1875" b="0">
                <a:solidFill>
                  <a:srgbClr val="5D6872"/>
                </a:solidFill>
                <a:latin typeface="Arial"/>
                <a:ea typeface="Arial"/>
                <a:cs typeface="Arial"/>
              </a:defRPr>
            </a:lvl8pPr>
            <a:lvl9pPr algn="l">
              <a:defRPr sz="1875" b="0">
                <a:solidFill>
                  <a:srgbClr val="5D6872"/>
                </a:solidFill>
                <a:latin typeface="Arial"/>
                <a:ea typeface="Arial"/>
                <a:cs typeface="Arial"/>
              </a:defRPr>
            </a:lvl9pPr>
          </a:lstStyle>
          <a:p xmlns:a="http://schemas.openxmlformats.org/drawingml/2006/main">
            <a:pPr algn="l">
              <a:defRPr sz="1875" b="0">
                <a:solidFill>
                  <a:srgbClr val="5D6872"/>
                </a:solidFill>
                <a:latin typeface="Arial"/>
                <a:ea typeface="Arial"/>
                <a:cs typeface="Arial"/>
              </a:defRPr>
            </a:pPr>
            <a:r>
              <a:rPr sz="1875" b="0">
                <a:solidFill>
                  <a:srgbClr val="5D6872"/>
                </a:solidFill>
                <a:latin typeface="Arial"/>
                <a:ea typeface="Arial"/>
                <a:cs typeface="Arial"/>
              </a:rPr>
              <a:t>mode: public</a:t>
            </a:r>
          </a:p>
          <a:p xmlns:a="http://schemas.openxmlformats.org/drawingml/2006/main">
            <a:pPr algn="l">
              <a:defRPr sz="1875" b="0">
                <a:solidFill>
                  <a:srgbClr val="5D6872"/>
                </a:solidFill>
                <a:latin typeface="Arial"/>
                <a:ea typeface="Arial"/>
                <a:cs typeface="Arial"/>
              </a:defRPr>
            </a:pPr>
            <a:r>
              <a:rPr sz="1875" b="0">
                <a:solidFill>
                  <a:srgbClr val="5D6872"/>
                </a:solidFill>
                <a:latin typeface="Arial"/>
                <a:ea typeface="Arial"/>
                <a:cs typeface="Arial"/>
              </a:rPr>
              <a:t>username · role · department</a:t>
            </a:r>
          </a:p>
        </p:txBody>
      </p:sp>
      <p:sp>
        <p:nvSpPr>
          <p:cNvPr id="13" name="">
            <a:extLst xmlns:a="http://schemas.openxmlformats.org/drawingml/2006/main">
              <a:ext uri="{FF2B5EF4-FFF2-40B4-BE49-F238E27FC236}">
                <a16:creationId xmlns:a16="http://schemas.microsoft.com/office/drawing/2014/main" id="{1B4B8D2E-9F9F-4CA6-B6EB-D55DA3CDECA5}"/>
              </a:ext>
            </a:extLst>
          </p:cNvPr>
          <p:cNvSpPr>
            <a:spLocks xmlns:a="http://schemas.openxmlformats.org/drawingml/2006/main" noGrp="1"/>
          </p:cNvSpPr>
          <p:nvPr/>
        </p:nvSpPr>
        <p:spPr>
          <a:xfrm xmlns:a="http://schemas.openxmlformats.org/drawingml/2006/main">
            <a:off x="6715125" y="2847975"/>
            <a:ext cx="4143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mode: debug-trace</a:t>
            </a:r>
          </a:p>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 passwordHash</a:t>
            </a:r>
          </a:p>
        </p:txBody>
      </p:sp>
      <p:sp>
        <p:nvSpPr>
          <p:cNvPr id="14" name="">
            <a:extLst xmlns:a="http://schemas.openxmlformats.org/drawingml/2006/main">
              <a:ext uri="{FF2B5EF4-FFF2-40B4-BE49-F238E27FC236}">
                <a16:creationId xmlns:a16="http://schemas.microsoft.com/office/drawing/2014/main" id="{0DB13BC2-B717-432F-B3DF-75BCBC10DB2E}"/>
              </a:ext>
            </a:extLst>
          </p:cNvPr>
          <p:cNvSpPr>
            <a:spLocks xmlns:a="http://schemas.openxmlformats.org/drawingml/2006/main" noGrp="1"/>
          </p:cNvSpPr>
          <p:nvPr/>
        </p:nvSpPr>
        <p:spPr>
          <a:xfrm xmlns:a="http://schemas.openxmlformats.org/drawingml/2006/main">
            <a:off x="752475" y="5153025"/>
            <a:ext cx="1019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xmlns:a="http://schemas.openxmlformats.org/drawingml/2006/main">
            <a:pPr algn="l">
              <a:defRPr sz="2025" b="1">
                <a:solidFill>
                  <a:srgbClr val="202935"/>
                </a:solidFill>
                <a:latin typeface="Arial"/>
                <a:ea typeface="Arial"/>
                <a:cs typeface="Arial"/>
              </a:defRPr>
            </a:pPr>
            <a:r>
              <a:rPr sz="2025" b="1">
                <a:solidFill>
                  <a:srgbClr val="202935"/>
                </a:solidFill>
                <a:latin typeface="Arial"/>
                <a:ea typeface="Arial"/>
                <a:cs typeface="Arial"/>
              </a:rPr>
              <a:t>Gateway setzt X-Debug-Trace → Archiv vertraut dem Header</a:t>
            </a:r>
          </a:p>
        </p:txBody>
      </p:sp>
    </p:spTree>
    <p:extLst>
      <p:ext uri="{BB962C8B-B14F-4D97-AF65-F5344CB8AC3E}">
        <p14:creationId xmlns:p14="http://schemas.microsoft.com/office/powerpoint/2010/main" val="1429527601"/>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C25DFC1-55D0-4190-B35C-46FD0042DC29}"/>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2FFF37-B301-40A8-810A-6A8BAB1D3874}"/>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Experiment 2: Weak Password</a:t>
            </a:r>
          </a:p>
        </p:txBody>
      </p:sp>
      <p:sp>
        <p:nvSpPr>
          <p:cNvPr id="3" name="">
            <a:extLst xmlns:a="http://schemas.openxmlformats.org/drawingml/2006/main">
              <a:ext uri="{FF2B5EF4-FFF2-40B4-BE49-F238E27FC236}">
                <a16:creationId xmlns:a16="http://schemas.microsoft.com/office/drawing/2014/main" id="{8DC67A9D-950D-4AE2-AD10-507BB85E9473}"/>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8BACEEC5-51BE-4212-8B9B-717F60400170}"/>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8F4F7F72-B27D-4503-B496-780271EF47C9}"/>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9BC613C6-5CCF-469D-A8EF-4DB1686952F2}"/>
              </a:ext>
            </a:extLst>
          </p:cNvPr>
          <p:cNvSpPr>
            <a:spLocks xmlns:a="http://schemas.openxmlformats.org/drawingml/2006/main" noGrp="1"/>
          </p:cNvSpPr>
          <p:nvPr/>
        </p:nvSpPr>
        <p:spPr>
          <a:xfrm xmlns:a="http://schemas.openxmlformats.org/drawingml/2006/main">
            <a:off x="781050" y="1543050"/>
            <a:ext cx="7905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xmlns:a="http://schemas.openxmlformats.org/drawingml/2006/main">
            <a:pPr algn="l">
              <a:defRPr sz="2250" b="1">
                <a:solidFill>
                  <a:srgbClr val="C55A2B"/>
                </a:solidFill>
                <a:latin typeface="Arial"/>
                <a:ea typeface="Arial"/>
                <a:cs typeface="Arial"/>
              </a:defRPr>
            </a:pPr>
            <a:r>
              <a:rPr sz="2250" b="1">
                <a:solidFill>
                  <a:srgbClr val="C55A2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F3967A7-4457-4BD6-89B9-91F884269A49}"/>
              </a:ext>
            </a:extLst>
          </p:cNvPr>
          <p:cNvSpPr>
            <a:spLocks xmlns:a="http://schemas.openxmlformats.org/drawingml/2006/main" noGrp="1"/>
          </p:cNvSpPr>
          <p:nvPr/>
        </p:nvSpPr>
        <p:spPr>
          <a:xfrm xmlns:a="http://schemas.openxmlformats.org/drawingml/2006/main">
            <a:off x="1628775" y="1543050"/>
            <a:ext cx="8705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Hash aus /users</a:t>
            </a:r>
          </a:p>
        </p:txBody>
      </p:sp>
      <p:sp>
        <p:nvSpPr>
          <p:cNvPr id="8" name="">
            <a:extLst xmlns:a="http://schemas.openxmlformats.org/drawingml/2006/main">
              <a:ext uri="{FF2B5EF4-FFF2-40B4-BE49-F238E27FC236}">
                <a16:creationId xmlns:a16="http://schemas.microsoft.com/office/drawing/2014/main" id="{9259F55B-D68D-4DF3-AACC-86A01B83BA54}"/>
              </a:ext>
            </a:extLst>
          </p:cNvPr>
          <p:cNvSpPr>
            <a:spLocks xmlns:a="http://schemas.openxmlformats.org/drawingml/2006/main" noGrp="1"/>
          </p:cNvSpPr>
          <p:nvPr/>
        </p:nvSpPr>
        <p:spPr>
          <a:xfrm xmlns:a="http://schemas.openxmlformats.org/drawingml/2006/main">
            <a:off x="800100" y="2371725"/>
            <a:ext cx="9944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F80ADB0D-8771-410A-A59B-590884DC9149}"/>
              </a:ext>
            </a:extLst>
          </p:cNvPr>
          <p:cNvSpPr>
            <a:spLocks xmlns:a="http://schemas.openxmlformats.org/drawingml/2006/main" noGrp="1"/>
          </p:cNvSpPr>
          <p:nvPr/>
        </p:nvSpPr>
        <p:spPr>
          <a:xfrm xmlns:a="http://schemas.openxmlformats.org/drawingml/2006/main">
            <a:off x="781050" y="2486025"/>
            <a:ext cx="7905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xmlns:a="http://schemas.openxmlformats.org/drawingml/2006/main">
            <a:pPr algn="l">
              <a:defRPr sz="2250" b="1">
                <a:solidFill>
                  <a:srgbClr val="C55A2B"/>
                </a:solidFill>
                <a:latin typeface="Arial"/>
                <a:ea typeface="Arial"/>
                <a:cs typeface="Arial"/>
              </a:defRPr>
            </a:pPr>
            <a:r>
              <a:rPr sz="2250" b="1">
                <a:solidFill>
                  <a:srgbClr val="C55A2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9F34686-A5FD-4D9B-934A-F5BDF82E94EE}"/>
              </a:ext>
            </a:extLst>
          </p:cNvPr>
          <p:cNvSpPr>
            <a:spLocks xmlns:a="http://schemas.openxmlformats.org/drawingml/2006/main" noGrp="1"/>
          </p:cNvSpPr>
          <p:nvPr/>
        </p:nvSpPr>
        <p:spPr>
          <a:xfrm xmlns:a="http://schemas.openxmlformats.org/drawingml/2006/main">
            <a:off x="1628775" y="2486025"/>
            <a:ext cx="8705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Kurze Wordlist</a:t>
            </a:r>
          </a:p>
        </p:txBody>
      </p:sp>
      <p:sp>
        <p:nvSpPr>
          <p:cNvPr id="11" name="">
            <a:extLst xmlns:a="http://schemas.openxmlformats.org/drawingml/2006/main">
              <a:ext uri="{FF2B5EF4-FFF2-40B4-BE49-F238E27FC236}">
                <a16:creationId xmlns:a16="http://schemas.microsoft.com/office/drawing/2014/main" id="{CBAA7B20-3C9C-4B2C-A312-5D003632A769}"/>
              </a:ext>
            </a:extLst>
          </p:cNvPr>
          <p:cNvSpPr>
            <a:spLocks xmlns:a="http://schemas.openxmlformats.org/drawingml/2006/main" noGrp="1"/>
          </p:cNvSpPr>
          <p:nvPr/>
        </p:nvSpPr>
        <p:spPr>
          <a:xfrm xmlns:a="http://schemas.openxmlformats.org/drawingml/2006/main">
            <a:off x="800100" y="3314700"/>
            <a:ext cx="9944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F362A791-B4C1-488C-8A5A-7C4C8B781223}"/>
              </a:ext>
            </a:extLst>
          </p:cNvPr>
          <p:cNvSpPr>
            <a:spLocks xmlns:a="http://schemas.openxmlformats.org/drawingml/2006/main" noGrp="1"/>
          </p:cNvSpPr>
          <p:nvPr/>
        </p:nvSpPr>
        <p:spPr>
          <a:xfrm xmlns:a="http://schemas.openxmlformats.org/drawingml/2006/main">
            <a:off x="781050" y="3429000"/>
            <a:ext cx="7905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xmlns:a="http://schemas.openxmlformats.org/drawingml/2006/main">
            <a:pPr algn="l">
              <a:defRPr sz="2250" b="1">
                <a:solidFill>
                  <a:srgbClr val="C55A2B"/>
                </a:solidFill>
                <a:latin typeface="Arial"/>
                <a:ea typeface="Arial"/>
                <a:cs typeface="Arial"/>
              </a:defRPr>
            </a:pPr>
            <a:r>
              <a:rPr sz="2250" b="1">
                <a:solidFill>
                  <a:srgbClr val="C55A2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EC0C0DD-49D7-46E9-BEBE-EBF2D1F66D5B}"/>
              </a:ext>
            </a:extLst>
          </p:cNvPr>
          <p:cNvSpPr>
            <a:spLocks xmlns:a="http://schemas.openxmlformats.org/drawingml/2006/main" noGrp="1"/>
          </p:cNvSpPr>
          <p:nvPr/>
        </p:nvSpPr>
        <p:spPr>
          <a:xfrm xmlns:a="http://schemas.openxmlformats.org/drawingml/2006/main">
            <a:off x="1628775" y="3429000"/>
            <a:ext cx="8705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xmlns:a="http://schemas.openxmlformats.org/drawingml/2006/main">
            <a:pPr algn="l">
              <a:defRPr sz="2250" b="0">
                <a:solidFill>
                  <a:srgbClr val="202935"/>
                </a:solidFill>
                <a:latin typeface="Arial"/>
                <a:ea typeface="Arial"/>
                <a:cs typeface="Arial"/>
              </a:defRPr>
            </a:pPr>
            <a:r>
              <a:rPr sz="2250" b="0">
                <a:solidFill>
                  <a:srgbClr val="202935"/>
                </a:solidFill>
                <a:latin typeface="Arial"/>
                <a:ea typeface="Arial"/>
                <a:cs typeface="Arial"/>
              </a:rPr>
              <a:t>Passwort gefunden</a:t>
            </a:r>
          </a:p>
        </p:txBody>
      </p:sp>
      <p:sp>
        <p:nvSpPr>
          <p:cNvPr id="14" name="">
            <a:extLst xmlns:a="http://schemas.openxmlformats.org/drawingml/2006/main">
              <a:ext uri="{FF2B5EF4-FFF2-40B4-BE49-F238E27FC236}">
                <a16:creationId xmlns:a16="http://schemas.microsoft.com/office/drawing/2014/main" id="{D9E39FE0-EF23-44A0-B0C0-3ADF7E494171}"/>
              </a:ext>
            </a:extLst>
          </p:cNvPr>
          <p:cNvSpPr>
            <a:spLocks xmlns:a="http://schemas.openxmlformats.org/drawingml/2006/main" noGrp="1"/>
          </p:cNvSpPr>
          <p:nvPr/>
        </p:nvSpPr>
        <p:spPr>
          <a:xfrm xmlns:a="http://schemas.openxmlformats.org/drawingml/2006/main">
            <a:off x="800100" y="4257675"/>
            <a:ext cx="9944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B8DAF7E7-BF32-4790-94A7-74C125849765}"/>
              </a:ext>
            </a:extLst>
          </p:cNvPr>
          <p:cNvSpPr>
            <a:spLocks xmlns:a="http://schemas.openxmlformats.org/drawingml/2006/main" noGrp="1"/>
          </p:cNvSpPr>
          <p:nvPr/>
        </p:nvSpPr>
        <p:spPr>
          <a:xfrm xmlns:a="http://schemas.openxmlformats.org/drawingml/2006/main">
            <a:off x="781050" y="4371975"/>
            <a:ext cx="7905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xmlns:a="http://schemas.openxmlformats.org/drawingml/2006/main">
            <a:pPr algn="l">
              <a:defRPr sz="2250" b="1">
                <a:solidFill>
                  <a:srgbClr val="C55A2B"/>
                </a:solidFill>
                <a:latin typeface="Arial"/>
                <a:ea typeface="Arial"/>
                <a:cs typeface="Arial"/>
              </a:defRPr>
            </a:pPr>
            <a:r>
              <a:rPr sz="2250" b="1">
                <a:solidFill>
                  <a:srgbClr val="C55A2B"/>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5BAA3CAF-3AA2-46C2-9F5D-72AB7E28ED68}"/>
              </a:ext>
            </a:extLst>
          </p:cNvPr>
          <p:cNvSpPr>
            <a:spLocks xmlns:a="http://schemas.openxmlformats.org/drawingml/2006/main" noGrp="1"/>
          </p:cNvSpPr>
          <p:nvPr/>
        </p:nvSpPr>
        <p:spPr>
          <a:xfrm xmlns:a="http://schemas.openxmlformats.org/drawingml/2006/main">
            <a:off x="1628775" y="4371975"/>
            <a:ext cx="8705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202935"/>
                </a:solidFill>
                <a:latin typeface="Arial"/>
                <a:ea typeface="Arial"/>
                <a:cs typeface="Arial"/>
              </a:defRPr>
            </a:defPPr>
            <a:lvl1pPr algn="l">
              <a:defRPr sz="2250" b="1">
                <a:solidFill>
                  <a:srgbClr val="202935"/>
                </a:solidFill>
                <a:latin typeface="Arial"/>
                <a:ea typeface="Arial"/>
                <a:cs typeface="Arial"/>
              </a:defRPr>
            </a:lvl1pPr>
            <a:lvl2pPr algn="l">
              <a:defRPr sz="2250" b="1">
                <a:solidFill>
                  <a:srgbClr val="202935"/>
                </a:solidFill>
                <a:latin typeface="Arial"/>
                <a:ea typeface="Arial"/>
                <a:cs typeface="Arial"/>
              </a:defRPr>
            </a:lvl2pPr>
            <a:lvl3pPr algn="l">
              <a:defRPr sz="2250" b="1">
                <a:solidFill>
                  <a:srgbClr val="202935"/>
                </a:solidFill>
                <a:latin typeface="Arial"/>
                <a:ea typeface="Arial"/>
                <a:cs typeface="Arial"/>
              </a:defRPr>
            </a:lvl3pPr>
            <a:lvl4pPr algn="l">
              <a:defRPr sz="2250" b="1">
                <a:solidFill>
                  <a:srgbClr val="202935"/>
                </a:solidFill>
                <a:latin typeface="Arial"/>
                <a:ea typeface="Arial"/>
                <a:cs typeface="Arial"/>
              </a:defRPr>
            </a:lvl4pPr>
            <a:lvl5pPr algn="l">
              <a:defRPr sz="2250" b="1">
                <a:solidFill>
                  <a:srgbClr val="202935"/>
                </a:solidFill>
                <a:latin typeface="Arial"/>
                <a:ea typeface="Arial"/>
                <a:cs typeface="Arial"/>
              </a:defRPr>
            </a:lvl5pPr>
            <a:lvl6pPr algn="l">
              <a:defRPr sz="2250" b="1">
                <a:solidFill>
                  <a:srgbClr val="202935"/>
                </a:solidFill>
                <a:latin typeface="Arial"/>
                <a:ea typeface="Arial"/>
                <a:cs typeface="Arial"/>
              </a:defRPr>
            </a:lvl6pPr>
            <a:lvl7pPr algn="l">
              <a:defRPr sz="2250" b="1">
                <a:solidFill>
                  <a:srgbClr val="202935"/>
                </a:solidFill>
                <a:latin typeface="Arial"/>
                <a:ea typeface="Arial"/>
                <a:cs typeface="Arial"/>
              </a:defRPr>
            </a:lvl7pPr>
            <a:lvl8pPr algn="l">
              <a:defRPr sz="2250" b="1">
                <a:solidFill>
                  <a:srgbClr val="202935"/>
                </a:solidFill>
                <a:latin typeface="Arial"/>
                <a:ea typeface="Arial"/>
                <a:cs typeface="Arial"/>
              </a:defRPr>
            </a:lvl8pPr>
            <a:lvl9pPr algn="l">
              <a:defRPr sz="2250" b="1">
                <a:solidFill>
                  <a:srgbClr val="202935"/>
                </a:solidFill>
                <a:latin typeface="Arial"/>
                <a:ea typeface="Arial"/>
                <a:cs typeface="Arial"/>
              </a:defRPr>
            </a:lvl9pPr>
          </a:lstStyle>
          <a:p xmlns:a="http://schemas.openxmlformats.org/drawingml/2006/main">
            <a:pPr algn="l">
              <a:defRPr sz="2250" b="1">
                <a:solidFill>
                  <a:srgbClr val="202935"/>
                </a:solidFill>
                <a:latin typeface="Arial"/>
                <a:ea typeface="Arial"/>
                <a:cs typeface="Arial"/>
              </a:defRPr>
            </a:pPr>
            <a:r>
              <a:rPr sz="2250" b="1">
                <a:solidFill>
                  <a:srgbClr val="202935"/>
                </a:solidFill>
                <a:latin typeface="Arial"/>
                <a:ea typeface="Arial"/>
                <a:cs typeface="Arial"/>
              </a:rPr>
              <a:t>GET /notes mit Basic Auth</a:t>
            </a:r>
          </a:p>
        </p:txBody>
      </p:sp>
      <p:sp>
        <p:nvSpPr>
          <p:cNvPr id="17" name="">
            <a:extLst xmlns:a="http://schemas.openxmlformats.org/drawingml/2006/main">
              <a:ext uri="{FF2B5EF4-FFF2-40B4-BE49-F238E27FC236}">
                <a16:creationId xmlns:a16="http://schemas.microsoft.com/office/drawing/2014/main" id="{18A20B5E-286D-4782-8843-15CA07143B91}"/>
              </a:ext>
            </a:extLst>
          </p:cNvPr>
          <p:cNvSpPr>
            <a:spLocks xmlns:a="http://schemas.openxmlformats.org/drawingml/2006/main" noGrp="1"/>
          </p:cNvSpPr>
          <p:nvPr/>
        </p:nvSpPr>
        <p:spPr>
          <a:xfrm xmlns:a="http://schemas.openxmlformats.org/drawingml/2006/main">
            <a:off x="762000" y="54102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D6872"/>
                </a:solidFill>
                <a:latin typeface="Arial"/>
                <a:ea typeface="Arial"/>
                <a:cs typeface="Arial"/>
              </a:defRPr>
            </a:defPPr>
            <a:lvl1pPr algn="l">
              <a:defRPr sz="1725" b="1">
                <a:solidFill>
                  <a:srgbClr val="5D6872"/>
                </a:solidFill>
                <a:latin typeface="Arial"/>
                <a:ea typeface="Arial"/>
                <a:cs typeface="Arial"/>
              </a:defRPr>
            </a:lvl1pPr>
            <a:lvl2pPr algn="l">
              <a:defRPr sz="1725" b="1">
                <a:solidFill>
                  <a:srgbClr val="5D6872"/>
                </a:solidFill>
                <a:latin typeface="Arial"/>
                <a:ea typeface="Arial"/>
                <a:cs typeface="Arial"/>
              </a:defRPr>
            </a:lvl2pPr>
            <a:lvl3pPr algn="l">
              <a:defRPr sz="1725" b="1">
                <a:solidFill>
                  <a:srgbClr val="5D6872"/>
                </a:solidFill>
                <a:latin typeface="Arial"/>
                <a:ea typeface="Arial"/>
                <a:cs typeface="Arial"/>
              </a:defRPr>
            </a:lvl3pPr>
            <a:lvl4pPr algn="l">
              <a:defRPr sz="1725" b="1">
                <a:solidFill>
                  <a:srgbClr val="5D6872"/>
                </a:solidFill>
                <a:latin typeface="Arial"/>
                <a:ea typeface="Arial"/>
                <a:cs typeface="Arial"/>
              </a:defRPr>
            </a:lvl4pPr>
            <a:lvl5pPr algn="l">
              <a:defRPr sz="1725" b="1">
                <a:solidFill>
                  <a:srgbClr val="5D6872"/>
                </a:solidFill>
                <a:latin typeface="Arial"/>
                <a:ea typeface="Arial"/>
                <a:cs typeface="Arial"/>
              </a:defRPr>
            </a:lvl5pPr>
            <a:lvl6pPr algn="l">
              <a:defRPr sz="1725" b="1">
                <a:solidFill>
                  <a:srgbClr val="5D6872"/>
                </a:solidFill>
                <a:latin typeface="Arial"/>
                <a:ea typeface="Arial"/>
                <a:cs typeface="Arial"/>
              </a:defRPr>
            </a:lvl6pPr>
            <a:lvl7pPr algn="l">
              <a:defRPr sz="1725" b="1">
                <a:solidFill>
                  <a:srgbClr val="5D6872"/>
                </a:solidFill>
                <a:latin typeface="Arial"/>
                <a:ea typeface="Arial"/>
                <a:cs typeface="Arial"/>
              </a:defRPr>
            </a:lvl7pPr>
            <a:lvl8pPr algn="l">
              <a:defRPr sz="1725" b="1">
                <a:solidFill>
                  <a:srgbClr val="5D6872"/>
                </a:solidFill>
                <a:latin typeface="Arial"/>
                <a:ea typeface="Arial"/>
                <a:cs typeface="Arial"/>
              </a:defRPr>
            </a:lvl8pPr>
            <a:lvl9pPr algn="l">
              <a:defRPr sz="1725" b="1">
                <a:solidFill>
                  <a:srgbClr val="5D6872"/>
                </a:solidFill>
                <a:latin typeface="Arial"/>
                <a:ea typeface="Arial"/>
                <a:cs typeface="Arial"/>
              </a:defRPr>
            </a:lvl9pPr>
          </a:lstStyle>
          <a:p xmlns:a="http://schemas.openxmlformats.org/drawingml/2006/main">
            <a:pPr algn="l">
              <a:defRPr sz="1725" b="1">
                <a:solidFill>
                  <a:srgbClr val="5D6872"/>
                </a:solidFill>
                <a:latin typeface="Arial"/>
                <a:ea typeface="Arial"/>
                <a:cs typeface="Arial"/>
              </a:defRPr>
            </a:pPr>
            <a:r>
              <a:rPr sz="1725" b="1">
                <a:solidFill>
                  <a:srgbClr val="5D6872"/>
                </a:solidFill>
                <a:latin typeface="Arial"/>
                <a:ea typeface="Arial"/>
                <a:cs typeface="Arial"/>
              </a:rPr>
              <a:t>Weak Password ist hier keine CVE.</a:t>
            </a:r>
          </a:p>
        </p:txBody>
      </p:sp>
    </p:spTree>
    <p:extLst>
      <p:ext uri="{BB962C8B-B14F-4D97-AF65-F5344CB8AC3E}">
        <p14:creationId xmlns:p14="http://schemas.microsoft.com/office/powerpoint/2010/main" val="1167016102"/>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797E80F3-98AD-4DBE-AE6F-10BE9AEF206D}"/>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2462213"/>
            <a:ext cx="571500"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BF1050D9-C795-463F-82C2-465DAE979886}"/>
              </a:ext>
            </a:extLst>
          </p:cNvPr>
          <p:cNvCxnSpPr>
            <a:stCxn xmlns:a="http://schemas.openxmlformats.org/drawingml/2006/main" id="8" idx="3"/>
            <a:endCxn xmlns:a="http://schemas.openxmlformats.org/drawingml/2006/main" id="10" idx="1"/>
          </p:cNvCxnSpPr>
          <p:nvPr/>
        </p:nvCxnSpPr>
        <p:spPr>
          <a:xfrm xmlns:a="http://schemas.openxmlformats.org/drawingml/2006/main">
            <a:off x="5876925" y="2462213"/>
            <a:ext cx="571500"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B328E7D6-092B-448F-85CD-00015DAFA727}"/>
              </a:ext>
            </a:extLst>
          </p:cNvPr>
          <p:cNvCxnSpPr>
            <a:stCxn xmlns:a="http://schemas.openxmlformats.org/drawingml/2006/main" id="6" idx="3"/>
            <a:endCxn xmlns:a="http://schemas.openxmlformats.org/drawingml/2006/main" id="8" idx="1"/>
          </p:cNvCxnSpPr>
          <p:nvPr/>
        </p:nvCxnSpPr>
        <p:spPr>
          <a:xfrm xmlns:a="http://schemas.openxmlformats.org/drawingml/2006/main">
            <a:off x="2971800" y="2462213"/>
            <a:ext cx="571500" cy="0"/>
          </a:xfrm>
          <a:prstGeom xmlns:a="http://schemas.openxmlformats.org/drawingml/2006/main" prst="straightConnector1">
            <a:avLst/>
          </a:prstGeom>
          <a:ln xmlns:a="http://schemas.openxmlformats.org/drawingml/2006/main" w="19050">
            <a:solidFill>
              <a:srgbClr val="202935"/>
            </a:solidFill>
            <a:prstDash val="solid"/>
            <a:tailEnd type="arrow" w="med" len="med"/>
          </a:ln>
        </p:spPr>
      </p:cxnSp>
      <p:sp>
        <p:nvSpPr>
          <p:cNvPr id="20" name="">
            <a:extLst xmlns:a="http://schemas.openxmlformats.org/drawingml/2006/main">
              <a:ext uri="{FF2B5EF4-FFF2-40B4-BE49-F238E27FC236}">
                <a16:creationId xmlns:a16="http://schemas.microsoft.com/office/drawing/2014/main" id="{C2F5C30E-DF71-4075-8CAE-8D48EA9D4257}"/>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227DE9-3FE4-4FC7-BA76-E8C69415573B}"/>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Experiment 3: SQL Injection</a:t>
            </a:r>
          </a:p>
        </p:txBody>
      </p:sp>
      <p:sp>
        <p:nvSpPr>
          <p:cNvPr id="3" name="">
            <a:extLst xmlns:a="http://schemas.openxmlformats.org/drawingml/2006/main">
              <a:ext uri="{FF2B5EF4-FFF2-40B4-BE49-F238E27FC236}">
                <a16:creationId xmlns:a16="http://schemas.microsoft.com/office/drawing/2014/main" id="{70847F35-F406-4E17-9B1C-14D7A1796E03}"/>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7B5298FF-47FC-4EAE-8E25-874FBB9429BC}"/>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0F5673B0-0D3E-43CA-9603-8DD928213AD4}"/>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AF4BD222-1267-4EA6-A74D-4156F60F00B5}"/>
              </a:ext>
            </a:extLst>
          </p:cNvPr>
          <p:cNvSpPr>
            <a:spLocks xmlns:a="http://schemas.openxmlformats.org/drawingml/2006/main" noGrp="1"/>
          </p:cNvSpPr>
          <p:nvPr/>
        </p:nvSpPr>
        <p:spPr>
          <a:xfrm xmlns:a="http://schemas.openxmlformats.org/drawingml/2006/main">
            <a:off x="638175" y="1857375"/>
            <a:ext cx="2333625"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7" name="">
            <a:extLst xmlns:a="http://schemas.openxmlformats.org/drawingml/2006/main">
              <a:ext uri="{FF2B5EF4-FFF2-40B4-BE49-F238E27FC236}">
                <a16:creationId xmlns:a16="http://schemas.microsoft.com/office/drawing/2014/main" id="{42C78573-26E9-44D2-8C3E-AC0DB1347D23}"/>
              </a:ext>
            </a:extLst>
          </p:cNvPr>
          <p:cNvSpPr>
            <a:spLocks xmlns:a="http://schemas.openxmlformats.org/drawingml/2006/main" noGrp="1"/>
          </p:cNvSpPr>
          <p:nvPr/>
        </p:nvSpPr>
        <p:spPr>
          <a:xfrm xmlns:a="http://schemas.openxmlformats.org/drawingml/2006/main">
            <a:off x="790575" y="197167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541"/>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department im Request</a:t>
            </a:r>
          </a:p>
        </p:txBody>
      </p:sp>
      <p:sp>
        <p:nvSpPr>
          <p:cNvPr id="8" name="">
            <a:extLst xmlns:a="http://schemas.openxmlformats.org/drawingml/2006/main">
              <a:ext uri="{FF2B5EF4-FFF2-40B4-BE49-F238E27FC236}">
                <a16:creationId xmlns:a16="http://schemas.microsoft.com/office/drawing/2014/main" id="{1230AA12-CBC9-4C25-83EF-219E525A5558}"/>
              </a:ext>
            </a:extLst>
          </p:cNvPr>
          <p:cNvSpPr>
            <a:spLocks xmlns:a="http://schemas.openxmlformats.org/drawingml/2006/main" noGrp="1"/>
          </p:cNvSpPr>
          <p:nvPr/>
        </p:nvSpPr>
        <p:spPr>
          <a:xfrm xmlns:a="http://schemas.openxmlformats.org/drawingml/2006/main">
            <a:off x="3543300" y="1857375"/>
            <a:ext cx="2333625" cy="1209675"/>
          </a:xfrm>
          <a:prstGeom xmlns:a="http://schemas.openxmlformats.org/drawingml/2006/main" prst="rect">
            <a:avLst/>
          </a:prstGeom>
          <a:solidFill xmlns:a="http://schemas.openxmlformats.org/drawingml/2006/main">
            <a:srgbClr val="FFFFFF"/>
          </a:solidFill>
          <a:ln xmlns:a="http://schemas.openxmlformats.org/drawingml/2006/main" w="19050">
            <a:solidFill>
              <a:srgbClr val="C55A2B"/>
            </a:solidFill>
            <a:prstDash val="solid"/>
          </a:ln>
        </p:spPr>
      </p:sp>
      <p:sp>
        <p:nvSpPr>
          <p:cNvPr id="9" name="">
            <a:extLst xmlns:a="http://schemas.openxmlformats.org/drawingml/2006/main">
              <a:ext uri="{FF2B5EF4-FFF2-40B4-BE49-F238E27FC236}">
                <a16:creationId xmlns:a16="http://schemas.microsoft.com/office/drawing/2014/main" id="{C31616A0-4E04-466A-A562-56FF42437655}"/>
              </a:ext>
            </a:extLst>
          </p:cNvPr>
          <p:cNvSpPr>
            <a:spLocks xmlns:a="http://schemas.openxmlformats.org/drawingml/2006/main" noGrp="1"/>
          </p:cNvSpPr>
          <p:nvPr/>
        </p:nvSpPr>
        <p:spPr>
          <a:xfrm xmlns:a="http://schemas.openxmlformats.org/drawingml/2006/main">
            <a:off x="3695700" y="197167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15"/>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Spring AI Converter</a:t>
            </a:r>
          </a:p>
        </p:txBody>
      </p:sp>
      <p:sp>
        <p:nvSpPr>
          <p:cNvPr id="10" name="">
            <a:extLst xmlns:a="http://schemas.openxmlformats.org/drawingml/2006/main">
              <a:ext uri="{FF2B5EF4-FFF2-40B4-BE49-F238E27FC236}">
                <a16:creationId xmlns:a16="http://schemas.microsoft.com/office/drawing/2014/main" id="{C82E61FB-CEFD-4DC9-87DC-3683E7D1F09D}"/>
              </a:ext>
            </a:extLst>
          </p:cNvPr>
          <p:cNvSpPr>
            <a:spLocks xmlns:a="http://schemas.openxmlformats.org/drawingml/2006/main" noGrp="1"/>
          </p:cNvSpPr>
          <p:nvPr/>
        </p:nvSpPr>
        <p:spPr>
          <a:xfrm xmlns:a="http://schemas.openxmlformats.org/drawingml/2006/main">
            <a:off x="6448425" y="1857375"/>
            <a:ext cx="2333625"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A5C73709-5E65-4D73-9F4B-E7CC1985269F}"/>
              </a:ext>
            </a:extLst>
          </p:cNvPr>
          <p:cNvSpPr>
            <a:spLocks xmlns:a="http://schemas.openxmlformats.org/drawingml/2006/main" noGrp="1"/>
          </p:cNvSpPr>
          <p:nvPr/>
        </p:nvSpPr>
        <p:spPr>
          <a:xfrm xmlns:a="http://schemas.openxmlformats.org/drawingml/2006/main">
            <a:off x="6600825" y="197167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SQL WHERE</a:t>
            </a:r>
          </a:p>
        </p:txBody>
      </p:sp>
      <p:sp>
        <p:nvSpPr>
          <p:cNvPr id="12" name="">
            <a:extLst xmlns:a="http://schemas.openxmlformats.org/drawingml/2006/main">
              <a:ext uri="{FF2B5EF4-FFF2-40B4-BE49-F238E27FC236}">
                <a16:creationId xmlns:a16="http://schemas.microsoft.com/office/drawing/2014/main" id="{200AD4FE-935D-4F7A-9932-CE17EF8D4F62}"/>
              </a:ext>
            </a:extLst>
          </p:cNvPr>
          <p:cNvSpPr>
            <a:spLocks xmlns:a="http://schemas.openxmlformats.org/drawingml/2006/main" noGrp="1"/>
          </p:cNvSpPr>
          <p:nvPr/>
        </p:nvSpPr>
        <p:spPr>
          <a:xfrm xmlns:a="http://schemas.openxmlformats.org/drawingml/2006/main">
            <a:off x="9353550" y="1857375"/>
            <a:ext cx="2333625"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3" name="">
            <a:extLst xmlns:a="http://schemas.openxmlformats.org/drawingml/2006/main">
              <a:ext uri="{FF2B5EF4-FFF2-40B4-BE49-F238E27FC236}">
                <a16:creationId xmlns:a16="http://schemas.microsoft.com/office/drawing/2014/main" id="{88A929C4-E7F9-4856-81ED-4D69054564E0}"/>
              </a:ext>
            </a:extLst>
          </p:cNvPr>
          <p:cNvSpPr>
            <a:spLocks xmlns:a="http://schemas.openxmlformats.org/drawingml/2006/main" noGrp="1"/>
          </p:cNvSpPr>
          <p:nvPr/>
        </p:nvSpPr>
        <p:spPr>
          <a:xfrm xmlns:a="http://schemas.openxmlformats.org/drawingml/2006/main">
            <a:off x="9505950" y="197167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789"/>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zusätzliche Dokumente</a:t>
            </a:r>
          </a:p>
        </p:txBody>
      </p:sp>
      <p:sp>
        <p:nvSpPr>
          <p:cNvPr id="17" name="">
            <a:extLst xmlns:a="http://schemas.openxmlformats.org/drawingml/2006/main">
              <a:ext uri="{FF2B5EF4-FFF2-40B4-BE49-F238E27FC236}">
                <a16:creationId xmlns:a16="http://schemas.microsoft.com/office/drawing/2014/main" id="{4BABC1EE-841B-483C-AA6F-5B3C9E6038C8}"/>
              </a:ext>
            </a:extLst>
          </p:cNvPr>
          <p:cNvSpPr>
            <a:spLocks xmlns:a="http://schemas.openxmlformats.org/drawingml/2006/main" noGrp="1"/>
          </p:cNvSpPr>
          <p:nvPr/>
        </p:nvSpPr>
        <p:spPr>
          <a:xfrm xmlns:a="http://schemas.openxmlformats.org/drawingml/2006/main">
            <a:off x="714375" y="3800475"/>
            <a:ext cx="102679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xmlns:a="http://schemas.openxmlformats.org/drawingml/2006/main">
            <a:pPr algn="l">
              <a:defRPr sz="2325" b="1">
                <a:solidFill>
                  <a:srgbClr val="202935"/>
                </a:solidFill>
                <a:latin typeface="Arial"/>
                <a:ea typeface="Arial"/>
                <a:cs typeface="Arial"/>
              </a:defRPr>
            </a:pPr>
            <a:r>
              <a:rPr sz="2325" b="1">
                <a:solidFill>
                  <a:srgbClr val="202935"/>
                </a:solidFill>
                <a:latin typeface="Arial"/>
                <a:ea typeface="Arial"/>
                <a:cs typeface="Arial"/>
              </a:rPr>
              <a:t>Ein String-Wert wird ohne sichere Trennung in SQL eingebaut.</a:t>
            </a:r>
          </a:p>
        </p:txBody>
      </p:sp>
      <p:sp>
        <p:nvSpPr>
          <p:cNvPr id="18" name="">
            <a:extLst xmlns:a="http://schemas.openxmlformats.org/drawingml/2006/main">
              <a:ext uri="{FF2B5EF4-FFF2-40B4-BE49-F238E27FC236}">
                <a16:creationId xmlns:a16="http://schemas.microsoft.com/office/drawing/2014/main" id="{9DF16A62-227A-4564-B170-C64C65AE3200}"/>
              </a:ext>
            </a:extLst>
          </p:cNvPr>
          <p:cNvSpPr>
            <a:spLocks xmlns:a="http://schemas.openxmlformats.org/drawingml/2006/main" noGrp="1"/>
          </p:cNvSpPr>
          <p:nvPr/>
        </p:nvSpPr>
        <p:spPr>
          <a:xfrm xmlns:a="http://schemas.openxmlformats.org/drawingml/2006/main">
            <a:off x="714375" y="4914900"/>
            <a:ext cx="1026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Live Demo 3 · normaler Filter ↔ geänderter Filter</a:t>
            </a:r>
          </a:p>
        </p:txBody>
      </p:sp>
      <p:sp>
        <p:nvSpPr>
          <p:cNvPr id="19" name="">
            <a:extLst xmlns:a="http://schemas.openxmlformats.org/drawingml/2006/main">
              <a:ext uri="{FF2B5EF4-FFF2-40B4-BE49-F238E27FC236}">
                <a16:creationId xmlns:a16="http://schemas.microsoft.com/office/drawing/2014/main" id="{425EDC3F-DDD2-4B29-B7BF-392C7125590F}"/>
              </a:ext>
            </a:extLst>
          </p:cNvPr>
          <p:cNvSpPr>
            <a:spLocks xmlns:a="http://schemas.openxmlformats.org/drawingml/2006/main" noGrp="1"/>
          </p:cNvSpPr>
          <p:nvPr/>
        </p:nvSpPr>
        <p:spPr>
          <a:xfrm xmlns:a="http://schemas.openxmlformats.org/drawingml/2006/main">
            <a:off x="714375" y="561975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Spring AI MariaDB 1.0.3 · CVE-2026-22730</a:t>
            </a:r>
          </a:p>
        </p:txBody>
      </p:sp>
    </p:spTree>
    <p:extLst>
      <p:ext uri="{BB962C8B-B14F-4D97-AF65-F5344CB8AC3E}">
        <p14:creationId xmlns:p14="http://schemas.microsoft.com/office/powerpoint/2010/main" val="530038558"/>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D50B52-8E74-4D5A-AE75-8B150FB6DFC0}"/>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0482E4-F0CD-4C5C-81B2-E896ECC4FC7A}"/>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Experiment 4: Login Timing und OTP</a:t>
            </a:r>
          </a:p>
        </p:txBody>
      </p:sp>
      <p:sp>
        <p:nvSpPr>
          <p:cNvPr id="3" name="">
            <a:extLst xmlns:a="http://schemas.openxmlformats.org/drawingml/2006/main">
              <a:ext uri="{FF2B5EF4-FFF2-40B4-BE49-F238E27FC236}">
                <a16:creationId xmlns:a16="http://schemas.microsoft.com/office/drawing/2014/main" id="{47D609A7-1C43-4D57-BDBA-142E5F2C3A9D}"/>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CC3AC164-29AD-4B1A-ACCF-A66760C6E955}"/>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159A89C3-9B11-4850-B43C-64F6A8E275A6}"/>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9F809933-13BD-45F0-8335-06313AEB23CA}"/>
              </a:ext>
            </a:extLst>
          </p:cNvPr>
          <p:cNvSpPr>
            <a:spLocks xmlns:a="http://schemas.openxmlformats.org/drawingml/2006/main" noGrp="1"/>
          </p:cNvSpPr>
          <p:nvPr/>
        </p:nvSpPr>
        <p:spPr>
          <a:xfrm xmlns:a="http://schemas.openxmlformats.org/drawingml/2006/main">
            <a:off x="6067425" y="1619250"/>
            <a:ext cx="0" cy="3495675"/>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7" name="">
            <a:extLst xmlns:a="http://schemas.openxmlformats.org/drawingml/2006/main">
              <a:ext uri="{FF2B5EF4-FFF2-40B4-BE49-F238E27FC236}">
                <a16:creationId xmlns:a16="http://schemas.microsoft.com/office/drawing/2014/main" id="{805A933E-DA54-46C2-9FB6-6A727A71E5EE}"/>
              </a:ext>
            </a:extLst>
          </p:cNvPr>
          <p:cNvSpPr>
            <a:spLocks xmlns:a="http://schemas.openxmlformats.org/drawingml/2006/main" noGrp="1"/>
          </p:cNvSpPr>
          <p:nvPr/>
        </p:nvSpPr>
        <p:spPr>
          <a:xfrm xmlns:a="http://schemas.openxmlformats.org/drawingml/2006/main">
            <a:off x="742950" y="15525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LOGIN TIMING</a:t>
            </a:r>
          </a:p>
        </p:txBody>
      </p:sp>
      <p:sp>
        <p:nvSpPr>
          <p:cNvPr id="8" name="">
            <a:extLst xmlns:a="http://schemas.openxmlformats.org/drawingml/2006/main">
              <a:ext uri="{FF2B5EF4-FFF2-40B4-BE49-F238E27FC236}">
                <a16:creationId xmlns:a16="http://schemas.microsoft.com/office/drawing/2014/main" id="{8D32DCCB-7600-4041-9A1C-03F15473F79A}"/>
              </a:ext>
            </a:extLst>
          </p:cNvPr>
          <p:cNvSpPr>
            <a:spLocks xmlns:a="http://schemas.openxmlformats.org/drawingml/2006/main" noGrp="1"/>
          </p:cNvSpPr>
          <p:nvPr/>
        </p:nvSpPr>
        <p:spPr>
          <a:xfrm xmlns:a="http://schemas.openxmlformats.org/drawingml/2006/main">
            <a:off x="742950" y="2047875"/>
            <a:ext cx="4857750" cy="1704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Bekannter User: BCrypt läuft.</a:t>
            </a:r>
          </a:p>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Unbekannter User: schnelle Antwort.</a:t>
            </a:r>
          </a:p>
        </p:txBody>
      </p:sp>
      <p:sp>
        <p:nvSpPr>
          <p:cNvPr id="9" name="">
            <a:extLst xmlns:a="http://schemas.openxmlformats.org/drawingml/2006/main">
              <a:ext uri="{FF2B5EF4-FFF2-40B4-BE49-F238E27FC236}">
                <a16:creationId xmlns:a16="http://schemas.microsoft.com/office/drawing/2014/main" id="{8A63B503-72FA-43EC-87B3-6C4D168EC6F9}"/>
              </a:ext>
            </a:extLst>
          </p:cNvPr>
          <p:cNvSpPr>
            <a:spLocks xmlns:a="http://schemas.openxmlformats.org/drawingml/2006/main" noGrp="1"/>
          </p:cNvSpPr>
          <p:nvPr/>
        </p:nvSpPr>
        <p:spPr>
          <a:xfrm xmlns:a="http://schemas.openxmlformats.org/drawingml/2006/main">
            <a:off x="6486525" y="1552575"/>
            <a:ext cx="461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xmlns:a="http://schemas.openxmlformats.org/drawingml/2006/main">
            <a:pPr algn="l">
              <a:defRPr sz="1125" b="1">
                <a:solidFill>
                  <a:srgbClr val="C55A2B"/>
                </a:solidFill>
                <a:latin typeface="Arial"/>
                <a:ea typeface="Arial"/>
                <a:cs typeface="Arial"/>
              </a:defRPr>
            </a:pPr>
            <a:r>
              <a:rPr sz="1125" b="1">
                <a:solidFill>
                  <a:srgbClr val="C55A2B"/>
                </a:solidFill>
                <a:latin typeface="Arial"/>
                <a:ea typeface="Arial"/>
                <a:cs typeface="Arial"/>
              </a:rPr>
              <a:t>OTP</a:t>
            </a:r>
          </a:p>
        </p:txBody>
      </p:sp>
      <p:sp>
        <p:nvSpPr>
          <p:cNvPr id="10" name="">
            <a:extLst xmlns:a="http://schemas.openxmlformats.org/drawingml/2006/main">
              <a:ext uri="{FF2B5EF4-FFF2-40B4-BE49-F238E27FC236}">
                <a16:creationId xmlns:a16="http://schemas.microsoft.com/office/drawing/2014/main" id="{9DD0E97D-5E73-4F0B-9BA6-AECF11FDD7EE}"/>
              </a:ext>
            </a:extLst>
          </p:cNvPr>
          <p:cNvSpPr>
            <a:spLocks xmlns:a="http://schemas.openxmlformats.org/drawingml/2006/main" noGrp="1"/>
          </p:cNvSpPr>
          <p:nvPr/>
        </p:nvSpPr>
        <p:spPr>
          <a:xfrm xmlns:a="http://schemas.openxmlformats.org/drawingml/2006/main">
            <a:off x="6486525" y="2047875"/>
            <a:ext cx="4838700" cy="1819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4 Ziffern.</a:t>
            </a:r>
          </a:p>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Keine Rate Limit.</a:t>
            </a:r>
          </a:p>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Gültiger Code → JWT.</a:t>
            </a:r>
          </a:p>
        </p:txBody>
      </p:sp>
      <p:sp>
        <p:nvSpPr>
          <p:cNvPr id="11" name="">
            <a:extLst xmlns:a="http://schemas.openxmlformats.org/drawingml/2006/main">
              <a:ext uri="{FF2B5EF4-FFF2-40B4-BE49-F238E27FC236}">
                <a16:creationId xmlns:a16="http://schemas.microsoft.com/office/drawing/2014/main" id="{A0A0108E-8275-493D-A25C-D2D94C0A28EB}"/>
              </a:ext>
            </a:extLst>
          </p:cNvPr>
          <p:cNvSpPr>
            <a:spLocks xmlns:a="http://schemas.openxmlformats.org/drawingml/2006/main" noGrp="1"/>
          </p:cNvSpPr>
          <p:nvPr/>
        </p:nvSpPr>
        <p:spPr>
          <a:xfrm xmlns:a="http://schemas.openxmlformats.org/drawingml/2006/main">
            <a:off x="742950" y="5248275"/>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C55A2B"/>
                </a:solidFill>
                <a:latin typeface="Arial"/>
                <a:ea typeface="Arial"/>
                <a:cs typeface="Arial"/>
              </a:defRPr>
            </a:defPPr>
            <a:lvl1pPr algn="l">
              <a:defRPr sz="1725" b="1">
                <a:solidFill>
                  <a:srgbClr val="C55A2B"/>
                </a:solidFill>
                <a:latin typeface="Arial"/>
                <a:ea typeface="Arial"/>
                <a:cs typeface="Arial"/>
              </a:defRPr>
            </a:lvl1pPr>
            <a:lvl2pPr algn="l">
              <a:defRPr sz="1725" b="1">
                <a:solidFill>
                  <a:srgbClr val="C55A2B"/>
                </a:solidFill>
                <a:latin typeface="Arial"/>
                <a:ea typeface="Arial"/>
                <a:cs typeface="Arial"/>
              </a:defRPr>
            </a:lvl2pPr>
            <a:lvl3pPr algn="l">
              <a:defRPr sz="1725" b="1">
                <a:solidFill>
                  <a:srgbClr val="C55A2B"/>
                </a:solidFill>
                <a:latin typeface="Arial"/>
                <a:ea typeface="Arial"/>
                <a:cs typeface="Arial"/>
              </a:defRPr>
            </a:lvl3pPr>
            <a:lvl4pPr algn="l">
              <a:defRPr sz="1725" b="1">
                <a:solidFill>
                  <a:srgbClr val="C55A2B"/>
                </a:solidFill>
                <a:latin typeface="Arial"/>
                <a:ea typeface="Arial"/>
                <a:cs typeface="Arial"/>
              </a:defRPr>
            </a:lvl4pPr>
            <a:lvl5pPr algn="l">
              <a:defRPr sz="1725" b="1">
                <a:solidFill>
                  <a:srgbClr val="C55A2B"/>
                </a:solidFill>
                <a:latin typeface="Arial"/>
                <a:ea typeface="Arial"/>
                <a:cs typeface="Arial"/>
              </a:defRPr>
            </a:lvl5pPr>
            <a:lvl6pPr algn="l">
              <a:defRPr sz="1725" b="1">
                <a:solidFill>
                  <a:srgbClr val="C55A2B"/>
                </a:solidFill>
                <a:latin typeface="Arial"/>
                <a:ea typeface="Arial"/>
                <a:cs typeface="Arial"/>
              </a:defRPr>
            </a:lvl6pPr>
            <a:lvl7pPr algn="l">
              <a:defRPr sz="1725" b="1">
                <a:solidFill>
                  <a:srgbClr val="C55A2B"/>
                </a:solidFill>
                <a:latin typeface="Arial"/>
                <a:ea typeface="Arial"/>
                <a:cs typeface="Arial"/>
              </a:defRPr>
            </a:lvl7pPr>
            <a:lvl8pPr algn="l">
              <a:defRPr sz="1725" b="1">
                <a:solidFill>
                  <a:srgbClr val="C55A2B"/>
                </a:solidFill>
                <a:latin typeface="Arial"/>
                <a:ea typeface="Arial"/>
                <a:cs typeface="Arial"/>
              </a:defRPr>
            </a:lvl8pPr>
            <a:lvl9pPr algn="l">
              <a:defRPr sz="1725" b="1">
                <a:solidFill>
                  <a:srgbClr val="C55A2B"/>
                </a:solidFill>
                <a:latin typeface="Arial"/>
                <a:ea typeface="Arial"/>
                <a:cs typeface="Arial"/>
              </a:defRPr>
            </a:lvl9pPr>
          </a:lstStyle>
          <a:p xmlns:a="http://schemas.openxmlformats.org/drawingml/2006/main">
            <a:pPr algn="l">
              <a:defRPr sz="1725" b="1">
                <a:solidFill>
                  <a:srgbClr val="C55A2B"/>
                </a:solidFill>
                <a:latin typeface="Arial"/>
                <a:ea typeface="Arial"/>
                <a:cs typeface="Arial"/>
              </a:defRPr>
            </a:pPr>
            <a:r>
              <a:rPr sz="1725" b="1">
                <a:solidFill>
                  <a:srgbClr val="C55A2B"/>
                </a:solidFill>
                <a:latin typeface="Arial"/>
                <a:ea typeface="Arial"/>
                <a:cs typeface="Arial"/>
              </a:rPr>
              <a:t>Live Demo 4 · Messung → OTP → JWT</a:t>
            </a:r>
          </a:p>
        </p:txBody>
      </p:sp>
      <p:sp>
        <p:nvSpPr>
          <p:cNvPr id="12" name="">
            <a:extLst xmlns:a="http://schemas.openxmlformats.org/drawingml/2006/main">
              <a:ext uri="{FF2B5EF4-FFF2-40B4-BE49-F238E27FC236}">
                <a16:creationId xmlns:a16="http://schemas.microsoft.com/office/drawing/2014/main" id="{D1EB9BD9-7289-4DE4-9A4F-D27C77F2A75B}"/>
              </a:ext>
            </a:extLst>
          </p:cNvPr>
          <p:cNvSpPr>
            <a:spLocks xmlns:a="http://schemas.openxmlformats.org/drawingml/2006/main" noGrp="1"/>
          </p:cNvSpPr>
          <p:nvPr/>
        </p:nvSpPr>
        <p:spPr>
          <a:xfrm xmlns:a="http://schemas.openxmlformats.org/drawingml/2006/main">
            <a:off x="742950" y="57816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Eigener LoginController · Spring Security 6.4.4</a:t>
            </a:r>
          </a:p>
        </p:txBody>
      </p:sp>
    </p:spTree>
    <p:extLst>
      <p:ext uri="{BB962C8B-B14F-4D97-AF65-F5344CB8AC3E}">
        <p14:creationId xmlns:p14="http://schemas.microsoft.com/office/powerpoint/2010/main" val="1320456232"/>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8A1BAA3-B01A-4874-99B3-B23DBB027DE7}"/>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3C5C30-2E35-4FAB-A604-CCDFF1CC8DF7}"/>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Was die Experimente gezeigt haben</a:t>
            </a:r>
          </a:p>
        </p:txBody>
      </p:sp>
      <p:sp>
        <p:nvSpPr>
          <p:cNvPr id="3" name="">
            <a:extLst xmlns:a="http://schemas.openxmlformats.org/drawingml/2006/main">
              <a:ext uri="{FF2B5EF4-FFF2-40B4-BE49-F238E27FC236}">
                <a16:creationId xmlns:a16="http://schemas.microsoft.com/office/drawing/2014/main" id="{BBA7B718-5324-4DBB-B605-697D10F4629D}"/>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8283030A-45C7-4D04-B0F3-0356078BCD24}"/>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875A5BB4-CA30-4E74-9D5D-59E79FBC334E}"/>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14D5B297-602F-4508-9DA5-5B186C0D6DE7}"/>
              </a:ext>
            </a:extLst>
          </p:cNvPr>
          <p:cNvSpPr>
            <a:spLocks xmlns:a="http://schemas.openxmlformats.org/drawingml/2006/main" noGrp="1"/>
          </p:cNvSpPr>
          <p:nvPr/>
        </p:nvSpPr>
        <p:spPr>
          <a:xfrm xmlns:a="http://schemas.openxmlformats.org/drawingml/2006/main">
            <a:off x="819150" y="1495425"/>
            <a:ext cx="523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4D37906-D34E-471A-8752-B1AD9403DF4C}"/>
              </a:ext>
            </a:extLst>
          </p:cNvPr>
          <p:cNvSpPr>
            <a:spLocks xmlns:a="http://schemas.openxmlformats.org/drawingml/2006/main" noGrp="1"/>
          </p:cNvSpPr>
          <p:nvPr/>
        </p:nvSpPr>
        <p:spPr>
          <a:xfrm xmlns:a="http://schemas.openxmlformats.org/drawingml/2006/main">
            <a:off x="1581150" y="1495425"/>
            <a:ext cx="8810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Gateway Setting geändert</a:t>
            </a:r>
          </a:p>
        </p:txBody>
      </p:sp>
      <p:sp>
        <p:nvSpPr>
          <p:cNvPr id="8" name="">
            <a:extLst xmlns:a="http://schemas.openxmlformats.org/drawingml/2006/main">
              <a:ext uri="{FF2B5EF4-FFF2-40B4-BE49-F238E27FC236}">
                <a16:creationId xmlns:a16="http://schemas.microsoft.com/office/drawing/2014/main" id="{194556EA-F659-4308-9C80-A1E8E4E35286}"/>
              </a:ext>
            </a:extLst>
          </p:cNvPr>
          <p:cNvSpPr>
            <a:spLocks xmlns:a="http://schemas.openxmlformats.org/drawingml/2006/main" noGrp="1"/>
          </p:cNvSpPr>
          <p:nvPr/>
        </p:nvSpPr>
        <p:spPr>
          <a:xfrm xmlns:a="http://schemas.openxmlformats.org/drawingml/2006/main">
            <a:off x="1581150" y="2095500"/>
            <a:ext cx="88392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EA68DD32-1EB4-4D13-815D-787108031B8D}"/>
              </a:ext>
            </a:extLst>
          </p:cNvPr>
          <p:cNvSpPr>
            <a:spLocks xmlns:a="http://schemas.openxmlformats.org/drawingml/2006/main" noGrp="1"/>
          </p:cNvSpPr>
          <p:nvPr/>
        </p:nvSpPr>
        <p:spPr>
          <a:xfrm xmlns:a="http://schemas.openxmlformats.org/drawingml/2006/main">
            <a:off x="819150" y="2333625"/>
            <a:ext cx="523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B8423B55-68D7-40A6-B466-7405FA1E85D2}"/>
              </a:ext>
            </a:extLst>
          </p:cNvPr>
          <p:cNvSpPr>
            <a:spLocks xmlns:a="http://schemas.openxmlformats.org/drawingml/2006/main" noGrp="1"/>
          </p:cNvSpPr>
          <p:nvPr/>
        </p:nvSpPr>
        <p:spPr>
          <a:xfrm xmlns:a="http://schemas.openxmlformats.org/drawingml/2006/main">
            <a:off x="1581150" y="2333625"/>
            <a:ext cx="8810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Password Hashes sichtbar</a:t>
            </a:r>
          </a:p>
        </p:txBody>
      </p:sp>
      <p:sp>
        <p:nvSpPr>
          <p:cNvPr id="11" name="">
            <a:extLst xmlns:a="http://schemas.openxmlformats.org/drawingml/2006/main">
              <a:ext uri="{FF2B5EF4-FFF2-40B4-BE49-F238E27FC236}">
                <a16:creationId xmlns:a16="http://schemas.microsoft.com/office/drawing/2014/main" id="{894D5BD6-7619-4EA6-B88D-FBDB019797C1}"/>
              </a:ext>
            </a:extLst>
          </p:cNvPr>
          <p:cNvSpPr>
            <a:spLocks xmlns:a="http://schemas.openxmlformats.org/drawingml/2006/main" noGrp="1"/>
          </p:cNvSpPr>
          <p:nvPr/>
        </p:nvSpPr>
        <p:spPr>
          <a:xfrm xmlns:a="http://schemas.openxmlformats.org/drawingml/2006/main">
            <a:off x="1581150" y="2933700"/>
            <a:ext cx="88392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2D73CB9E-A7E6-4E57-B87B-627296BA8A6F}"/>
              </a:ext>
            </a:extLst>
          </p:cNvPr>
          <p:cNvSpPr>
            <a:spLocks xmlns:a="http://schemas.openxmlformats.org/drawingml/2006/main" noGrp="1"/>
          </p:cNvSpPr>
          <p:nvPr/>
        </p:nvSpPr>
        <p:spPr>
          <a:xfrm xmlns:a="http://schemas.openxmlformats.org/drawingml/2006/main">
            <a:off x="819150" y="3171825"/>
            <a:ext cx="523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F9009E45-7C7F-4027-9716-A1D839449622}"/>
              </a:ext>
            </a:extLst>
          </p:cNvPr>
          <p:cNvSpPr>
            <a:spLocks xmlns:a="http://schemas.openxmlformats.org/drawingml/2006/main" noGrp="1"/>
          </p:cNvSpPr>
          <p:nvPr/>
        </p:nvSpPr>
        <p:spPr>
          <a:xfrm xmlns:a="http://schemas.openxmlformats.org/drawingml/2006/main">
            <a:off x="1581150" y="3171825"/>
            <a:ext cx="8810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Schwaches Passwort gefunden</a:t>
            </a:r>
          </a:p>
        </p:txBody>
      </p:sp>
      <p:sp>
        <p:nvSpPr>
          <p:cNvPr id="14" name="">
            <a:extLst xmlns:a="http://schemas.openxmlformats.org/drawingml/2006/main">
              <a:ext uri="{FF2B5EF4-FFF2-40B4-BE49-F238E27FC236}">
                <a16:creationId xmlns:a16="http://schemas.microsoft.com/office/drawing/2014/main" id="{90181BE9-C54B-4AD1-80BB-75448D20FDC3}"/>
              </a:ext>
            </a:extLst>
          </p:cNvPr>
          <p:cNvSpPr>
            <a:spLocks xmlns:a="http://schemas.openxmlformats.org/drawingml/2006/main" noGrp="1"/>
          </p:cNvSpPr>
          <p:nvPr/>
        </p:nvSpPr>
        <p:spPr>
          <a:xfrm xmlns:a="http://schemas.openxmlformats.org/drawingml/2006/main">
            <a:off x="1581150" y="3771900"/>
            <a:ext cx="88392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BD840A23-3FB6-452A-A750-1104AABEF221}"/>
              </a:ext>
            </a:extLst>
          </p:cNvPr>
          <p:cNvSpPr>
            <a:spLocks xmlns:a="http://schemas.openxmlformats.org/drawingml/2006/main" noGrp="1"/>
          </p:cNvSpPr>
          <p:nvPr/>
        </p:nvSpPr>
        <p:spPr>
          <a:xfrm xmlns:a="http://schemas.openxmlformats.org/drawingml/2006/main">
            <a:off x="819150" y="4010025"/>
            <a:ext cx="523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160E7707-E1F4-4CC7-A5C4-33CF12019BF9}"/>
              </a:ext>
            </a:extLst>
          </p:cNvPr>
          <p:cNvSpPr>
            <a:spLocks xmlns:a="http://schemas.openxmlformats.org/drawingml/2006/main" noGrp="1"/>
          </p:cNvSpPr>
          <p:nvPr/>
        </p:nvSpPr>
        <p:spPr>
          <a:xfrm xmlns:a="http://schemas.openxmlformats.org/drawingml/2006/main">
            <a:off x="1581150" y="4010025"/>
            <a:ext cx="8810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xmlns:a="http://schemas.openxmlformats.org/drawingml/2006/main">
            <a:pPr algn="l">
              <a:defRPr sz="2100" b="0">
                <a:solidFill>
                  <a:srgbClr val="202935"/>
                </a:solidFill>
                <a:latin typeface="Arial"/>
                <a:ea typeface="Arial"/>
                <a:cs typeface="Arial"/>
              </a:defRPr>
            </a:pPr>
            <a:r>
              <a:rPr sz="2100" b="0">
                <a:solidFill>
                  <a:srgbClr val="202935"/>
                </a:solidFill>
                <a:latin typeface="Arial"/>
                <a:ea typeface="Arial"/>
                <a:cs typeface="Arial"/>
              </a:rPr>
              <a:t>Search Filter umgangen</a:t>
            </a:r>
          </a:p>
        </p:txBody>
      </p:sp>
      <p:sp>
        <p:nvSpPr>
          <p:cNvPr id="17" name="">
            <a:extLst xmlns:a="http://schemas.openxmlformats.org/drawingml/2006/main">
              <a:ext uri="{FF2B5EF4-FFF2-40B4-BE49-F238E27FC236}">
                <a16:creationId xmlns:a16="http://schemas.microsoft.com/office/drawing/2014/main" id="{BC9779E6-5BE0-4112-A17D-58230474A580}"/>
              </a:ext>
            </a:extLst>
          </p:cNvPr>
          <p:cNvSpPr>
            <a:spLocks xmlns:a="http://schemas.openxmlformats.org/drawingml/2006/main" noGrp="1"/>
          </p:cNvSpPr>
          <p:nvPr/>
        </p:nvSpPr>
        <p:spPr>
          <a:xfrm xmlns:a="http://schemas.openxmlformats.org/drawingml/2006/main">
            <a:off x="1581150" y="4610100"/>
            <a:ext cx="88392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8" name="">
            <a:extLst xmlns:a="http://schemas.openxmlformats.org/drawingml/2006/main">
              <a:ext uri="{FF2B5EF4-FFF2-40B4-BE49-F238E27FC236}">
                <a16:creationId xmlns:a16="http://schemas.microsoft.com/office/drawing/2014/main" id="{36C205F9-85A3-4F6C-9916-E1EC39AFE29E}"/>
              </a:ext>
            </a:extLst>
          </p:cNvPr>
          <p:cNvSpPr>
            <a:spLocks xmlns:a="http://schemas.openxmlformats.org/drawingml/2006/main" noGrp="1"/>
          </p:cNvSpPr>
          <p:nvPr/>
        </p:nvSpPr>
        <p:spPr>
          <a:xfrm xmlns:a="http://schemas.openxmlformats.org/drawingml/2006/main">
            <a:off x="819150" y="4848225"/>
            <a:ext cx="523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B7F5FE6D-7468-456D-9802-4B5B82934E82}"/>
              </a:ext>
            </a:extLst>
          </p:cNvPr>
          <p:cNvSpPr>
            <a:spLocks xmlns:a="http://schemas.openxmlformats.org/drawingml/2006/main" noGrp="1"/>
          </p:cNvSpPr>
          <p:nvPr/>
        </p:nvSpPr>
        <p:spPr>
          <a:xfrm xmlns:a="http://schemas.openxmlformats.org/drawingml/2006/main">
            <a:off x="1581150" y="4848225"/>
            <a:ext cx="8810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OTP und JWT erreicht</a:t>
            </a:r>
          </a:p>
        </p:txBody>
      </p:sp>
      <p:sp>
        <p:nvSpPr>
          <p:cNvPr id="20" name="">
            <a:extLst xmlns:a="http://schemas.openxmlformats.org/drawingml/2006/main">
              <a:ext uri="{FF2B5EF4-FFF2-40B4-BE49-F238E27FC236}">
                <a16:creationId xmlns:a16="http://schemas.microsoft.com/office/drawing/2014/main" id="{2D6EEC83-BA58-4B2C-93DB-A082BF1C28CD}"/>
              </a:ext>
            </a:extLst>
          </p:cNvPr>
          <p:cNvSpPr>
            <a:spLocks xmlns:a="http://schemas.openxmlformats.org/drawingml/2006/main" noGrp="1"/>
          </p:cNvSpPr>
          <p:nvPr/>
        </p:nvSpPr>
        <p:spPr>
          <a:xfrm xmlns:a="http://schemas.openxmlformats.org/drawingml/2006/main">
            <a:off x="752475" y="5705475"/>
            <a:ext cx="10344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Nicht jeder Schritt ist im aktuellen Code eine technische Voraussetzung für den nächsten.</a:t>
            </a:r>
          </a:p>
        </p:txBody>
      </p:sp>
    </p:spTree>
    <p:extLst>
      <p:ext uri="{BB962C8B-B14F-4D97-AF65-F5344CB8AC3E}">
        <p14:creationId xmlns:p14="http://schemas.microsoft.com/office/powerpoint/2010/main" val="53121444"/>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F0E916-4D39-4557-83BB-4438E174D4F9}"/>
              </a:ext>
            </a:extLst>
          </p:cNvPr>
          <p:cNvSpPr>
            <a:spLocks xmlns:a="http://schemas.openxmlformats.org/drawingml/2006/main" noGrp="1"/>
          </p:cNvSpPr>
          <p:nvPr/>
        </p:nvSpPr>
        <p:spPr>
          <a:xfrm xmlns:a="http://schemas.openxmlformats.org/drawingml/2006/main">
            <a:off x="552450" y="504825"/>
            <a:ext cx="66675" cy="45720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992755-9E50-4E5D-B855-E4FF01C7473E}"/>
              </a:ext>
            </a:extLst>
          </p:cNvPr>
          <p:cNvSpPr>
            <a:spLocks xmlns:a="http://schemas.openxmlformats.org/drawingml/2006/main" noGrp="1"/>
          </p:cNvSpPr>
          <p:nvPr/>
        </p:nvSpPr>
        <p:spPr>
          <a:xfrm xmlns:a="http://schemas.openxmlformats.org/drawingml/2006/main">
            <a:off x="781050" y="4286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xmlns:a="http://schemas.openxmlformats.org/drawingml/2006/main">
            <a:pPr algn="l">
              <a:defRPr sz="3150" b="1">
                <a:solidFill>
                  <a:srgbClr val="202935"/>
                </a:solidFill>
                <a:latin typeface="Arial"/>
                <a:ea typeface="Arial"/>
                <a:cs typeface="Arial"/>
              </a:defRPr>
            </a:pPr>
            <a:r>
              <a:rPr sz="3150" b="1">
                <a:solidFill>
                  <a:srgbClr val="202935"/>
                </a:solidFill>
                <a:latin typeface="Arial"/>
                <a:ea typeface="Arial"/>
                <a:cs typeface="Arial"/>
              </a:rPr>
              <a:t>Was ich daraus mitnehme</a:t>
            </a:r>
          </a:p>
        </p:txBody>
      </p:sp>
      <p:sp>
        <p:nvSpPr>
          <p:cNvPr id="3" name="">
            <a:extLst xmlns:a="http://schemas.openxmlformats.org/drawingml/2006/main">
              <a:ext uri="{FF2B5EF4-FFF2-40B4-BE49-F238E27FC236}">
                <a16:creationId xmlns:a16="http://schemas.microsoft.com/office/drawing/2014/main" id="{44724FA8-FAB0-40D7-AE09-4E41C166260F}"/>
              </a:ext>
            </a:extLst>
          </p:cNvPr>
          <p:cNvSpPr>
            <a:spLocks xmlns:a="http://schemas.openxmlformats.org/drawingml/2006/main" noGrp="1"/>
          </p:cNvSpPr>
          <p:nvPr/>
        </p:nvSpPr>
        <p:spPr>
          <a:xfrm xmlns:a="http://schemas.openxmlformats.org/drawingml/2006/main">
            <a:off x="571500" y="6410325"/>
            <a:ext cx="781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xmlns:a="http://schemas.openxmlformats.org/drawingml/2006/main">
            <a:pPr algn="l">
              <a:defRPr sz="900" b="1">
                <a:solidFill>
                  <a:srgbClr val="5D6872"/>
                </a:solidFill>
                <a:latin typeface="Arial"/>
                <a:ea typeface="Arial"/>
                <a:cs typeface="Arial"/>
              </a:defRPr>
            </a:pPr>
            <a:r>
              <a:rPr sz="900" b="1">
                <a:solidFill>
                  <a:srgbClr val="5D6872"/>
                </a:solidFill>
                <a:latin typeface="Arial"/>
                <a:ea typeface="Arial"/>
                <a:cs typeface="Arial"/>
              </a:rPr>
              <a:t>SPRING SECURITY / KNOWLEDGE SHARING</a:t>
            </a:r>
          </a:p>
        </p:txBody>
      </p:sp>
      <p:sp>
        <p:nvSpPr>
          <p:cNvPr id="4" name="">
            <a:extLst xmlns:a="http://schemas.openxmlformats.org/drawingml/2006/main">
              <a:ext uri="{FF2B5EF4-FFF2-40B4-BE49-F238E27FC236}">
                <a16:creationId xmlns:a16="http://schemas.microsoft.com/office/drawing/2014/main" id="{2FB4023F-20F4-4CB5-A653-5EC9EE8EFC18}"/>
              </a:ext>
            </a:extLst>
          </p:cNvPr>
          <p:cNvSpPr>
            <a:spLocks xmlns:a="http://schemas.openxmlformats.org/drawingml/2006/main" noGrp="1"/>
          </p:cNvSpPr>
          <p:nvPr/>
        </p:nvSpPr>
        <p:spPr>
          <a:xfrm xmlns:a="http://schemas.openxmlformats.org/drawingml/2006/main">
            <a:off x="552450" y="6219825"/>
            <a:ext cx="11087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77A11ACC-699C-42CB-9CBE-50BC44A96470}"/>
              </a:ext>
            </a:extLst>
          </p:cNvPr>
          <p:cNvSpPr>
            <a:spLocks xmlns:a="http://schemas.openxmlformats.org/drawingml/2006/main" noGrp="1"/>
          </p:cNvSpPr>
          <p:nvPr/>
        </p:nvSpPr>
        <p:spPr>
          <a:xfrm xmlns:a="http://schemas.openxmlformats.org/drawingml/2006/main">
            <a:off x="11220450" y="64103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49296947-AC6E-4B55-BF77-C82DB7DA2628}"/>
              </a:ext>
            </a:extLst>
          </p:cNvPr>
          <p:cNvSpPr>
            <a:spLocks xmlns:a="http://schemas.openxmlformats.org/drawingml/2006/main" noGrp="1"/>
          </p:cNvSpPr>
          <p:nvPr/>
        </p:nvSpPr>
        <p:spPr>
          <a:xfrm xmlns:a="http://schemas.openxmlformats.org/drawingml/2006/main">
            <a:off x="742950" y="1447800"/>
            <a:ext cx="52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9C720E0-79D5-4BCD-BCDC-D9AE4A194B3E}"/>
              </a:ext>
            </a:extLst>
          </p:cNvPr>
          <p:cNvSpPr>
            <a:spLocks xmlns:a="http://schemas.openxmlformats.org/drawingml/2006/main" noGrp="1"/>
          </p:cNvSpPr>
          <p:nvPr/>
        </p:nvSpPr>
        <p:spPr>
          <a:xfrm xmlns:a="http://schemas.openxmlformats.org/drawingml/2006/main">
            <a:off x="1543050" y="1447800"/>
            <a:ext cx="938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Versionen kennen und patchen</a:t>
            </a:r>
          </a:p>
        </p:txBody>
      </p:sp>
      <p:sp>
        <p:nvSpPr>
          <p:cNvPr id="8" name="">
            <a:extLst xmlns:a="http://schemas.openxmlformats.org/drawingml/2006/main">
              <a:ext uri="{FF2B5EF4-FFF2-40B4-BE49-F238E27FC236}">
                <a16:creationId xmlns:a16="http://schemas.microsoft.com/office/drawing/2014/main" id="{B80FF0EE-3482-4B34-9B34-73CE1BFBDF7B}"/>
              </a:ext>
            </a:extLst>
          </p:cNvPr>
          <p:cNvSpPr>
            <a:spLocks xmlns:a="http://schemas.openxmlformats.org/drawingml/2006/main" noGrp="1"/>
          </p:cNvSpPr>
          <p:nvPr/>
        </p:nvSpPr>
        <p:spPr>
          <a:xfrm xmlns:a="http://schemas.openxmlformats.org/drawingml/2006/main">
            <a:off x="1543050" y="1905000"/>
            <a:ext cx="9382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Dependencies und Runtime im Blick behalten</a:t>
            </a:r>
          </a:p>
        </p:txBody>
      </p:sp>
      <p:sp>
        <p:nvSpPr>
          <p:cNvPr id="9" name="">
            <a:extLst xmlns:a="http://schemas.openxmlformats.org/drawingml/2006/main">
              <a:ext uri="{FF2B5EF4-FFF2-40B4-BE49-F238E27FC236}">
                <a16:creationId xmlns:a16="http://schemas.microsoft.com/office/drawing/2014/main" id="{D31D4E2B-4043-4D4E-B26B-C028EEAA4DEA}"/>
              </a:ext>
            </a:extLst>
          </p:cNvPr>
          <p:cNvSpPr>
            <a:spLocks xmlns:a="http://schemas.openxmlformats.org/drawingml/2006/main" noGrp="1"/>
          </p:cNvSpPr>
          <p:nvPr/>
        </p:nvSpPr>
        <p:spPr>
          <a:xfrm xmlns:a="http://schemas.openxmlformats.org/drawingml/2006/main">
            <a:off x="762000" y="2438400"/>
            <a:ext cx="101917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0" name="">
            <a:extLst xmlns:a="http://schemas.openxmlformats.org/drawingml/2006/main">
              <a:ext uri="{FF2B5EF4-FFF2-40B4-BE49-F238E27FC236}">
                <a16:creationId xmlns:a16="http://schemas.microsoft.com/office/drawing/2014/main" id="{3684DC21-65DE-4691-8067-BB522CBAD125}"/>
              </a:ext>
            </a:extLst>
          </p:cNvPr>
          <p:cNvSpPr>
            <a:spLocks xmlns:a="http://schemas.openxmlformats.org/drawingml/2006/main" noGrp="1"/>
          </p:cNvSpPr>
          <p:nvPr/>
        </p:nvSpPr>
        <p:spPr>
          <a:xfrm xmlns:a="http://schemas.openxmlformats.org/drawingml/2006/main">
            <a:off x="742950" y="2543175"/>
            <a:ext cx="52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F6EE245-8E2B-4313-A90B-2C1AA11DDEBF}"/>
              </a:ext>
            </a:extLst>
          </p:cNvPr>
          <p:cNvSpPr>
            <a:spLocks xmlns:a="http://schemas.openxmlformats.org/drawingml/2006/main" noGrp="1"/>
          </p:cNvSpPr>
          <p:nvPr/>
        </p:nvSpPr>
        <p:spPr>
          <a:xfrm xmlns:a="http://schemas.openxmlformats.org/drawingml/2006/main">
            <a:off x="1543050" y="2543175"/>
            <a:ext cx="938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Management Endpoints schützen</a:t>
            </a:r>
          </a:p>
        </p:txBody>
      </p:sp>
      <p:sp>
        <p:nvSpPr>
          <p:cNvPr id="12" name="">
            <a:extLst xmlns:a="http://schemas.openxmlformats.org/drawingml/2006/main">
              <a:ext uri="{FF2B5EF4-FFF2-40B4-BE49-F238E27FC236}">
                <a16:creationId xmlns:a16="http://schemas.microsoft.com/office/drawing/2014/main" id="{A0A37BD1-06E9-4237-8D97-E026D5D2E542}"/>
              </a:ext>
            </a:extLst>
          </p:cNvPr>
          <p:cNvSpPr>
            <a:spLocks xmlns:a="http://schemas.openxmlformats.org/drawingml/2006/main" noGrp="1"/>
          </p:cNvSpPr>
          <p:nvPr/>
        </p:nvSpPr>
        <p:spPr>
          <a:xfrm xmlns:a="http://schemas.openxmlformats.org/drawingml/2006/main">
            <a:off x="1543050" y="3000375"/>
            <a:ext cx="9382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Erreichbarkeit und Rechte prüfen</a:t>
            </a:r>
          </a:p>
        </p:txBody>
      </p:sp>
      <p:sp>
        <p:nvSpPr>
          <p:cNvPr id="13" name="">
            <a:extLst xmlns:a="http://schemas.openxmlformats.org/drawingml/2006/main">
              <a:ext uri="{FF2B5EF4-FFF2-40B4-BE49-F238E27FC236}">
                <a16:creationId xmlns:a16="http://schemas.microsoft.com/office/drawing/2014/main" id="{7B1E1A96-50BE-4756-A646-7EC8F1AB889D}"/>
              </a:ext>
            </a:extLst>
          </p:cNvPr>
          <p:cNvSpPr>
            <a:spLocks xmlns:a="http://schemas.openxmlformats.org/drawingml/2006/main" noGrp="1"/>
          </p:cNvSpPr>
          <p:nvPr/>
        </p:nvSpPr>
        <p:spPr>
          <a:xfrm xmlns:a="http://schemas.openxmlformats.org/drawingml/2006/main">
            <a:off x="762000" y="3533775"/>
            <a:ext cx="101917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D4FA23F9-915A-4313-92D0-9F114897CE39}"/>
              </a:ext>
            </a:extLst>
          </p:cNvPr>
          <p:cNvSpPr>
            <a:spLocks xmlns:a="http://schemas.openxmlformats.org/drawingml/2006/main" noGrp="1"/>
          </p:cNvSpPr>
          <p:nvPr/>
        </p:nvSpPr>
        <p:spPr>
          <a:xfrm xmlns:a="http://schemas.openxmlformats.org/drawingml/2006/main">
            <a:off x="742950" y="3638550"/>
            <a:ext cx="52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DCD0725E-2668-4938-BBD4-8F378769472D}"/>
              </a:ext>
            </a:extLst>
          </p:cNvPr>
          <p:cNvSpPr>
            <a:spLocks xmlns:a="http://schemas.openxmlformats.org/drawingml/2006/main" noGrp="1"/>
          </p:cNvSpPr>
          <p:nvPr/>
        </p:nvSpPr>
        <p:spPr>
          <a:xfrm xmlns:a="http://schemas.openxmlformats.org/drawingml/2006/main">
            <a:off x="1543050" y="3638550"/>
            <a:ext cx="938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Datenfluss prüfen</a:t>
            </a:r>
          </a:p>
        </p:txBody>
      </p:sp>
      <p:sp>
        <p:nvSpPr>
          <p:cNvPr id="16" name="">
            <a:extLst xmlns:a="http://schemas.openxmlformats.org/drawingml/2006/main">
              <a:ext uri="{FF2B5EF4-FFF2-40B4-BE49-F238E27FC236}">
                <a16:creationId xmlns:a16="http://schemas.microsoft.com/office/drawing/2014/main" id="{494F9E48-4BBE-416E-9CDE-2DC8D15E058B}"/>
              </a:ext>
            </a:extLst>
          </p:cNvPr>
          <p:cNvSpPr>
            <a:spLocks xmlns:a="http://schemas.openxmlformats.org/drawingml/2006/main" noGrp="1"/>
          </p:cNvSpPr>
          <p:nvPr/>
        </p:nvSpPr>
        <p:spPr>
          <a:xfrm xmlns:a="http://schemas.openxmlformats.org/drawingml/2006/main">
            <a:off x="1543050" y="4095750"/>
            <a:ext cx="9382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Headers, Input und SQL bis zum Ziel verfolgen</a:t>
            </a:r>
          </a:p>
        </p:txBody>
      </p:sp>
      <p:sp>
        <p:nvSpPr>
          <p:cNvPr id="17" name="">
            <a:extLst xmlns:a="http://schemas.openxmlformats.org/drawingml/2006/main">
              <a:ext uri="{FF2B5EF4-FFF2-40B4-BE49-F238E27FC236}">
                <a16:creationId xmlns:a16="http://schemas.microsoft.com/office/drawing/2014/main" id="{C89D2555-B762-444D-BD9B-0AE0D87EA64A}"/>
              </a:ext>
            </a:extLst>
          </p:cNvPr>
          <p:cNvSpPr>
            <a:spLocks xmlns:a="http://schemas.openxmlformats.org/drawingml/2006/main" noGrp="1"/>
          </p:cNvSpPr>
          <p:nvPr/>
        </p:nvSpPr>
        <p:spPr>
          <a:xfrm xmlns:a="http://schemas.openxmlformats.org/drawingml/2006/main">
            <a:off x="762000" y="4629150"/>
            <a:ext cx="101917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8" name="">
            <a:extLst xmlns:a="http://schemas.openxmlformats.org/drawingml/2006/main">
              <a:ext uri="{FF2B5EF4-FFF2-40B4-BE49-F238E27FC236}">
                <a16:creationId xmlns:a16="http://schemas.microsoft.com/office/drawing/2014/main" id="{68F4789E-F4CD-4DAC-8BB2-6DC935200A20}"/>
              </a:ext>
            </a:extLst>
          </p:cNvPr>
          <p:cNvSpPr>
            <a:spLocks xmlns:a="http://schemas.openxmlformats.org/drawingml/2006/main" noGrp="1"/>
          </p:cNvSpPr>
          <p:nvPr/>
        </p:nvSpPr>
        <p:spPr>
          <a:xfrm xmlns:a="http://schemas.openxmlformats.org/drawingml/2006/main">
            <a:off x="742950" y="4733925"/>
            <a:ext cx="52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1BA14DD3-7AD8-4038-8B28-2F8BDAF3007E}"/>
              </a:ext>
            </a:extLst>
          </p:cNvPr>
          <p:cNvSpPr>
            <a:spLocks xmlns:a="http://schemas.openxmlformats.org/drawingml/2006/main" noGrp="1"/>
          </p:cNvSpPr>
          <p:nvPr/>
        </p:nvSpPr>
        <p:spPr>
          <a:xfrm xmlns:a="http://schemas.openxmlformats.org/drawingml/2006/main">
            <a:off x="1543050" y="4733925"/>
            <a:ext cx="938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Auth-Flows nicht selbst verkürzen</a:t>
            </a:r>
          </a:p>
        </p:txBody>
      </p:sp>
      <p:sp>
        <p:nvSpPr>
          <p:cNvPr id="20" name="">
            <a:extLst xmlns:a="http://schemas.openxmlformats.org/drawingml/2006/main">
              <a:ext uri="{FF2B5EF4-FFF2-40B4-BE49-F238E27FC236}">
                <a16:creationId xmlns:a16="http://schemas.microsoft.com/office/drawing/2014/main" id="{8EEC617C-BC90-4B4B-B791-A4714BEA6382}"/>
              </a:ext>
            </a:extLst>
          </p:cNvPr>
          <p:cNvSpPr>
            <a:spLocks xmlns:a="http://schemas.openxmlformats.org/drawingml/2006/main" noGrp="1"/>
          </p:cNvSpPr>
          <p:nvPr/>
        </p:nvSpPr>
        <p:spPr>
          <a:xfrm xmlns:a="http://schemas.openxmlformats.org/drawingml/2006/main">
            <a:off x="1543050" y="5191125"/>
            <a:ext cx="9382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Standard-Komponenten und Rate Limits nutzen</a:t>
            </a:r>
          </a:p>
        </p:txBody>
      </p:sp>
    </p:spTree>
    <p:extLst>
      <p:ext uri="{BB962C8B-B14F-4D97-AF65-F5344CB8AC3E}">
        <p14:creationId xmlns:p14="http://schemas.microsoft.com/office/powerpoint/2010/main" val="1634324825"/>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7A099B-2C5D-4659-A982-D4B3DB4E5431}"/>
              </a:ext>
            </a:extLst>
          </p:cNvPr>
          <p:cNvSpPr>
            <a:spLocks xmlns:a="http://schemas.openxmlformats.org/drawingml/2006/main" noGrp="1"/>
          </p:cNvSpPr>
          <p:nvPr/>
        </p:nvSpPr>
        <p:spPr>
          <a:xfrm xmlns:a="http://schemas.openxmlformats.org/drawingml/2006/main">
            <a:off x="800100" y="1466850"/>
            <a:ext cx="85725" cy="3105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BBAB20-02CA-42A0-BE72-86EB8F2F90D5}"/>
              </a:ext>
            </a:extLst>
          </p:cNvPr>
          <p:cNvSpPr>
            <a:spLocks xmlns:a="http://schemas.openxmlformats.org/drawingml/2006/main" noGrp="1"/>
          </p:cNvSpPr>
          <p:nvPr/>
        </p:nvSpPr>
        <p:spPr>
          <a:xfrm xmlns:a="http://schemas.openxmlformats.org/drawingml/2006/main">
            <a:off x="1238250" y="1666875"/>
            <a:ext cx="9334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400" b="1">
                <a:solidFill>
                  <a:srgbClr val="202935"/>
                </a:solidFill>
                <a:latin typeface="Arial"/>
                <a:ea typeface="Arial"/>
                <a:cs typeface="Arial"/>
              </a:defRPr>
            </a:defPPr>
            <a:lvl1pPr algn="l">
              <a:defRPr sz="5400" b="1">
                <a:solidFill>
                  <a:srgbClr val="202935"/>
                </a:solidFill>
                <a:latin typeface="Arial"/>
                <a:ea typeface="Arial"/>
                <a:cs typeface="Arial"/>
              </a:defRPr>
            </a:lvl1pPr>
            <a:lvl2pPr algn="l">
              <a:defRPr sz="5400" b="1">
                <a:solidFill>
                  <a:srgbClr val="202935"/>
                </a:solidFill>
                <a:latin typeface="Arial"/>
                <a:ea typeface="Arial"/>
                <a:cs typeface="Arial"/>
              </a:defRPr>
            </a:lvl2pPr>
            <a:lvl3pPr algn="l">
              <a:defRPr sz="5400" b="1">
                <a:solidFill>
                  <a:srgbClr val="202935"/>
                </a:solidFill>
                <a:latin typeface="Arial"/>
                <a:ea typeface="Arial"/>
                <a:cs typeface="Arial"/>
              </a:defRPr>
            </a:lvl3pPr>
            <a:lvl4pPr algn="l">
              <a:defRPr sz="5400" b="1">
                <a:solidFill>
                  <a:srgbClr val="202935"/>
                </a:solidFill>
                <a:latin typeface="Arial"/>
                <a:ea typeface="Arial"/>
                <a:cs typeface="Arial"/>
              </a:defRPr>
            </a:lvl4pPr>
            <a:lvl5pPr algn="l">
              <a:defRPr sz="5400" b="1">
                <a:solidFill>
                  <a:srgbClr val="202935"/>
                </a:solidFill>
                <a:latin typeface="Arial"/>
                <a:ea typeface="Arial"/>
                <a:cs typeface="Arial"/>
              </a:defRPr>
            </a:lvl5pPr>
            <a:lvl6pPr algn="l">
              <a:defRPr sz="5400" b="1">
                <a:solidFill>
                  <a:srgbClr val="202935"/>
                </a:solidFill>
                <a:latin typeface="Arial"/>
                <a:ea typeface="Arial"/>
                <a:cs typeface="Arial"/>
              </a:defRPr>
            </a:lvl6pPr>
            <a:lvl7pPr algn="l">
              <a:defRPr sz="5400" b="1">
                <a:solidFill>
                  <a:srgbClr val="202935"/>
                </a:solidFill>
                <a:latin typeface="Arial"/>
                <a:ea typeface="Arial"/>
                <a:cs typeface="Arial"/>
              </a:defRPr>
            </a:lvl7pPr>
            <a:lvl8pPr algn="l">
              <a:defRPr sz="5400" b="1">
                <a:solidFill>
                  <a:srgbClr val="202935"/>
                </a:solidFill>
                <a:latin typeface="Arial"/>
                <a:ea typeface="Arial"/>
                <a:cs typeface="Arial"/>
              </a:defRPr>
            </a:lvl8pPr>
            <a:lvl9pPr algn="l">
              <a:defRPr sz="5400" b="1">
                <a:solidFill>
                  <a:srgbClr val="202935"/>
                </a:solidFill>
                <a:latin typeface="Arial"/>
                <a:ea typeface="Arial"/>
                <a:cs typeface="Arial"/>
              </a:defRPr>
            </a:lvl9pPr>
          </a:lstStyle>
          <a:p xmlns:a="http://schemas.openxmlformats.org/drawingml/2006/main">
            <a:pPr algn="l">
              <a:defRPr sz="5400" b="1">
                <a:solidFill>
                  <a:srgbClr val="202935"/>
                </a:solidFill>
                <a:latin typeface="Arial"/>
                <a:ea typeface="Arial"/>
                <a:cs typeface="Arial"/>
              </a:defRPr>
            </a:pPr>
            <a:r>
              <a:rPr sz="5400" b="1">
                <a:solidFill>
                  <a:srgbClr val="202935"/>
                </a:solidFill>
                <a:latin typeface="Arial"/>
                <a:ea typeface="Arial"/>
                <a:cs typeface="Arial"/>
              </a:rPr>
              <a:t>Fragen?</a:t>
            </a:r>
          </a:p>
        </p:txBody>
      </p:sp>
      <p:sp>
        <p:nvSpPr>
          <p:cNvPr id="3" name="">
            <a:extLst xmlns:a="http://schemas.openxmlformats.org/drawingml/2006/main">
              <a:ext uri="{FF2B5EF4-FFF2-40B4-BE49-F238E27FC236}">
                <a16:creationId xmlns:a16="http://schemas.microsoft.com/office/drawing/2014/main" id="{24916C2D-ECC0-4E65-9232-02C225714ED0}"/>
              </a:ext>
            </a:extLst>
          </p:cNvPr>
          <p:cNvSpPr>
            <a:spLocks xmlns:a="http://schemas.openxmlformats.org/drawingml/2006/main" noGrp="1"/>
          </p:cNvSpPr>
          <p:nvPr/>
        </p:nvSpPr>
        <p:spPr>
          <a:xfrm xmlns:a="http://schemas.openxmlformats.org/drawingml/2006/main">
            <a:off x="1238250" y="3333750"/>
            <a:ext cx="952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5D6872"/>
                </a:solidFill>
                <a:latin typeface="Arial"/>
                <a:ea typeface="Arial"/>
                <a:cs typeface="Arial"/>
              </a:defRPr>
            </a:defPPr>
            <a:lvl1pPr algn="l">
              <a:defRPr sz="2175" b="0">
                <a:solidFill>
                  <a:srgbClr val="5D6872"/>
                </a:solidFill>
                <a:latin typeface="Arial"/>
                <a:ea typeface="Arial"/>
                <a:cs typeface="Arial"/>
              </a:defRPr>
            </a:lvl1pPr>
            <a:lvl2pPr algn="l">
              <a:defRPr sz="2175" b="0">
                <a:solidFill>
                  <a:srgbClr val="5D6872"/>
                </a:solidFill>
                <a:latin typeface="Arial"/>
                <a:ea typeface="Arial"/>
                <a:cs typeface="Arial"/>
              </a:defRPr>
            </a:lvl2pPr>
            <a:lvl3pPr algn="l">
              <a:defRPr sz="2175" b="0">
                <a:solidFill>
                  <a:srgbClr val="5D6872"/>
                </a:solidFill>
                <a:latin typeface="Arial"/>
                <a:ea typeface="Arial"/>
                <a:cs typeface="Arial"/>
              </a:defRPr>
            </a:lvl3pPr>
            <a:lvl4pPr algn="l">
              <a:defRPr sz="2175" b="0">
                <a:solidFill>
                  <a:srgbClr val="5D6872"/>
                </a:solidFill>
                <a:latin typeface="Arial"/>
                <a:ea typeface="Arial"/>
                <a:cs typeface="Arial"/>
              </a:defRPr>
            </a:lvl4pPr>
            <a:lvl5pPr algn="l">
              <a:defRPr sz="2175" b="0">
                <a:solidFill>
                  <a:srgbClr val="5D6872"/>
                </a:solidFill>
                <a:latin typeface="Arial"/>
                <a:ea typeface="Arial"/>
                <a:cs typeface="Arial"/>
              </a:defRPr>
            </a:lvl5pPr>
            <a:lvl6pPr algn="l">
              <a:defRPr sz="2175" b="0">
                <a:solidFill>
                  <a:srgbClr val="5D6872"/>
                </a:solidFill>
                <a:latin typeface="Arial"/>
                <a:ea typeface="Arial"/>
                <a:cs typeface="Arial"/>
              </a:defRPr>
            </a:lvl6pPr>
            <a:lvl7pPr algn="l">
              <a:defRPr sz="2175" b="0">
                <a:solidFill>
                  <a:srgbClr val="5D6872"/>
                </a:solidFill>
                <a:latin typeface="Arial"/>
                <a:ea typeface="Arial"/>
                <a:cs typeface="Arial"/>
              </a:defRPr>
            </a:lvl7pPr>
            <a:lvl8pPr algn="l">
              <a:defRPr sz="2175" b="0">
                <a:solidFill>
                  <a:srgbClr val="5D6872"/>
                </a:solidFill>
                <a:latin typeface="Arial"/>
                <a:ea typeface="Arial"/>
                <a:cs typeface="Arial"/>
              </a:defRPr>
            </a:lvl8pPr>
            <a:lvl9pPr algn="l">
              <a:defRPr sz="2175" b="0">
                <a:solidFill>
                  <a:srgbClr val="5D6872"/>
                </a:solidFill>
                <a:latin typeface="Arial"/>
                <a:ea typeface="Arial"/>
                <a:cs typeface="Arial"/>
              </a:defRPr>
            </a:lvl9pPr>
          </a:lstStyle>
          <a:p xmlns:a="http://schemas.openxmlformats.org/drawingml/2006/main">
            <a:pPr algn="l">
              <a:defRPr sz="2175" b="0">
                <a:solidFill>
                  <a:srgbClr val="5D6872"/>
                </a:solidFill>
                <a:latin typeface="Arial"/>
                <a:ea typeface="Arial"/>
                <a:cs typeface="Arial"/>
              </a:defRPr>
            </a:pPr>
            <a:r>
              <a:rPr sz="2175" b="0">
                <a:solidFill>
                  <a:srgbClr val="5D6872"/>
                </a:solidFill>
                <a:latin typeface="Arial"/>
                <a:ea typeface="Arial"/>
                <a:cs typeface="Arial"/>
              </a:rPr>
              <a:t>Architektur · Experimente · Schutzmaßnahmen</a:t>
            </a:r>
          </a:p>
        </p:txBody>
      </p:sp>
    </p:spTree>
    <p:extLst>
      <p:ext uri="{BB962C8B-B14F-4D97-AF65-F5344CB8AC3E}">
        <p14:creationId xmlns:p14="http://schemas.microsoft.com/office/powerpoint/2010/main" val="322460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2026-10-27T21:16:35.7740000Z</dcterms:created>
  <dcterms:modified xsi:type="dcterms:W3CDTF">2026-10-27T21:16:35.7740000Z</dcterms:modified>
</coreProperties>
</file>